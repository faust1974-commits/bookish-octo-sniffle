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Collaborate Board instead of this slide, so students are typing within the first minute. Come back here to frame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NEARPOD: this slide is where the Collaborate Board goes. Build it with the title and instructions shown here. Let the board fill for two minutes before you say anything, then read three or four aloud and ask why that one. Leave it up while you introduce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plainly and move on. Sixty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mix these up constantly. Three sentences, then move - the matching game is where it sticks.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case passes through all three in that order. This is the spine of the whole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linger here. The matching game next is where this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NEARPOD: Matching Pairs goes here. The eight pairs are in the build sheet. Run it as a race - the report shows you who is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Eleven slides coming. Say the stage, say what happens, move on. Do not stop for discussion - the polls are coming.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a civilian starts the case almost every time, not the police.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out loud: everything that happens later is built on this report. It sets up the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assume every crime means handcuffs. The notice to appear surprises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Those fingerprints go into state and national systems. That matters again in CJO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Twenty-four hours is fast, and it is required. This one comes back in the game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surprising fact in the lesson. Let it land, then ask: so what does the officer actually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slide. Keep moving.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cases never reach a trial. That surprises students raised on television.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second sentence twice. It is the most misunderstood idea in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Prison is not the default outcome. Worth saying.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sets up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distinction decides the court, the sentence and the building. Then the poll - they will guess wrong, and that is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NEARPOD: Poll goes here. Options: Misdemeanor / Felony. Most will say misdemeanor because it sounds small - in Florida this is grand theft, a felony. Reveal the split, then move to Gideon.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it as a story - ninety seconds. That is why there is a public defender in the room, and it started in Florida. Good spot for a stretch break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paragraph aloud. The class calls the stage, then you reveal it. Keep the pace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aloud, then ask the room. Answer: stage 1, Report or call for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one sentence,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aloud, then ask the room. Answer: stage 2, Patrol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one sentence,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aloud, then ask the room. Answer: stage 3, Arrest.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one sentence,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aloud, then ask the room. Answer: stage 4, Booking.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one sentence,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aloud, then ask the room. Answer: stage 5, First appearance.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one sentence,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aloud, then ask the room. Answer: stage 6, The charging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one sentence,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aloud, then ask the room. Answer: stage 7, Arraignment.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one sentence,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aloud, then ask the room. Answer: stage 8, Pretrial.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one sentence,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aloud, then ask the room. Answer: stage 9, Trial.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one sentence,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aloud, then ask the room. Answer: stage 10, Sentencing.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one sentence,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aloud, then ask the room. Answer: stage 11, Corrections and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one sentence,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NEARPOD: Poll goes here. Options: Yes, take the deal / No, go to trial. There is no right answer. Show the split, then push one student from each side to say why. This is the discussion the lesson was building toward.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NEARPOD: Time to Climb goes here. Ten questions and answers are in the build sheet. Nearpod gives you the report afterwards showing who got what, which is your record for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NEARPOD: Open-Ended Question goes here. Share two or three responses anonymously before they leave. Nearpod saves every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Ends on the hook for the next lesson, which is where CJO 2 and CJO 3 content takes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1737360"/>
            <a:ext cx="10634472" cy="310896"/>
          </a:xfrm>
          <a:prstGeom prst="rect">
            <a:avLst/>
          </a:prstGeom>
          <a:noFill/>
          <a:ln/>
        </p:spPr>
        <p:txBody>
          <a:bodyPr wrap="square" lIns="0" tIns="0" rIns="0" bIns="0" rtlCol="0" anchor="t"/>
          <a:lstStyle/>
          <a:p>
            <a:pPr algn="l" indent="0" marL="0">
              <a:buNone/>
            </a:pPr>
            <a:r>
              <a:rPr lang="en-US" sz="1300" b="1" spc="200" kern="0" dirty="0">
                <a:solidFill>
                  <a:srgbClr val="1A5FB4"/>
                </a:solidFill>
                <a:latin typeface="Arial" pitchFamily="34" charset="0"/>
                <a:ea typeface="Arial" pitchFamily="34" charset="-122"/>
                <a:cs typeface="Arial" pitchFamily="34" charset="-120"/>
              </a:rPr>
              <a:t>CRIMINAL JUSTICE OPERATIONS</a:t>
            </a:r>
            <a:endParaRPr lang="en-US" sz="1300" dirty="0"/>
          </a:p>
        </p:txBody>
      </p:sp>
      <p:sp>
        <p:nvSpPr>
          <p:cNvPr id="3" name="Text 1"/>
          <p:cNvSpPr txBox="1"/>
          <p:nvPr/>
        </p:nvSpPr>
        <p:spPr>
          <a:xfrm>
            <a:off x="777240" y="2148840"/>
            <a:ext cx="10634472" cy="1024128"/>
          </a:xfrm>
          <a:prstGeom prst="rect">
            <a:avLst/>
          </a:prstGeom>
          <a:noFill/>
          <a:ln/>
        </p:spPr>
        <p:txBody>
          <a:bodyPr wrap="square" lIns="0" tIns="0" rIns="0" bIns="0" rtlCol="0" anchor="t"/>
          <a:lstStyle/>
          <a:p>
            <a:pPr algn="l" indent="0" marL="0">
              <a:buNone/>
            </a:pPr>
            <a:r>
              <a:rPr lang="en-US" sz="5800" b="1" dirty="0">
                <a:solidFill>
                  <a:srgbClr val="10243A"/>
                </a:solidFill>
                <a:latin typeface="Arial" pitchFamily="34" charset="0"/>
                <a:ea typeface="Arial" pitchFamily="34" charset="-122"/>
                <a:cs typeface="Arial" pitchFamily="34" charset="-120"/>
              </a:rPr>
              <a:t>How a Case Moves</a:t>
            </a:r>
            <a:endParaRPr lang="en-US" sz="5800" dirty="0"/>
          </a:p>
        </p:txBody>
      </p:sp>
      <p:sp>
        <p:nvSpPr>
          <p:cNvPr id="4" name="Text 2"/>
          <p:cNvSpPr txBox="1"/>
          <p:nvPr/>
        </p:nvSpPr>
        <p:spPr>
          <a:xfrm>
            <a:off x="777240" y="3429000"/>
            <a:ext cx="10634472" cy="548640"/>
          </a:xfrm>
          <a:prstGeom prst="rect">
            <a:avLst/>
          </a:prstGeom>
          <a:noFill/>
          <a:ln/>
        </p:spPr>
        <p:txBody>
          <a:bodyPr wrap="square" lIns="0" tIns="0" rIns="0" bIns="0" rtlCol="0" anchor="t"/>
          <a:lstStyle/>
          <a:p>
            <a:pPr algn="l" indent="0" marL="0">
              <a:buNone/>
            </a:pPr>
            <a:r>
              <a:rPr lang="en-US" sz="2400" dirty="0">
                <a:solidFill>
                  <a:srgbClr val="5F6B79"/>
                </a:solidFill>
                <a:latin typeface="Arial" pitchFamily="34" charset="0"/>
                <a:ea typeface="Arial" pitchFamily="34" charset="-122"/>
                <a:cs typeface="Arial" pitchFamily="34" charset="-120"/>
              </a:rPr>
              <a:t>One case, from the 911 call to release</a:t>
            </a:r>
            <a:endParaRPr lang="en-US" sz="2400" dirty="0"/>
          </a:p>
        </p:txBody>
      </p:sp>
      <p:sp>
        <p:nvSpPr>
          <p:cNvPr id="5" name="Shape 3"/>
          <p:cNvSpPr/>
          <p:nvPr/>
        </p:nvSpPr>
        <p:spPr>
          <a:xfrm>
            <a:off x="777240" y="4206240"/>
            <a:ext cx="10634472" cy="18288"/>
          </a:xfrm>
          <a:prstGeom prst="rect">
            <a:avLst/>
          </a:prstGeom>
          <a:solidFill>
            <a:srgbClr val="D7DEE6"/>
          </a:solidFill>
          <a:ln/>
        </p:spPr>
      </p:sp>
      <p:sp>
        <p:nvSpPr>
          <p:cNvPr id="6" name="Text 4"/>
          <p:cNvSpPr txBox="1"/>
          <p:nvPr/>
        </p:nvSpPr>
        <p:spPr>
          <a:xfrm>
            <a:off x="777240" y="4434840"/>
            <a:ext cx="10634472" cy="411480"/>
          </a:xfrm>
          <a:prstGeom prst="rect">
            <a:avLst/>
          </a:prstGeom>
          <a:noFill/>
          <a:ln/>
        </p:spPr>
        <p:txBody>
          <a:bodyPr wrap="square" lIns="0" tIns="0" rIns="0" bIns="0" rtlCol="0" anchor="t"/>
          <a:lstStyle/>
          <a:p>
            <a:pPr algn="l" indent="0" marL="0">
              <a:buNone/>
            </a:pPr>
            <a:r>
              <a:rPr lang="en-US" sz="1600" dirty="0">
                <a:solidFill>
                  <a:srgbClr val="5F6B79"/>
                </a:solidFill>
                <a:latin typeface="Arial" pitchFamily="34" charset="0"/>
                <a:ea typeface="Arial" pitchFamily="34" charset="-122"/>
                <a:cs typeface="Arial" pitchFamily="34" charset="-120"/>
              </a:rPr>
              <a:t>90 minutes  ·  CJO 1, 2 and 3</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10634472" cy="310896"/>
          </a:xfrm>
          <a:prstGeom prst="rect">
            <a:avLst/>
          </a:prstGeom>
          <a:noFill/>
          <a:ln/>
        </p:spPr>
        <p:txBody>
          <a:bodyPr wrap="square" lIns="0" tIns="0" rIns="0" bIns="0" rtlCol="0" anchor="t"/>
          <a:lstStyle/>
          <a:p>
            <a:pPr algn="l" indent="0" marL="0">
              <a:buNone/>
            </a:pPr>
            <a:r>
              <a:rPr lang="en-US" sz="1300" b="1" spc="200" kern="0" dirty="0">
                <a:solidFill>
                  <a:srgbClr val="1A5FB4"/>
                </a:solidFill>
                <a:latin typeface="Arial" pitchFamily="34" charset="0"/>
                <a:ea typeface="Arial" pitchFamily="34" charset="-122"/>
                <a:cs typeface="Arial" pitchFamily="34" charset="-120"/>
              </a:rPr>
              <a:t>EVERYONE ANSWERS</a:t>
            </a:r>
            <a:endParaRPr lang="en-US" sz="1300" dirty="0"/>
          </a:p>
        </p:txBody>
      </p:sp>
      <p:sp>
        <p:nvSpPr>
          <p:cNvPr id="3" name="Text 1"/>
          <p:cNvSpPr txBox="1"/>
          <p:nvPr/>
        </p:nvSpPr>
        <p:spPr>
          <a:xfrm>
            <a:off x="777240" y="1143000"/>
            <a:ext cx="10634472" cy="1490472"/>
          </a:xfrm>
          <a:prstGeom prst="rect">
            <a:avLst/>
          </a:prstGeom>
          <a:noFill/>
          <a:ln/>
        </p:spPr>
        <p:txBody>
          <a:bodyPr wrap="square" lIns="0" tIns="0" rIns="0" bIns="0" rtlCol="0" anchor="t"/>
          <a:lstStyle/>
          <a:p>
            <a:pPr algn="l" indent="0" marL="0">
              <a:buNone/>
            </a:pPr>
            <a:r>
              <a:rPr lang="en-US" sz="4400" b="1" dirty="0">
                <a:solidFill>
                  <a:srgbClr val="10243A"/>
                </a:solidFill>
                <a:latin typeface="Arial" pitchFamily="34" charset="0"/>
                <a:ea typeface="Arial" pitchFamily="34" charset="-122"/>
                <a:cs typeface="Arial" pitchFamily="34" charset="-120"/>
              </a:rPr>
              <a:t>What job in criminal justice</a:t>
            </a:r>
            <a:endParaRPr lang="en-US" sz="4400" dirty="0"/>
          </a:p>
          <a:p>
            <a:pPr algn="l" indent="0" marL="0">
              <a:buNone/>
            </a:pPr>
            <a:r>
              <a:rPr lang="en-US" sz="4400" b="1" dirty="0">
                <a:solidFill>
                  <a:srgbClr val="10243A"/>
                </a:solidFill>
                <a:latin typeface="Arial" pitchFamily="34" charset="0"/>
                <a:ea typeface="Arial" pitchFamily="34" charset="-122"/>
                <a:cs typeface="Arial" pitchFamily="34" charset="-120"/>
              </a:rPr>
              <a:t>would you actually want?</a:t>
            </a:r>
            <a:endParaRPr lang="en-US" sz="4400" dirty="0"/>
          </a:p>
        </p:txBody>
      </p:sp>
      <p:sp>
        <p:nvSpPr>
          <p:cNvPr id="4" name="Text 2"/>
          <p:cNvSpPr txBox="1"/>
          <p:nvPr/>
        </p:nvSpPr>
        <p:spPr>
          <a:xfrm>
            <a:off x="777240" y="3063240"/>
            <a:ext cx="10634472" cy="548640"/>
          </a:xfrm>
          <a:prstGeom prst="rect">
            <a:avLst/>
          </a:prstGeom>
          <a:noFill/>
          <a:ln/>
        </p:spPr>
        <p:txBody>
          <a:bodyPr wrap="square" lIns="0" tIns="0" rIns="0" bIns="0" rtlCol="0" anchor="t"/>
          <a:lstStyle/>
          <a:p>
            <a:pPr algn="l" indent="0" marL="0">
              <a:buNone/>
            </a:pPr>
            <a:r>
              <a:rPr lang="en-US" sz="2400" b="1" dirty="0">
                <a:solidFill>
                  <a:srgbClr val="1A5FB4"/>
                </a:solidFill>
                <a:latin typeface="Arial" pitchFamily="34" charset="0"/>
                <a:ea typeface="Arial" pitchFamily="34" charset="-122"/>
                <a:cs typeface="Arial" pitchFamily="34" charset="-120"/>
              </a:rPr>
              <a:t>Post it on the board. Add one word for why.</a:t>
            </a:r>
            <a:endParaRPr lang="en-US" sz="2400" dirty="0"/>
          </a:p>
        </p:txBody>
      </p:sp>
      <p:sp>
        <p:nvSpPr>
          <p:cNvPr id="5" name="Text 3"/>
          <p:cNvSpPr txBox="1"/>
          <p:nvPr/>
        </p:nvSpPr>
        <p:spPr>
          <a:xfrm>
            <a:off x="777240" y="6144768"/>
            <a:ext cx="10634472" cy="310896"/>
          </a:xfrm>
          <a:prstGeom prst="rect">
            <a:avLst/>
          </a:prstGeom>
          <a:noFill/>
          <a:ln/>
        </p:spPr>
        <p:txBody>
          <a:bodyPr wrap="square" lIns="0" tIns="0" rIns="0" bIns="0" rtlCol="0" anchor="t"/>
          <a:lstStyle/>
          <a:p>
            <a:pPr algn="l" indent="0" marL="0">
              <a:buNone/>
            </a:pPr>
            <a:r>
              <a:rPr lang="en-US" sz="1200" dirty="0">
                <a:solidFill>
                  <a:srgbClr val="5F6B79"/>
                </a:solidFill>
                <a:latin typeface="Arial" pitchFamily="34" charset="0"/>
                <a:ea typeface="Arial" pitchFamily="34" charset="-122"/>
                <a:cs typeface="Arial" pitchFamily="34" charset="-120"/>
              </a:rPr>
              <a:t>Collaborate Board · answers appear on the board as students post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10634472" cy="310896"/>
          </a:xfrm>
          <a:prstGeom prst="rect">
            <a:avLst/>
          </a:prstGeom>
          <a:noFill/>
          <a:ln/>
        </p:spPr>
        <p:txBody>
          <a:bodyPr wrap="square" lIns="0" tIns="0" rIns="0" bIns="0" rtlCol="0" anchor="t"/>
          <a:lstStyle/>
          <a:p>
            <a:pPr algn="l" indent="0" marL="0">
              <a:buNone/>
            </a:pPr>
            <a:r>
              <a:rPr lang="en-US" sz="1300" b="1" spc="200" kern="0" dirty="0">
                <a:solidFill>
                  <a:srgbClr val="1A5FB4"/>
                </a:solidFill>
                <a:latin typeface="Arial" pitchFamily="34" charset="0"/>
                <a:ea typeface="Arial" pitchFamily="34" charset="-122"/>
                <a:cs typeface="Arial" pitchFamily="34" charset="-120"/>
              </a:rPr>
              <a:t>TODAY</a:t>
            </a:r>
            <a:endParaRPr lang="en-US" sz="1300" dirty="0"/>
          </a:p>
        </p:txBody>
      </p:sp>
      <p:sp>
        <p:nvSpPr>
          <p:cNvPr id="3" name="Text 1"/>
          <p:cNvSpPr txBox="1"/>
          <p:nvPr/>
        </p:nvSpPr>
        <p:spPr>
          <a:xfrm>
            <a:off x="777240" y="960120"/>
            <a:ext cx="10634472" cy="841248"/>
          </a:xfrm>
          <a:prstGeom prst="rect">
            <a:avLst/>
          </a:prstGeom>
          <a:noFill/>
          <a:ln/>
        </p:spPr>
        <p:txBody>
          <a:bodyPr wrap="square" lIns="0" tIns="0" rIns="0" bIns="0" rtlCol="0" anchor="t"/>
          <a:lstStyle/>
          <a:p>
            <a:pPr algn="l" indent="0" marL="0">
              <a:buNone/>
            </a:pPr>
            <a:r>
              <a:rPr lang="en-US" sz="4600" b="1" dirty="0">
                <a:solidFill>
                  <a:srgbClr val="10243A"/>
                </a:solidFill>
                <a:latin typeface="Arial" pitchFamily="34" charset="0"/>
                <a:ea typeface="Arial" pitchFamily="34" charset="-122"/>
                <a:cs typeface="Arial" pitchFamily="34" charset="-120"/>
              </a:rPr>
              <a:t>One case. Start to finish.</a:t>
            </a:r>
            <a:endParaRPr lang="en-US" sz="4600" dirty="0"/>
          </a:p>
        </p:txBody>
      </p:sp>
      <p:sp>
        <p:nvSpPr>
          <p:cNvPr id="4" name="Text 2"/>
          <p:cNvSpPr txBox="1"/>
          <p:nvPr/>
        </p:nvSpPr>
        <p:spPr>
          <a:xfrm>
            <a:off x="777240" y="2377440"/>
            <a:ext cx="10634472" cy="1947672"/>
          </a:xfrm>
          <a:prstGeom prst="rect">
            <a:avLst/>
          </a:prstGeom>
          <a:noFill/>
          <a:ln/>
        </p:spPr>
        <p:txBody>
          <a:bodyPr wrap="square" lIns="0" tIns="0" rIns="0" bIns="0" rtlCol="0" anchor="t"/>
          <a:lstStyle/>
          <a:p>
            <a:pPr algn="l" indent="0" marL="0">
              <a:lnSpc>
                <a:spcPts val="3500"/>
              </a:lnSpc>
              <a:buNone/>
            </a:pPr>
            <a:r>
              <a:rPr lang="en-US" sz="2400" dirty="0">
                <a:solidFill>
                  <a:srgbClr val="1B1B1B"/>
                </a:solidFill>
                <a:latin typeface="Arial" pitchFamily="34" charset="0"/>
                <a:ea typeface="Arial" pitchFamily="34" charset="-122"/>
                <a:cs typeface="Arial" pitchFamily="34" charset="-120"/>
              </a:rPr>
              <a:t>Every job on that board touches the same case at a different point.</a:t>
            </a:r>
            <a:endParaRPr lang="en-US" sz="2400" dirty="0"/>
          </a:p>
          <a:p>
            <a:pPr algn="l" indent="0" marL="0">
              <a:lnSpc>
                <a:spcPts val="3500"/>
              </a:lnSpc>
              <a:buNone/>
            </a:pPr>
            <a:endParaRPr lang="en-US" sz="2400" dirty="0"/>
          </a:p>
          <a:p>
            <a:pPr algn="l" indent="0" marL="0">
              <a:lnSpc>
                <a:spcPts val="3500"/>
              </a:lnSpc>
              <a:buNone/>
            </a:pPr>
            <a:r>
              <a:rPr lang="en-US" sz="2400" dirty="0">
                <a:solidFill>
                  <a:srgbClr val="1B1B1B"/>
                </a:solidFill>
                <a:latin typeface="Arial" pitchFamily="34" charset="0"/>
                <a:ea typeface="Arial" pitchFamily="34" charset="-122"/>
                <a:cs typeface="Arial" pitchFamily="34" charset="-120"/>
              </a:rPr>
              <a:t>Today we follow one case all the way through, so everything else this year has somewhere to hang.</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10634472" cy="310896"/>
          </a:xfrm>
          <a:prstGeom prst="rect">
            <a:avLst/>
          </a:prstGeom>
          <a:noFill/>
          <a:ln/>
        </p:spPr>
        <p:txBody>
          <a:bodyPr wrap="square" lIns="0" tIns="0" rIns="0" bIns="0" rtlCol="0" anchor="t"/>
          <a:lstStyle/>
          <a:p>
            <a:pPr algn="l" indent="0" marL="0">
              <a:buNone/>
            </a:pPr>
            <a:r>
              <a:rPr lang="en-US" sz="1300" b="1" spc="200" kern="0" dirty="0">
                <a:solidFill>
                  <a:srgbClr val="1A5FB4"/>
                </a:solidFill>
                <a:latin typeface="Arial" pitchFamily="34" charset="0"/>
                <a:ea typeface="Arial" pitchFamily="34" charset="-122"/>
                <a:cs typeface="Arial" pitchFamily="34" charset="-120"/>
              </a:rPr>
              <a:t>FRAMEWORK 1 OF 3</a:t>
            </a:r>
            <a:endParaRPr lang="en-US" sz="1300" dirty="0"/>
          </a:p>
        </p:txBody>
      </p:sp>
      <p:sp>
        <p:nvSpPr>
          <p:cNvPr id="3" name="Text 1"/>
          <p:cNvSpPr txBox="1"/>
          <p:nvPr/>
        </p:nvSpPr>
        <p:spPr>
          <a:xfrm>
            <a:off x="777240" y="960120"/>
            <a:ext cx="10634472" cy="749808"/>
          </a:xfrm>
          <a:prstGeom prst="rect">
            <a:avLst/>
          </a:prstGeom>
          <a:noFill/>
          <a:ln/>
        </p:spPr>
        <p:txBody>
          <a:bodyPr wrap="square" lIns="0" tIns="0" rIns="0" bIns="0" rtlCol="0" anchor="t"/>
          <a:lstStyle/>
          <a:p>
            <a:pPr algn="l" indent="0" marL="0">
              <a:buNone/>
            </a:pPr>
            <a:r>
              <a:rPr lang="en-US" sz="4000" b="1" dirty="0">
                <a:solidFill>
                  <a:srgbClr val="10243A"/>
                </a:solidFill>
                <a:latin typeface="Arial" pitchFamily="34" charset="0"/>
                <a:ea typeface="Arial" pitchFamily="34" charset="-122"/>
                <a:cs typeface="Arial" pitchFamily="34" charset="-120"/>
              </a:rPr>
              <a:t>Three branches of government</a:t>
            </a:r>
            <a:endParaRPr lang="en-US" sz="4000" dirty="0"/>
          </a:p>
        </p:txBody>
      </p:sp>
      <p:sp>
        <p:nvSpPr>
          <p:cNvPr id="4" name="Shape 2"/>
          <p:cNvSpPr/>
          <p:nvPr/>
        </p:nvSpPr>
        <p:spPr>
          <a:xfrm>
            <a:off x="777240" y="2258568"/>
            <a:ext cx="548640" cy="548640"/>
          </a:xfrm>
          <a:prstGeom prst="ellipse">
            <a:avLst/>
          </a:prstGeom>
          <a:solidFill>
            <a:srgbClr val="1A5FB4"/>
          </a:solidFill>
          <a:ln/>
        </p:spPr>
      </p:sp>
      <p:sp>
        <p:nvSpPr>
          <p:cNvPr id="5" name="Text 3"/>
          <p:cNvSpPr txBox="1"/>
          <p:nvPr/>
        </p:nvSpPr>
        <p:spPr>
          <a:xfrm>
            <a:off x="777240" y="2258568"/>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6" name="Text 4"/>
          <p:cNvSpPr txBox="1"/>
          <p:nvPr/>
        </p:nvSpPr>
        <p:spPr>
          <a:xfrm>
            <a:off x="1554480" y="2240280"/>
            <a:ext cx="2880360" cy="548640"/>
          </a:xfrm>
          <a:prstGeom prst="rect">
            <a:avLst/>
          </a:prstGeom>
          <a:noFill/>
          <a:ln/>
        </p:spPr>
        <p:txBody>
          <a:bodyPr wrap="square" lIns="0" tIns="0" rIns="0" bIns="0" rtlCol="0" anchor="t"/>
          <a:lstStyle/>
          <a:p>
            <a:pPr algn="l" indent="0" marL="0">
              <a:buNone/>
            </a:pPr>
            <a:r>
              <a:rPr lang="en-US" sz="2200" b="1" dirty="0">
                <a:solidFill>
                  <a:srgbClr val="10243A"/>
                </a:solidFill>
                <a:latin typeface="Arial" pitchFamily="34" charset="0"/>
                <a:ea typeface="Arial" pitchFamily="34" charset="-122"/>
                <a:cs typeface="Arial" pitchFamily="34" charset="-120"/>
              </a:rPr>
              <a:t>Legislative</a:t>
            </a:r>
            <a:endParaRPr lang="en-US" sz="2200" dirty="0"/>
          </a:p>
        </p:txBody>
      </p:sp>
      <p:sp>
        <p:nvSpPr>
          <p:cNvPr id="7" name="Text 5"/>
          <p:cNvSpPr txBox="1"/>
          <p:nvPr/>
        </p:nvSpPr>
        <p:spPr>
          <a:xfrm>
            <a:off x="4480560" y="2240280"/>
            <a:ext cx="6931152" cy="777240"/>
          </a:xfrm>
          <a:prstGeom prst="rect">
            <a:avLst/>
          </a:prstGeom>
          <a:noFill/>
          <a:ln/>
        </p:spPr>
        <p:txBody>
          <a:bodyPr wrap="square" lIns="0" tIns="0" rIns="0" bIns="0" rtlCol="0" anchor="t"/>
          <a:lstStyle/>
          <a:p>
            <a:pPr algn="l" indent="0" marL="0">
              <a:lnSpc>
                <a:spcPts val="2600"/>
              </a:lnSpc>
              <a:buNone/>
            </a:pPr>
            <a:r>
              <a:rPr lang="en-US" sz="1900" dirty="0">
                <a:solidFill>
                  <a:srgbClr val="1B1B1B"/>
                </a:solidFill>
                <a:latin typeface="Arial" pitchFamily="34" charset="0"/>
                <a:ea typeface="Arial" pitchFamily="34" charset="-122"/>
                <a:cs typeface="Arial" pitchFamily="34" charset="-120"/>
              </a:rPr>
              <a:t>Makes the law. The Florida Legislature writes the criminal statutes.</a:t>
            </a:r>
            <a:endParaRPr lang="en-US" sz="1900" dirty="0"/>
          </a:p>
        </p:txBody>
      </p:sp>
      <p:sp>
        <p:nvSpPr>
          <p:cNvPr id="8" name="Shape 6"/>
          <p:cNvSpPr/>
          <p:nvPr/>
        </p:nvSpPr>
        <p:spPr>
          <a:xfrm>
            <a:off x="777240" y="3401568"/>
            <a:ext cx="548640" cy="548640"/>
          </a:xfrm>
          <a:prstGeom prst="ellipse">
            <a:avLst/>
          </a:prstGeom>
          <a:solidFill>
            <a:srgbClr val="1A5FB4"/>
          </a:solidFill>
          <a:ln/>
        </p:spPr>
      </p:sp>
      <p:sp>
        <p:nvSpPr>
          <p:cNvPr id="9" name="Text 7"/>
          <p:cNvSpPr txBox="1"/>
          <p:nvPr/>
        </p:nvSpPr>
        <p:spPr>
          <a:xfrm>
            <a:off x="777240" y="3401568"/>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0" name="Text 8"/>
          <p:cNvSpPr txBox="1"/>
          <p:nvPr/>
        </p:nvSpPr>
        <p:spPr>
          <a:xfrm>
            <a:off x="1554480" y="3383280"/>
            <a:ext cx="2880360" cy="548640"/>
          </a:xfrm>
          <a:prstGeom prst="rect">
            <a:avLst/>
          </a:prstGeom>
          <a:noFill/>
          <a:ln/>
        </p:spPr>
        <p:txBody>
          <a:bodyPr wrap="square" lIns="0" tIns="0" rIns="0" bIns="0" rtlCol="0" anchor="t"/>
          <a:lstStyle/>
          <a:p>
            <a:pPr algn="l" indent="0" marL="0">
              <a:buNone/>
            </a:pPr>
            <a:r>
              <a:rPr lang="en-US" sz="2200" b="1" dirty="0">
                <a:solidFill>
                  <a:srgbClr val="10243A"/>
                </a:solidFill>
                <a:latin typeface="Arial" pitchFamily="34" charset="0"/>
                <a:ea typeface="Arial" pitchFamily="34" charset="-122"/>
                <a:cs typeface="Arial" pitchFamily="34" charset="-120"/>
              </a:rPr>
              <a:t>Executive</a:t>
            </a:r>
            <a:endParaRPr lang="en-US" sz="2200" dirty="0"/>
          </a:p>
        </p:txBody>
      </p:sp>
      <p:sp>
        <p:nvSpPr>
          <p:cNvPr id="11" name="Text 9"/>
          <p:cNvSpPr txBox="1"/>
          <p:nvPr/>
        </p:nvSpPr>
        <p:spPr>
          <a:xfrm>
            <a:off x="4480560" y="3383280"/>
            <a:ext cx="6931152" cy="777240"/>
          </a:xfrm>
          <a:prstGeom prst="rect">
            <a:avLst/>
          </a:prstGeom>
          <a:noFill/>
          <a:ln/>
        </p:spPr>
        <p:txBody>
          <a:bodyPr wrap="square" lIns="0" tIns="0" rIns="0" bIns="0" rtlCol="0" anchor="t"/>
          <a:lstStyle/>
          <a:p>
            <a:pPr algn="l" indent="0" marL="0">
              <a:lnSpc>
                <a:spcPts val="2600"/>
              </a:lnSpc>
              <a:buNone/>
            </a:pPr>
            <a:r>
              <a:rPr lang="en-US" sz="1900" dirty="0">
                <a:solidFill>
                  <a:srgbClr val="1B1B1B"/>
                </a:solidFill>
                <a:latin typeface="Arial" pitchFamily="34" charset="0"/>
                <a:ea typeface="Arial" pitchFamily="34" charset="-122"/>
                <a:cs typeface="Arial" pitchFamily="34" charset="-120"/>
              </a:rPr>
              <a:t>Enforces the law. Police, sheriffs, corrections, the State Attorney.</a:t>
            </a:r>
            <a:endParaRPr lang="en-US" sz="1900" dirty="0"/>
          </a:p>
        </p:txBody>
      </p:sp>
      <p:sp>
        <p:nvSpPr>
          <p:cNvPr id="12" name="Shape 10"/>
          <p:cNvSpPr/>
          <p:nvPr/>
        </p:nvSpPr>
        <p:spPr>
          <a:xfrm>
            <a:off x="777240" y="4544568"/>
            <a:ext cx="548640" cy="548640"/>
          </a:xfrm>
          <a:prstGeom prst="ellipse">
            <a:avLst/>
          </a:prstGeom>
          <a:solidFill>
            <a:srgbClr val="1A5FB4"/>
          </a:solidFill>
          <a:ln/>
        </p:spPr>
      </p:sp>
      <p:sp>
        <p:nvSpPr>
          <p:cNvPr id="13" name="Text 11"/>
          <p:cNvSpPr txBox="1"/>
          <p:nvPr/>
        </p:nvSpPr>
        <p:spPr>
          <a:xfrm>
            <a:off x="777240" y="4544568"/>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4" name="Text 12"/>
          <p:cNvSpPr txBox="1"/>
          <p:nvPr/>
        </p:nvSpPr>
        <p:spPr>
          <a:xfrm>
            <a:off x="1554480" y="4526280"/>
            <a:ext cx="2880360" cy="548640"/>
          </a:xfrm>
          <a:prstGeom prst="rect">
            <a:avLst/>
          </a:prstGeom>
          <a:noFill/>
          <a:ln/>
        </p:spPr>
        <p:txBody>
          <a:bodyPr wrap="square" lIns="0" tIns="0" rIns="0" bIns="0" rtlCol="0" anchor="t"/>
          <a:lstStyle/>
          <a:p>
            <a:pPr algn="l" indent="0" marL="0">
              <a:buNone/>
            </a:pPr>
            <a:r>
              <a:rPr lang="en-US" sz="2200" b="1" dirty="0">
                <a:solidFill>
                  <a:srgbClr val="10243A"/>
                </a:solidFill>
                <a:latin typeface="Arial" pitchFamily="34" charset="0"/>
                <a:ea typeface="Arial" pitchFamily="34" charset="-122"/>
                <a:cs typeface="Arial" pitchFamily="34" charset="-120"/>
              </a:rPr>
              <a:t>Judicial</a:t>
            </a:r>
            <a:endParaRPr lang="en-US" sz="2200" dirty="0"/>
          </a:p>
        </p:txBody>
      </p:sp>
      <p:sp>
        <p:nvSpPr>
          <p:cNvPr id="15" name="Text 13"/>
          <p:cNvSpPr txBox="1"/>
          <p:nvPr/>
        </p:nvSpPr>
        <p:spPr>
          <a:xfrm>
            <a:off x="4480560" y="4526280"/>
            <a:ext cx="6931152" cy="777240"/>
          </a:xfrm>
          <a:prstGeom prst="rect">
            <a:avLst/>
          </a:prstGeom>
          <a:noFill/>
          <a:ln/>
        </p:spPr>
        <p:txBody>
          <a:bodyPr wrap="square" lIns="0" tIns="0" rIns="0" bIns="0" rtlCol="0" anchor="t"/>
          <a:lstStyle/>
          <a:p>
            <a:pPr algn="l" indent="0" marL="0">
              <a:lnSpc>
                <a:spcPts val="2600"/>
              </a:lnSpc>
              <a:buNone/>
            </a:pPr>
            <a:r>
              <a:rPr lang="en-US" sz="1900" dirty="0">
                <a:solidFill>
                  <a:srgbClr val="1B1B1B"/>
                </a:solidFill>
                <a:latin typeface="Arial" pitchFamily="34" charset="0"/>
                <a:ea typeface="Arial" pitchFamily="34" charset="-122"/>
                <a:cs typeface="Arial" pitchFamily="34" charset="-120"/>
              </a:rPr>
              <a:t>Interprets the law. Judges and courts.</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10634472" cy="310896"/>
          </a:xfrm>
          <a:prstGeom prst="rect">
            <a:avLst/>
          </a:prstGeom>
          <a:noFill/>
          <a:ln/>
        </p:spPr>
        <p:txBody>
          <a:bodyPr wrap="square" lIns="0" tIns="0" rIns="0" bIns="0" rtlCol="0" anchor="t"/>
          <a:lstStyle/>
          <a:p>
            <a:pPr algn="l" indent="0" marL="0">
              <a:buNone/>
            </a:pPr>
            <a:r>
              <a:rPr lang="en-US" sz="1300" b="1" spc="200" kern="0" dirty="0">
                <a:solidFill>
                  <a:srgbClr val="1A5FB4"/>
                </a:solidFill>
                <a:latin typeface="Arial" pitchFamily="34" charset="0"/>
                <a:ea typeface="Arial" pitchFamily="34" charset="-122"/>
                <a:cs typeface="Arial" pitchFamily="34" charset="-120"/>
              </a:rPr>
              <a:t>FRAMEWORK 2 OF 3</a:t>
            </a:r>
            <a:endParaRPr lang="en-US" sz="1300" dirty="0"/>
          </a:p>
        </p:txBody>
      </p:sp>
      <p:sp>
        <p:nvSpPr>
          <p:cNvPr id="3" name="Text 1"/>
          <p:cNvSpPr txBox="1"/>
          <p:nvPr/>
        </p:nvSpPr>
        <p:spPr>
          <a:xfrm>
            <a:off x="777240" y="960120"/>
            <a:ext cx="10634472" cy="749808"/>
          </a:xfrm>
          <a:prstGeom prst="rect">
            <a:avLst/>
          </a:prstGeom>
          <a:noFill/>
          <a:ln/>
        </p:spPr>
        <p:txBody>
          <a:bodyPr wrap="square" lIns="0" tIns="0" rIns="0" bIns="0" rtlCol="0" anchor="t"/>
          <a:lstStyle/>
          <a:p>
            <a:pPr algn="l" indent="0" marL="0">
              <a:buNone/>
            </a:pPr>
            <a:r>
              <a:rPr lang="en-US" sz="4000" b="1" dirty="0">
                <a:solidFill>
                  <a:srgbClr val="10243A"/>
                </a:solidFill>
                <a:latin typeface="Arial" pitchFamily="34" charset="0"/>
                <a:ea typeface="Arial" pitchFamily="34" charset="-122"/>
                <a:cs typeface="Arial" pitchFamily="34" charset="-120"/>
              </a:rPr>
              <a:t>Three parts of the system</a:t>
            </a:r>
            <a:endParaRPr lang="en-US" sz="4000" dirty="0"/>
          </a:p>
        </p:txBody>
      </p:sp>
      <p:sp>
        <p:nvSpPr>
          <p:cNvPr id="4" name="Shape 2"/>
          <p:cNvSpPr/>
          <p:nvPr/>
        </p:nvSpPr>
        <p:spPr>
          <a:xfrm>
            <a:off x="777240" y="2258568"/>
            <a:ext cx="548640" cy="548640"/>
          </a:xfrm>
          <a:prstGeom prst="ellipse">
            <a:avLst/>
          </a:prstGeom>
          <a:solidFill>
            <a:srgbClr val="1A5FB4"/>
          </a:solidFill>
          <a:ln/>
        </p:spPr>
      </p:sp>
      <p:sp>
        <p:nvSpPr>
          <p:cNvPr id="5" name="Text 3"/>
          <p:cNvSpPr txBox="1"/>
          <p:nvPr/>
        </p:nvSpPr>
        <p:spPr>
          <a:xfrm>
            <a:off x="777240" y="2258568"/>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6" name="Text 4"/>
          <p:cNvSpPr txBox="1"/>
          <p:nvPr/>
        </p:nvSpPr>
        <p:spPr>
          <a:xfrm>
            <a:off x="1554480" y="2240280"/>
            <a:ext cx="2880360" cy="548640"/>
          </a:xfrm>
          <a:prstGeom prst="rect">
            <a:avLst/>
          </a:prstGeom>
          <a:noFill/>
          <a:ln/>
        </p:spPr>
        <p:txBody>
          <a:bodyPr wrap="square" lIns="0" tIns="0" rIns="0" bIns="0" rtlCol="0" anchor="t"/>
          <a:lstStyle/>
          <a:p>
            <a:pPr algn="l" indent="0" marL="0">
              <a:buNone/>
            </a:pPr>
            <a:r>
              <a:rPr lang="en-US" sz="2200" b="1" dirty="0">
                <a:solidFill>
                  <a:srgbClr val="10243A"/>
                </a:solidFill>
                <a:latin typeface="Arial" pitchFamily="34" charset="0"/>
                <a:ea typeface="Arial" pitchFamily="34" charset="-122"/>
                <a:cs typeface="Arial" pitchFamily="34" charset="-120"/>
              </a:rPr>
              <a:t>Law enforcement</a:t>
            </a:r>
            <a:endParaRPr lang="en-US" sz="2200" dirty="0"/>
          </a:p>
        </p:txBody>
      </p:sp>
      <p:sp>
        <p:nvSpPr>
          <p:cNvPr id="7" name="Text 5"/>
          <p:cNvSpPr txBox="1"/>
          <p:nvPr/>
        </p:nvSpPr>
        <p:spPr>
          <a:xfrm>
            <a:off x="4480560" y="2240280"/>
            <a:ext cx="6931152" cy="777240"/>
          </a:xfrm>
          <a:prstGeom prst="rect">
            <a:avLst/>
          </a:prstGeom>
          <a:noFill/>
          <a:ln/>
        </p:spPr>
        <p:txBody>
          <a:bodyPr wrap="square" lIns="0" tIns="0" rIns="0" bIns="0" rtlCol="0" anchor="t"/>
          <a:lstStyle/>
          <a:p>
            <a:pPr algn="l" indent="0" marL="0">
              <a:lnSpc>
                <a:spcPts val="2600"/>
              </a:lnSpc>
              <a:buNone/>
            </a:pPr>
            <a:r>
              <a:rPr lang="en-US" sz="1900" dirty="0">
                <a:solidFill>
                  <a:srgbClr val="1B1B1B"/>
                </a:solidFill>
                <a:latin typeface="Arial" pitchFamily="34" charset="0"/>
                <a:ea typeface="Arial" pitchFamily="34" charset="-122"/>
                <a:cs typeface="Arial" pitchFamily="34" charset="-120"/>
              </a:rPr>
              <a:t>Responds, investigates, arrests.</a:t>
            </a:r>
            <a:endParaRPr lang="en-US" sz="1900" dirty="0"/>
          </a:p>
        </p:txBody>
      </p:sp>
      <p:sp>
        <p:nvSpPr>
          <p:cNvPr id="8" name="Shape 6"/>
          <p:cNvSpPr/>
          <p:nvPr/>
        </p:nvSpPr>
        <p:spPr>
          <a:xfrm>
            <a:off x="777240" y="3401568"/>
            <a:ext cx="548640" cy="548640"/>
          </a:xfrm>
          <a:prstGeom prst="ellipse">
            <a:avLst/>
          </a:prstGeom>
          <a:solidFill>
            <a:srgbClr val="1A5FB4"/>
          </a:solidFill>
          <a:ln/>
        </p:spPr>
      </p:sp>
      <p:sp>
        <p:nvSpPr>
          <p:cNvPr id="9" name="Text 7"/>
          <p:cNvSpPr txBox="1"/>
          <p:nvPr/>
        </p:nvSpPr>
        <p:spPr>
          <a:xfrm>
            <a:off x="777240" y="3401568"/>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0" name="Text 8"/>
          <p:cNvSpPr txBox="1"/>
          <p:nvPr/>
        </p:nvSpPr>
        <p:spPr>
          <a:xfrm>
            <a:off x="1554480" y="3383280"/>
            <a:ext cx="2880360" cy="548640"/>
          </a:xfrm>
          <a:prstGeom prst="rect">
            <a:avLst/>
          </a:prstGeom>
          <a:noFill/>
          <a:ln/>
        </p:spPr>
        <p:txBody>
          <a:bodyPr wrap="square" lIns="0" tIns="0" rIns="0" bIns="0" rtlCol="0" anchor="t"/>
          <a:lstStyle/>
          <a:p>
            <a:pPr algn="l" indent="0" marL="0">
              <a:buNone/>
            </a:pPr>
            <a:r>
              <a:rPr lang="en-US" sz="2200" b="1" dirty="0">
                <a:solidFill>
                  <a:srgbClr val="10243A"/>
                </a:solidFill>
                <a:latin typeface="Arial" pitchFamily="34" charset="0"/>
                <a:ea typeface="Arial" pitchFamily="34" charset="-122"/>
                <a:cs typeface="Arial" pitchFamily="34" charset="-120"/>
              </a:rPr>
              <a:t>Courts</a:t>
            </a:r>
            <a:endParaRPr lang="en-US" sz="2200" dirty="0"/>
          </a:p>
        </p:txBody>
      </p:sp>
      <p:sp>
        <p:nvSpPr>
          <p:cNvPr id="11" name="Text 9"/>
          <p:cNvSpPr txBox="1"/>
          <p:nvPr/>
        </p:nvSpPr>
        <p:spPr>
          <a:xfrm>
            <a:off x="4480560" y="3383280"/>
            <a:ext cx="6931152" cy="777240"/>
          </a:xfrm>
          <a:prstGeom prst="rect">
            <a:avLst/>
          </a:prstGeom>
          <a:noFill/>
          <a:ln/>
        </p:spPr>
        <p:txBody>
          <a:bodyPr wrap="square" lIns="0" tIns="0" rIns="0" bIns="0" rtlCol="0" anchor="t"/>
          <a:lstStyle/>
          <a:p>
            <a:pPr algn="l" indent="0" marL="0">
              <a:lnSpc>
                <a:spcPts val="2600"/>
              </a:lnSpc>
              <a:buNone/>
            </a:pPr>
            <a:r>
              <a:rPr lang="en-US" sz="1900" dirty="0">
                <a:solidFill>
                  <a:srgbClr val="1B1B1B"/>
                </a:solidFill>
                <a:latin typeface="Arial" pitchFamily="34" charset="0"/>
                <a:ea typeface="Arial" pitchFamily="34" charset="-122"/>
                <a:cs typeface="Arial" pitchFamily="34" charset="-120"/>
              </a:rPr>
              <a:t>Charges, tries, sentences.</a:t>
            </a:r>
            <a:endParaRPr lang="en-US" sz="1900" dirty="0"/>
          </a:p>
        </p:txBody>
      </p:sp>
      <p:sp>
        <p:nvSpPr>
          <p:cNvPr id="12" name="Shape 10"/>
          <p:cNvSpPr/>
          <p:nvPr/>
        </p:nvSpPr>
        <p:spPr>
          <a:xfrm>
            <a:off x="777240" y="4544568"/>
            <a:ext cx="548640" cy="548640"/>
          </a:xfrm>
          <a:prstGeom prst="ellipse">
            <a:avLst/>
          </a:prstGeom>
          <a:solidFill>
            <a:srgbClr val="1A5FB4"/>
          </a:solidFill>
          <a:ln/>
        </p:spPr>
      </p:sp>
      <p:sp>
        <p:nvSpPr>
          <p:cNvPr id="13" name="Text 11"/>
          <p:cNvSpPr txBox="1"/>
          <p:nvPr/>
        </p:nvSpPr>
        <p:spPr>
          <a:xfrm>
            <a:off x="777240" y="4544568"/>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4" name="Text 12"/>
          <p:cNvSpPr txBox="1"/>
          <p:nvPr/>
        </p:nvSpPr>
        <p:spPr>
          <a:xfrm>
            <a:off x="1554480" y="4526280"/>
            <a:ext cx="2880360" cy="548640"/>
          </a:xfrm>
          <a:prstGeom prst="rect">
            <a:avLst/>
          </a:prstGeom>
          <a:noFill/>
          <a:ln/>
        </p:spPr>
        <p:txBody>
          <a:bodyPr wrap="square" lIns="0" tIns="0" rIns="0" bIns="0" rtlCol="0" anchor="t"/>
          <a:lstStyle/>
          <a:p>
            <a:pPr algn="l" indent="0" marL="0">
              <a:buNone/>
            </a:pPr>
            <a:r>
              <a:rPr lang="en-US" sz="2200" b="1" dirty="0">
                <a:solidFill>
                  <a:srgbClr val="10243A"/>
                </a:solidFill>
                <a:latin typeface="Arial" pitchFamily="34" charset="0"/>
                <a:ea typeface="Arial" pitchFamily="34" charset="-122"/>
                <a:cs typeface="Arial" pitchFamily="34" charset="-120"/>
              </a:rPr>
              <a:t>Corrections</a:t>
            </a:r>
            <a:endParaRPr lang="en-US" sz="2200" dirty="0"/>
          </a:p>
        </p:txBody>
      </p:sp>
      <p:sp>
        <p:nvSpPr>
          <p:cNvPr id="15" name="Text 13"/>
          <p:cNvSpPr txBox="1"/>
          <p:nvPr/>
        </p:nvSpPr>
        <p:spPr>
          <a:xfrm>
            <a:off x="4480560" y="4526280"/>
            <a:ext cx="6931152" cy="777240"/>
          </a:xfrm>
          <a:prstGeom prst="rect">
            <a:avLst/>
          </a:prstGeom>
          <a:noFill/>
          <a:ln/>
        </p:spPr>
        <p:txBody>
          <a:bodyPr wrap="square" lIns="0" tIns="0" rIns="0" bIns="0" rtlCol="0" anchor="t"/>
          <a:lstStyle/>
          <a:p>
            <a:pPr algn="l" indent="0" marL="0">
              <a:lnSpc>
                <a:spcPts val="2600"/>
              </a:lnSpc>
              <a:buNone/>
            </a:pPr>
            <a:r>
              <a:rPr lang="en-US" sz="1900" dirty="0">
                <a:solidFill>
                  <a:srgbClr val="1B1B1B"/>
                </a:solidFill>
                <a:latin typeface="Arial" pitchFamily="34" charset="0"/>
                <a:ea typeface="Arial" pitchFamily="34" charset="-122"/>
                <a:cs typeface="Arial" pitchFamily="34" charset="-120"/>
              </a:rPr>
              <a:t>Jails, prisons, probation, supervision.</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10634472" cy="310896"/>
          </a:xfrm>
          <a:prstGeom prst="rect">
            <a:avLst/>
          </a:prstGeom>
          <a:noFill/>
          <a:ln/>
        </p:spPr>
        <p:txBody>
          <a:bodyPr wrap="square" lIns="0" tIns="0" rIns="0" bIns="0" rtlCol="0" anchor="t"/>
          <a:lstStyle/>
          <a:p>
            <a:pPr algn="l" indent="0" marL="0">
              <a:buNone/>
            </a:pPr>
            <a:r>
              <a:rPr lang="en-US" sz="1300" b="1" spc="200" kern="0" dirty="0">
                <a:solidFill>
                  <a:srgbClr val="1A5FB4"/>
                </a:solidFill>
                <a:latin typeface="Arial" pitchFamily="34" charset="0"/>
                <a:ea typeface="Arial" pitchFamily="34" charset="-122"/>
                <a:cs typeface="Arial" pitchFamily="34" charset="-120"/>
              </a:rPr>
              <a:t>FRAMEWORK 3 OF 3</a:t>
            </a:r>
            <a:endParaRPr lang="en-US" sz="1300" dirty="0"/>
          </a:p>
        </p:txBody>
      </p:sp>
      <p:sp>
        <p:nvSpPr>
          <p:cNvPr id="3" name="Text 1"/>
          <p:cNvSpPr txBox="1"/>
          <p:nvPr/>
        </p:nvSpPr>
        <p:spPr>
          <a:xfrm>
            <a:off x="777240" y="960120"/>
            <a:ext cx="10634472" cy="749808"/>
          </a:xfrm>
          <a:prstGeom prst="rect">
            <a:avLst/>
          </a:prstGeom>
          <a:noFill/>
          <a:ln/>
        </p:spPr>
        <p:txBody>
          <a:bodyPr wrap="square" lIns="0" tIns="0" rIns="0" bIns="0" rtlCol="0" anchor="t"/>
          <a:lstStyle/>
          <a:p>
            <a:pPr algn="l" indent="0" marL="0">
              <a:buNone/>
            </a:pPr>
            <a:r>
              <a:rPr lang="en-US" sz="4000" b="1" dirty="0">
                <a:solidFill>
                  <a:srgbClr val="10243A"/>
                </a:solidFill>
                <a:latin typeface="Arial" pitchFamily="34" charset="0"/>
                <a:ea typeface="Arial" pitchFamily="34" charset="-122"/>
                <a:cs typeface="Arial" pitchFamily="34" charset="-120"/>
              </a:rPr>
              <a:t>Four levels of government</a:t>
            </a:r>
            <a:endParaRPr lang="en-US" sz="4000" dirty="0"/>
          </a:p>
        </p:txBody>
      </p:sp>
      <p:sp>
        <p:nvSpPr>
          <p:cNvPr id="4" name="Shape 2"/>
          <p:cNvSpPr/>
          <p:nvPr/>
        </p:nvSpPr>
        <p:spPr>
          <a:xfrm>
            <a:off x="777240" y="2258568"/>
            <a:ext cx="548640" cy="548640"/>
          </a:xfrm>
          <a:prstGeom prst="ellipse">
            <a:avLst/>
          </a:prstGeom>
          <a:solidFill>
            <a:srgbClr val="1A5FB4"/>
          </a:solidFill>
          <a:ln/>
        </p:spPr>
      </p:sp>
      <p:sp>
        <p:nvSpPr>
          <p:cNvPr id="5" name="Text 3"/>
          <p:cNvSpPr txBox="1"/>
          <p:nvPr/>
        </p:nvSpPr>
        <p:spPr>
          <a:xfrm>
            <a:off x="777240" y="2258568"/>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6" name="Text 4"/>
          <p:cNvSpPr txBox="1"/>
          <p:nvPr/>
        </p:nvSpPr>
        <p:spPr>
          <a:xfrm>
            <a:off x="1554480" y="2240280"/>
            <a:ext cx="2880360" cy="548640"/>
          </a:xfrm>
          <a:prstGeom prst="rect">
            <a:avLst/>
          </a:prstGeom>
          <a:noFill/>
          <a:ln/>
        </p:spPr>
        <p:txBody>
          <a:bodyPr wrap="square" lIns="0" tIns="0" rIns="0" bIns="0" rtlCol="0" anchor="t"/>
          <a:lstStyle/>
          <a:p>
            <a:pPr algn="l" indent="0" marL="0">
              <a:buNone/>
            </a:pPr>
            <a:r>
              <a:rPr lang="en-US" sz="2200" b="1" dirty="0">
                <a:solidFill>
                  <a:srgbClr val="10243A"/>
                </a:solidFill>
                <a:latin typeface="Arial" pitchFamily="34" charset="0"/>
                <a:ea typeface="Arial" pitchFamily="34" charset="-122"/>
                <a:cs typeface="Arial" pitchFamily="34" charset="-120"/>
              </a:rPr>
              <a:t>Federal</a:t>
            </a:r>
            <a:endParaRPr lang="en-US" sz="2200" dirty="0"/>
          </a:p>
        </p:txBody>
      </p:sp>
      <p:sp>
        <p:nvSpPr>
          <p:cNvPr id="7" name="Text 5"/>
          <p:cNvSpPr txBox="1"/>
          <p:nvPr/>
        </p:nvSpPr>
        <p:spPr>
          <a:xfrm>
            <a:off x="4480560" y="2240280"/>
            <a:ext cx="6931152" cy="777240"/>
          </a:xfrm>
          <a:prstGeom prst="rect">
            <a:avLst/>
          </a:prstGeom>
          <a:noFill/>
          <a:ln/>
        </p:spPr>
        <p:txBody>
          <a:bodyPr wrap="square" lIns="0" tIns="0" rIns="0" bIns="0" rtlCol="0" anchor="t"/>
          <a:lstStyle/>
          <a:p>
            <a:pPr algn="l" indent="0" marL="0">
              <a:lnSpc>
                <a:spcPts val="2600"/>
              </a:lnSpc>
              <a:buNone/>
            </a:pPr>
            <a:r>
              <a:rPr lang="en-US" sz="1900" dirty="0">
                <a:solidFill>
                  <a:srgbClr val="1B1B1B"/>
                </a:solidFill>
                <a:latin typeface="Arial" pitchFamily="34" charset="0"/>
                <a:ea typeface="Arial" pitchFamily="34" charset="-122"/>
                <a:cs typeface="Arial" pitchFamily="34" charset="-120"/>
              </a:rPr>
              <a:t>FBI, DEA, U.S. Attorney, federal courts and prisons.</a:t>
            </a:r>
            <a:endParaRPr lang="en-US" sz="1900" dirty="0"/>
          </a:p>
        </p:txBody>
      </p:sp>
      <p:sp>
        <p:nvSpPr>
          <p:cNvPr id="8" name="Shape 6"/>
          <p:cNvSpPr/>
          <p:nvPr/>
        </p:nvSpPr>
        <p:spPr>
          <a:xfrm>
            <a:off x="777240" y="3191256"/>
            <a:ext cx="548640" cy="548640"/>
          </a:xfrm>
          <a:prstGeom prst="ellipse">
            <a:avLst/>
          </a:prstGeom>
          <a:solidFill>
            <a:srgbClr val="1A5FB4"/>
          </a:solidFill>
          <a:ln/>
        </p:spPr>
      </p:sp>
      <p:sp>
        <p:nvSpPr>
          <p:cNvPr id="9" name="Text 7"/>
          <p:cNvSpPr txBox="1"/>
          <p:nvPr/>
        </p:nvSpPr>
        <p:spPr>
          <a:xfrm>
            <a:off x="777240" y="3191256"/>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0" name="Text 8"/>
          <p:cNvSpPr txBox="1"/>
          <p:nvPr/>
        </p:nvSpPr>
        <p:spPr>
          <a:xfrm>
            <a:off x="1554480" y="3172968"/>
            <a:ext cx="2880360" cy="548640"/>
          </a:xfrm>
          <a:prstGeom prst="rect">
            <a:avLst/>
          </a:prstGeom>
          <a:noFill/>
          <a:ln/>
        </p:spPr>
        <p:txBody>
          <a:bodyPr wrap="square" lIns="0" tIns="0" rIns="0" bIns="0" rtlCol="0" anchor="t"/>
          <a:lstStyle/>
          <a:p>
            <a:pPr algn="l" indent="0" marL="0">
              <a:buNone/>
            </a:pPr>
            <a:r>
              <a:rPr lang="en-US" sz="2200" b="1" dirty="0">
                <a:solidFill>
                  <a:srgbClr val="10243A"/>
                </a:solidFill>
                <a:latin typeface="Arial" pitchFamily="34" charset="0"/>
                <a:ea typeface="Arial" pitchFamily="34" charset="-122"/>
                <a:cs typeface="Arial" pitchFamily="34" charset="-120"/>
              </a:rPr>
              <a:t>State</a:t>
            </a:r>
            <a:endParaRPr lang="en-US" sz="2200" dirty="0"/>
          </a:p>
        </p:txBody>
      </p:sp>
      <p:sp>
        <p:nvSpPr>
          <p:cNvPr id="11" name="Text 9"/>
          <p:cNvSpPr txBox="1"/>
          <p:nvPr/>
        </p:nvSpPr>
        <p:spPr>
          <a:xfrm>
            <a:off x="4480560" y="3172968"/>
            <a:ext cx="6931152" cy="777240"/>
          </a:xfrm>
          <a:prstGeom prst="rect">
            <a:avLst/>
          </a:prstGeom>
          <a:noFill/>
          <a:ln/>
        </p:spPr>
        <p:txBody>
          <a:bodyPr wrap="square" lIns="0" tIns="0" rIns="0" bIns="0" rtlCol="0" anchor="t"/>
          <a:lstStyle/>
          <a:p>
            <a:pPr algn="l" indent="0" marL="0">
              <a:lnSpc>
                <a:spcPts val="2600"/>
              </a:lnSpc>
              <a:buNone/>
            </a:pPr>
            <a:r>
              <a:rPr lang="en-US" sz="1900" dirty="0">
                <a:solidFill>
                  <a:srgbClr val="1B1B1B"/>
                </a:solidFill>
                <a:latin typeface="Arial" pitchFamily="34" charset="0"/>
                <a:ea typeface="Arial" pitchFamily="34" charset="-122"/>
                <a:cs typeface="Arial" pitchFamily="34" charset="-120"/>
              </a:rPr>
              <a:t>FHP, FDLE, State Attorney, circuit courts, Dept. of Corrections.</a:t>
            </a:r>
            <a:endParaRPr lang="en-US" sz="1900" dirty="0"/>
          </a:p>
        </p:txBody>
      </p:sp>
      <p:sp>
        <p:nvSpPr>
          <p:cNvPr id="12" name="Shape 10"/>
          <p:cNvSpPr/>
          <p:nvPr/>
        </p:nvSpPr>
        <p:spPr>
          <a:xfrm>
            <a:off x="777240" y="4123944"/>
            <a:ext cx="548640" cy="548640"/>
          </a:xfrm>
          <a:prstGeom prst="ellipse">
            <a:avLst/>
          </a:prstGeom>
          <a:solidFill>
            <a:srgbClr val="1A5FB4"/>
          </a:solidFill>
          <a:ln/>
        </p:spPr>
      </p:sp>
      <p:sp>
        <p:nvSpPr>
          <p:cNvPr id="13" name="Text 11"/>
          <p:cNvSpPr txBox="1"/>
          <p:nvPr/>
        </p:nvSpPr>
        <p:spPr>
          <a:xfrm>
            <a:off x="777240" y="4123944"/>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4" name="Text 12"/>
          <p:cNvSpPr txBox="1"/>
          <p:nvPr/>
        </p:nvSpPr>
        <p:spPr>
          <a:xfrm>
            <a:off x="1554480" y="4105656"/>
            <a:ext cx="2880360" cy="548640"/>
          </a:xfrm>
          <a:prstGeom prst="rect">
            <a:avLst/>
          </a:prstGeom>
          <a:noFill/>
          <a:ln/>
        </p:spPr>
        <p:txBody>
          <a:bodyPr wrap="square" lIns="0" tIns="0" rIns="0" bIns="0" rtlCol="0" anchor="t"/>
          <a:lstStyle/>
          <a:p>
            <a:pPr algn="l" indent="0" marL="0">
              <a:buNone/>
            </a:pPr>
            <a:r>
              <a:rPr lang="en-US" sz="2200" b="1" dirty="0">
                <a:solidFill>
                  <a:srgbClr val="10243A"/>
                </a:solidFill>
                <a:latin typeface="Arial" pitchFamily="34" charset="0"/>
                <a:ea typeface="Arial" pitchFamily="34" charset="-122"/>
                <a:cs typeface="Arial" pitchFamily="34" charset="-120"/>
              </a:rPr>
              <a:t>County</a:t>
            </a:r>
            <a:endParaRPr lang="en-US" sz="2200" dirty="0"/>
          </a:p>
        </p:txBody>
      </p:sp>
      <p:sp>
        <p:nvSpPr>
          <p:cNvPr id="15" name="Text 13"/>
          <p:cNvSpPr txBox="1"/>
          <p:nvPr/>
        </p:nvSpPr>
        <p:spPr>
          <a:xfrm>
            <a:off x="4480560" y="4105656"/>
            <a:ext cx="6931152" cy="777240"/>
          </a:xfrm>
          <a:prstGeom prst="rect">
            <a:avLst/>
          </a:prstGeom>
          <a:noFill/>
          <a:ln/>
        </p:spPr>
        <p:txBody>
          <a:bodyPr wrap="square" lIns="0" tIns="0" rIns="0" bIns="0" rtlCol="0" anchor="t"/>
          <a:lstStyle/>
          <a:p>
            <a:pPr algn="l" indent="0" marL="0">
              <a:lnSpc>
                <a:spcPts val="2600"/>
              </a:lnSpc>
              <a:buNone/>
            </a:pPr>
            <a:r>
              <a:rPr lang="en-US" sz="1900" dirty="0">
                <a:solidFill>
                  <a:srgbClr val="1B1B1B"/>
                </a:solidFill>
                <a:latin typeface="Arial" pitchFamily="34" charset="0"/>
                <a:ea typeface="Arial" pitchFamily="34" charset="-122"/>
                <a:cs typeface="Arial" pitchFamily="34" charset="-120"/>
              </a:rPr>
              <a:t>Sheriff’s Office, county jail, county court.</a:t>
            </a:r>
            <a:endParaRPr lang="en-US" sz="1900" dirty="0"/>
          </a:p>
        </p:txBody>
      </p:sp>
      <p:sp>
        <p:nvSpPr>
          <p:cNvPr id="16" name="Shape 14"/>
          <p:cNvSpPr/>
          <p:nvPr/>
        </p:nvSpPr>
        <p:spPr>
          <a:xfrm>
            <a:off x="777240" y="5056632"/>
            <a:ext cx="548640" cy="548640"/>
          </a:xfrm>
          <a:prstGeom prst="ellipse">
            <a:avLst/>
          </a:prstGeom>
          <a:solidFill>
            <a:srgbClr val="1A5FB4"/>
          </a:solidFill>
          <a:ln/>
        </p:spPr>
      </p:sp>
      <p:sp>
        <p:nvSpPr>
          <p:cNvPr id="17" name="Text 15"/>
          <p:cNvSpPr txBox="1"/>
          <p:nvPr/>
        </p:nvSpPr>
        <p:spPr>
          <a:xfrm>
            <a:off x="777240" y="5056632"/>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8" name="Text 16"/>
          <p:cNvSpPr txBox="1"/>
          <p:nvPr/>
        </p:nvSpPr>
        <p:spPr>
          <a:xfrm>
            <a:off x="1554480" y="5038344"/>
            <a:ext cx="2880360" cy="548640"/>
          </a:xfrm>
          <a:prstGeom prst="rect">
            <a:avLst/>
          </a:prstGeom>
          <a:noFill/>
          <a:ln/>
        </p:spPr>
        <p:txBody>
          <a:bodyPr wrap="square" lIns="0" tIns="0" rIns="0" bIns="0" rtlCol="0" anchor="t"/>
          <a:lstStyle/>
          <a:p>
            <a:pPr algn="l" indent="0" marL="0">
              <a:buNone/>
            </a:pPr>
            <a:r>
              <a:rPr lang="en-US" sz="2200" b="1" dirty="0">
                <a:solidFill>
                  <a:srgbClr val="10243A"/>
                </a:solidFill>
                <a:latin typeface="Arial" pitchFamily="34" charset="0"/>
                <a:ea typeface="Arial" pitchFamily="34" charset="-122"/>
                <a:cs typeface="Arial" pitchFamily="34" charset="-120"/>
              </a:rPr>
              <a:t>Local</a:t>
            </a:r>
            <a:endParaRPr lang="en-US" sz="2200" dirty="0"/>
          </a:p>
        </p:txBody>
      </p:sp>
      <p:sp>
        <p:nvSpPr>
          <p:cNvPr id="19" name="Text 17"/>
          <p:cNvSpPr txBox="1"/>
          <p:nvPr/>
        </p:nvSpPr>
        <p:spPr>
          <a:xfrm>
            <a:off x="4480560" y="5038344"/>
            <a:ext cx="6931152" cy="777240"/>
          </a:xfrm>
          <a:prstGeom prst="rect">
            <a:avLst/>
          </a:prstGeom>
          <a:noFill/>
          <a:ln/>
        </p:spPr>
        <p:txBody>
          <a:bodyPr wrap="square" lIns="0" tIns="0" rIns="0" bIns="0" rtlCol="0" anchor="t"/>
          <a:lstStyle/>
          <a:p>
            <a:pPr algn="l" indent="0" marL="0">
              <a:lnSpc>
                <a:spcPts val="2600"/>
              </a:lnSpc>
              <a:buNone/>
            </a:pPr>
            <a:r>
              <a:rPr lang="en-US" sz="1900" dirty="0">
                <a:solidFill>
                  <a:srgbClr val="1B1B1B"/>
                </a:solidFill>
                <a:latin typeface="Arial" pitchFamily="34" charset="0"/>
                <a:ea typeface="Arial" pitchFamily="34" charset="-122"/>
                <a:cs typeface="Arial" pitchFamily="34" charset="-120"/>
              </a:rPr>
              <a:t>City police department, code enforcement.</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10634472" cy="310896"/>
          </a:xfrm>
          <a:prstGeom prst="rect">
            <a:avLst/>
          </a:prstGeom>
          <a:noFill/>
          <a:ln/>
        </p:spPr>
        <p:txBody>
          <a:bodyPr wrap="square" lIns="0" tIns="0" rIns="0" bIns="0" rtlCol="0" anchor="t"/>
          <a:lstStyle/>
          <a:p>
            <a:pPr algn="l" indent="0" marL="0">
              <a:buNone/>
            </a:pPr>
            <a:r>
              <a:rPr lang="en-US" sz="1300" b="1" spc="200" kern="0" dirty="0">
                <a:solidFill>
                  <a:srgbClr val="1A5FB4"/>
                </a:solidFill>
                <a:latin typeface="Arial" pitchFamily="34" charset="0"/>
                <a:ea typeface="Arial" pitchFamily="34" charset="-122"/>
                <a:cs typeface="Arial" pitchFamily="34" charset="-120"/>
              </a:rPr>
              <a:t>EVERYONE ANSWERS</a:t>
            </a:r>
            <a:endParaRPr lang="en-US" sz="1300" dirty="0"/>
          </a:p>
        </p:txBody>
      </p:sp>
      <p:sp>
        <p:nvSpPr>
          <p:cNvPr id="3" name="Text 1"/>
          <p:cNvSpPr txBox="1"/>
          <p:nvPr/>
        </p:nvSpPr>
        <p:spPr>
          <a:xfrm>
            <a:off x="777240" y="960120"/>
            <a:ext cx="10634472" cy="841248"/>
          </a:xfrm>
          <a:prstGeom prst="rect">
            <a:avLst/>
          </a:prstGeom>
          <a:noFill/>
          <a:ln/>
        </p:spPr>
        <p:txBody>
          <a:bodyPr wrap="square" lIns="0" tIns="0" rIns="0" bIns="0" rtlCol="0" anchor="t"/>
          <a:lstStyle/>
          <a:p>
            <a:pPr algn="l" indent="0" marL="0">
              <a:buNone/>
            </a:pPr>
            <a:r>
              <a:rPr lang="en-US" sz="4600" b="1" dirty="0">
                <a:solidFill>
                  <a:srgbClr val="10243A"/>
                </a:solidFill>
                <a:latin typeface="Arial" pitchFamily="34" charset="0"/>
                <a:ea typeface="Arial" pitchFamily="34" charset="-122"/>
                <a:cs typeface="Arial" pitchFamily="34" charset="-120"/>
              </a:rPr>
              <a:t>Who does what?</a:t>
            </a:r>
            <a:endParaRPr lang="en-US" sz="4600" dirty="0"/>
          </a:p>
        </p:txBody>
      </p:sp>
      <p:sp>
        <p:nvSpPr>
          <p:cNvPr id="4" name="Text 2"/>
          <p:cNvSpPr txBox="1"/>
          <p:nvPr/>
        </p:nvSpPr>
        <p:spPr>
          <a:xfrm>
            <a:off x="777240" y="2286000"/>
            <a:ext cx="10634472" cy="658368"/>
          </a:xfrm>
          <a:prstGeom prst="rect">
            <a:avLst/>
          </a:prstGeom>
          <a:noFill/>
          <a:ln/>
        </p:spPr>
        <p:txBody>
          <a:bodyPr wrap="square" lIns="0" tIns="0" rIns="0" bIns="0" rtlCol="0" anchor="t"/>
          <a:lstStyle/>
          <a:p>
            <a:pPr algn="l" indent="0" marL="0">
              <a:lnSpc>
                <a:spcPts val="3800"/>
              </a:lnSpc>
              <a:buNone/>
            </a:pPr>
            <a:r>
              <a:rPr lang="en-US" sz="2600" dirty="0">
                <a:solidFill>
                  <a:srgbClr val="1B1B1B"/>
                </a:solidFill>
                <a:latin typeface="Arial" pitchFamily="34" charset="0"/>
                <a:ea typeface="Arial" pitchFamily="34" charset="-122"/>
                <a:cs typeface="Arial" pitchFamily="34" charset="-120"/>
              </a:rPr>
              <a:t>Match each agency to its job. Fastest correct set wins.</a:t>
            </a:r>
            <a:endParaRPr lang="en-US" sz="2600" dirty="0"/>
          </a:p>
        </p:txBody>
      </p:sp>
      <p:sp>
        <p:nvSpPr>
          <p:cNvPr id="5" name="Text 3"/>
          <p:cNvSpPr txBox="1"/>
          <p:nvPr/>
        </p:nvSpPr>
        <p:spPr>
          <a:xfrm>
            <a:off x="777240" y="6144768"/>
            <a:ext cx="10634472" cy="310896"/>
          </a:xfrm>
          <a:prstGeom prst="rect">
            <a:avLst/>
          </a:prstGeom>
          <a:noFill/>
          <a:ln/>
        </p:spPr>
        <p:txBody>
          <a:bodyPr wrap="square" lIns="0" tIns="0" rIns="0" bIns="0" rtlCol="0" anchor="t"/>
          <a:lstStyle/>
          <a:p>
            <a:pPr algn="l" indent="0" marL="0">
              <a:buNone/>
            </a:pPr>
            <a:r>
              <a:rPr lang="en-US" sz="1200" dirty="0">
                <a:solidFill>
                  <a:srgbClr val="5F6B79"/>
                </a:solidFill>
                <a:latin typeface="Arial" pitchFamily="34" charset="0"/>
                <a:ea typeface="Arial" pitchFamily="34" charset="-122"/>
                <a:cs typeface="Arial" pitchFamily="34" charset="-120"/>
              </a:rPr>
              <a:t>Matching Pairs · eight pairs · two minutes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10634472" cy="310896"/>
          </a:xfrm>
          <a:prstGeom prst="rect">
            <a:avLst/>
          </a:prstGeom>
          <a:noFill/>
          <a:ln/>
        </p:spPr>
        <p:txBody>
          <a:bodyPr wrap="square" lIns="0" tIns="0" rIns="0" bIns="0" rtlCol="0" anchor="t"/>
          <a:lstStyle/>
          <a:p>
            <a:pPr algn="l" indent="0" marL="0">
              <a:buNone/>
            </a:pPr>
            <a:r>
              <a:rPr lang="en-US" sz="1300" b="1" spc="200" kern="0" dirty="0">
                <a:solidFill>
                  <a:srgbClr val="1A5FB4"/>
                </a:solidFill>
                <a:latin typeface="Arial" pitchFamily="34" charset="0"/>
                <a:ea typeface="Arial" pitchFamily="34" charset="-122"/>
                <a:cs typeface="Arial" pitchFamily="34" charset="-120"/>
              </a:rPr>
              <a:t>THE SPINE OF THE COURSE</a:t>
            </a:r>
            <a:endParaRPr lang="en-US" sz="1300" dirty="0"/>
          </a:p>
        </p:txBody>
      </p:sp>
      <p:sp>
        <p:nvSpPr>
          <p:cNvPr id="3" name="Text 1"/>
          <p:cNvSpPr txBox="1"/>
          <p:nvPr/>
        </p:nvSpPr>
        <p:spPr>
          <a:xfrm>
            <a:off x="777240" y="1051560"/>
            <a:ext cx="10634472" cy="1490472"/>
          </a:xfrm>
          <a:prstGeom prst="rect">
            <a:avLst/>
          </a:prstGeom>
          <a:noFill/>
          <a:ln/>
        </p:spPr>
        <p:txBody>
          <a:bodyPr wrap="square" lIns="0" tIns="0" rIns="0" bIns="0" rtlCol="0" anchor="t"/>
          <a:lstStyle/>
          <a:p>
            <a:pPr algn="l" indent="0" marL="0">
              <a:buNone/>
            </a:pPr>
            <a:r>
              <a:rPr lang="en-US" sz="4400" b="1" dirty="0">
                <a:solidFill>
                  <a:srgbClr val="10243A"/>
                </a:solidFill>
                <a:latin typeface="Arial" pitchFamily="34" charset="0"/>
                <a:ea typeface="Arial" pitchFamily="34" charset="-122"/>
                <a:cs typeface="Arial" pitchFamily="34" charset="-120"/>
              </a:rPr>
              <a:t>Eleven stages.</a:t>
            </a:r>
            <a:endParaRPr lang="en-US" sz="4400" dirty="0"/>
          </a:p>
          <a:p>
            <a:pPr algn="l" indent="0" marL="0">
              <a:buNone/>
            </a:pPr>
            <a:r>
              <a:rPr lang="en-US" sz="4400" b="1" dirty="0">
                <a:solidFill>
                  <a:srgbClr val="10243A"/>
                </a:solidFill>
                <a:latin typeface="Arial" pitchFamily="34" charset="0"/>
                <a:ea typeface="Arial" pitchFamily="34" charset="-122"/>
                <a:cs typeface="Arial" pitchFamily="34" charset="-120"/>
              </a:rPr>
              <a:t>Every case moves the same way.</a:t>
            </a:r>
            <a:endParaRPr lang="en-US" sz="4400" dirty="0"/>
          </a:p>
        </p:txBody>
      </p:sp>
      <p:sp>
        <p:nvSpPr>
          <p:cNvPr id="4" name="Text 2"/>
          <p:cNvSpPr txBox="1"/>
          <p:nvPr/>
        </p:nvSpPr>
        <p:spPr>
          <a:xfrm>
            <a:off x="777240" y="3566160"/>
            <a:ext cx="10634472" cy="886968"/>
          </a:xfrm>
          <a:prstGeom prst="rect">
            <a:avLst/>
          </a:prstGeom>
          <a:noFill/>
          <a:ln/>
        </p:spPr>
        <p:txBody>
          <a:bodyPr wrap="square" lIns="0" tIns="0" rIns="0" bIns="0" rtlCol="0" anchor="t"/>
          <a:lstStyle/>
          <a:p>
            <a:pPr algn="l" indent="0" marL="0">
              <a:lnSpc>
                <a:spcPts val="2800"/>
              </a:lnSpc>
              <a:buNone/>
            </a:pPr>
            <a:r>
              <a:rPr lang="en-US" sz="1900" dirty="0">
                <a:solidFill>
                  <a:srgbClr val="1B1B1B"/>
                </a:solidFill>
                <a:latin typeface="Arial" pitchFamily="34" charset="0"/>
                <a:ea typeface="Arial" pitchFamily="34" charset="-122"/>
                <a:cs typeface="Arial" pitchFamily="34" charset="-120"/>
              </a:rPr>
              <a:t>Report → patrol → arrest → booking → first appearance → charge → arraignment → pretrial → trial → sentence → corrections</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10634472" cy="310896"/>
          </a:xfrm>
          <a:prstGeom prst="rect">
            <a:avLst/>
          </a:prstGeom>
          <a:noFill/>
          <a:ln/>
        </p:spPr>
        <p:txBody>
          <a:bodyPr wrap="square" lIns="0" tIns="0" rIns="0" bIns="0" rtlCol="0" anchor="t"/>
          <a:lstStyle/>
          <a:p>
            <a:pPr algn="l" indent="0" marL="0">
              <a:buNone/>
            </a:pPr>
            <a:r>
              <a:rPr lang="en-US" sz="1300" b="1" spc="200" kern="0" dirty="0">
                <a:solidFill>
                  <a:srgbClr val="1A5FB4"/>
                </a:solidFill>
                <a:latin typeface="Arial" pitchFamily="34" charset="0"/>
                <a:ea typeface="Arial" pitchFamily="34" charset="-122"/>
                <a:cs typeface="Arial" pitchFamily="34" charset="-120"/>
              </a:rPr>
              <a:t>STAGE 1 OF 11</a:t>
            </a:r>
            <a:endParaRPr lang="en-US" sz="1300" dirty="0"/>
          </a:p>
        </p:txBody>
      </p:sp>
      <p:sp>
        <p:nvSpPr>
          <p:cNvPr id="3" name="Shape 1"/>
          <p:cNvSpPr/>
          <p:nvPr/>
        </p:nvSpPr>
        <p:spPr>
          <a:xfrm>
            <a:off x="777240" y="1051560"/>
            <a:ext cx="960120" cy="960120"/>
          </a:xfrm>
          <a:prstGeom prst="ellipse">
            <a:avLst/>
          </a:prstGeom>
          <a:solidFill>
            <a:srgbClr val="1A5FB4"/>
          </a:solidFill>
          <a:ln/>
        </p:spPr>
      </p:sp>
      <p:sp>
        <p:nvSpPr>
          <p:cNvPr id="4" name="Text 2"/>
          <p:cNvSpPr txBox="1"/>
          <p:nvPr/>
        </p:nvSpPr>
        <p:spPr>
          <a:xfrm>
            <a:off x="777240" y="1051560"/>
            <a:ext cx="960120" cy="960120"/>
          </a:xfrm>
          <a:prstGeom prst="rect">
            <a:avLst/>
          </a:prstGeom>
          <a:noFill/>
          <a:ln/>
        </p:spPr>
        <p:txBody>
          <a:bodyPr wrap="square" lIns="0" tIns="0" rIns="0" bIns="0" rtlCol="0" anchor="ctr"/>
          <a:lstStyle/>
          <a:p>
            <a:pPr algn="ctr" indent="0" marL="0">
              <a:buNone/>
            </a:pPr>
            <a:r>
              <a:rPr lang="en-US" sz="2700" b="1" dirty="0">
                <a:solidFill>
                  <a:srgbClr val="FFFFFF"/>
                </a:solidFill>
                <a:latin typeface="Arial" pitchFamily="34" charset="0"/>
                <a:ea typeface="Arial" pitchFamily="34" charset="-122"/>
                <a:cs typeface="Arial" pitchFamily="34" charset="-120"/>
              </a:rPr>
              <a:t>1</a:t>
            </a:r>
            <a:endParaRPr lang="en-US" sz="2700" dirty="0"/>
          </a:p>
        </p:txBody>
      </p:sp>
      <p:sp>
        <p:nvSpPr>
          <p:cNvPr id="5" name="Text 3"/>
          <p:cNvSpPr txBox="1"/>
          <p:nvPr/>
        </p:nvSpPr>
        <p:spPr>
          <a:xfrm>
            <a:off x="2011680" y="1097280"/>
            <a:ext cx="9400032" cy="868680"/>
          </a:xfrm>
          <a:prstGeom prst="rect">
            <a:avLst/>
          </a:prstGeom>
          <a:noFill/>
          <a:ln/>
        </p:spPr>
        <p:txBody>
          <a:bodyPr wrap="square" lIns="0" tIns="0" rIns="0" bIns="0" rtlCol="0" anchor="t"/>
          <a:lstStyle/>
          <a:p>
            <a:pPr algn="l" indent="0" marL="0">
              <a:buNone/>
            </a:pPr>
            <a:r>
              <a:rPr lang="en-US" sz="3800" b="1" dirty="0">
                <a:solidFill>
                  <a:srgbClr val="10243A"/>
                </a:solidFill>
                <a:latin typeface="Arial" pitchFamily="34" charset="0"/>
                <a:ea typeface="Arial" pitchFamily="34" charset="-122"/>
                <a:cs typeface="Arial" pitchFamily="34" charset="-120"/>
              </a:rPr>
              <a:t>Report or call for service</a:t>
            </a:r>
            <a:endParaRPr lang="en-US" sz="3800" dirty="0"/>
          </a:p>
        </p:txBody>
      </p:sp>
      <p:sp>
        <p:nvSpPr>
          <p:cNvPr id="6" name="Text 4"/>
          <p:cNvSpPr txBox="1"/>
          <p:nvPr/>
        </p:nvSpPr>
        <p:spPr>
          <a:xfrm>
            <a:off x="2011680" y="2331720"/>
            <a:ext cx="9400032" cy="2377440"/>
          </a:xfrm>
          <a:prstGeom prst="rect">
            <a:avLst/>
          </a:prstGeom>
          <a:noFill/>
          <a:ln/>
        </p:spPr>
        <p:txBody>
          <a:bodyPr wrap="square" lIns="0" tIns="0" rIns="0" bIns="0" rtlCol="0" anchor="t"/>
          <a:lstStyle/>
          <a:p>
            <a:pPr algn="l" indent="0" marL="0">
              <a:lnSpc>
                <a:spcPts val="3500"/>
              </a:lnSpc>
              <a:buNone/>
            </a:pPr>
            <a:r>
              <a:rPr lang="en-US" sz="2400" dirty="0">
                <a:solidFill>
                  <a:srgbClr val="1B1B1B"/>
                </a:solidFill>
                <a:latin typeface="Arial" pitchFamily="34" charset="0"/>
                <a:ea typeface="Arial" pitchFamily="34" charset="-122"/>
                <a:cs typeface="Arial" pitchFamily="34" charset="-120"/>
              </a:rPr>
              <a:t>Someone calls 911, walks into a lobby, or an officer sees it happen. Dispatch assigns it to a unit.</a:t>
            </a:r>
            <a:endParaRPr lang="en-US" sz="2400" dirty="0"/>
          </a:p>
        </p:txBody>
      </p:sp>
      <p:sp>
        <p:nvSpPr>
          <p:cNvPr id="7" name="Shape 5"/>
          <p:cNvSpPr/>
          <p:nvPr/>
        </p:nvSpPr>
        <p:spPr>
          <a:xfrm>
            <a:off x="777240" y="5349240"/>
            <a:ext cx="384048" cy="384048"/>
          </a:xfrm>
          <a:prstGeom prst="ellipse">
            <a:avLst/>
          </a:prstGeom>
          <a:solidFill>
            <a:srgbClr val="1A5FB4"/>
          </a:solidFill>
          <a:ln/>
        </p:spPr>
      </p:sp>
      <p:sp>
        <p:nvSpPr>
          <p:cNvPr id="8" name="Text 6"/>
          <p:cNvSpPr txBox="1"/>
          <p:nvPr/>
        </p:nvSpPr>
        <p:spPr>
          <a:xfrm>
            <a:off x="777240" y="53492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9" name="Shape 7"/>
          <p:cNvSpPr/>
          <p:nvPr/>
        </p:nvSpPr>
        <p:spPr>
          <a:xfrm>
            <a:off x="1802282" y="5349240"/>
            <a:ext cx="384048" cy="384048"/>
          </a:xfrm>
          <a:prstGeom prst="ellipse">
            <a:avLst/>
          </a:prstGeom>
          <a:solidFill>
            <a:srgbClr val="E8EDF3"/>
          </a:solidFill>
          <a:ln/>
        </p:spPr>
      </p:sp>
      <p:sp>
        <p:nvSpPr>
          <p:cNvPr id="10" name="Text 8"/>
          <p:cNvSpPr txBox="1"/>
          <p:nvPr/>
        </p:nvSpPr>
        <p:spPr>
          <a:xfrm>
            <a:off x="1802282"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2</a:t>
            </a:r>
            <a:endParaRPr lang="en-US" sz="1200" dirty="0"/>
          </a:p>
        </p:txBody>
      </p:sp>
      <p:sp>
        <p:nvSpPr>
          <p:cNvPr id="11" name="Shape 9"/>
          <p:cNvSpPr/>
          <p:nvPr/>
        </p:nvSpPr>
        <p:spPr>
          <a:xfrm>
            <a:off x="2827325" y="5349240"/>
            <a:ext cx="384048" cy="384048"/>
          </a:xfrm>
          <a:prstGeom prst="ellipse">
            <a:avLst/>
          </a:prstGeom>
          <a:solidFill>
            <a:srgbClr val="E8EDF3"/>
          </a:solidFill>
          <a:ln/>
        </p:spPr>
      </p:sp>
      <p:sp>
        <p:nvSpPr>
          <p:cNvPr id="12" name="Text 10"/>
          <p:cNvSpPr txBox="1"/>
          <p:nvPr/>
        </p:nvSpPr>
        <p:spPr>
          <a:xfrm>
            <a:off x="2827325"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3</a:t>
            </a:r>
            <a:endParaRPr lang="en-US" sz="1200" dirty="0"/>
          </a:p>
        </p:txBody>
      </p:sp>
      <p:sp>
        <p:nvSpPr>
          <p:cNvPr id="13" name="Shape 11"/>
          <p:cNvSpPr/>
          <p:nvPr/>
        </p:nvSpPr>
        <p:spPr>
          <a:xfrm>
            <a:off x="3852367" y="5349240"/>
            <a:ext cx="384048" cy="384048"/>
          </a:xfrm>
          <a:prstGeom prst="ellipse">
            <a:avLst/>
          </a:prstGeom>
          <a:solidFill>
            <a:srgbClr val="E8EDF3"/>
          </a:solidFill>
          <a:ln/>
        </p:spPr>
      </p:sp>
      <p:sp>
        <p:nvSpPr>
          <p:cNvPr id="14" name="Text 12"/>
          <p:cNvSpPr txBox="1"/>
          <p:nvPr/>
        </p:nvSpPr>
        <p:spPr>
          <a:xfrm>
            <a:off x="3852367"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4</a:t>
            </a:r>
            <a:endParaRPr lang="en-US" sz="1200" dirty="0"/>
          </a:p>
        </p:txBody>
      </p:sp>
      <p:sp>
        <p:nvSpPr>
          <p:cNvPr id="15" name="Shape 13"/>
          <p:cNvSpPr/>
          <p:nvPr/>
        </p:nvSpPr>
        <p:spPr>
          <a:xfrm>
            <a:off x="4877410" y="5349240"/>
            <a:ext cx="384048" cy="384048"/>
          </a:xfrm>
          <a:prstGeom prst="ellipse">
            <a:avLst/>
          </a:prstGeom>
          <a:solidFill>
            <a:srgbClr val="E8EDF3"/>
          </a:solidFill>
          <a:ln/>
        </p:spPr>
      </p:sp>
      <p:sp>
        <p:nvSpPr>
          <p:cNvPr id="16" name="Text 14"/>
          <p:cNvSpPr txBox="1"/>
          <p:nvPr/>
        </p:nvSpPr>
        <p:spPr>
          <a:xfrm>
            <a:off x="4877410"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5</a:t>
            </a:r>
            <a:endParaRPr lang="en-US" sz="1200" dirty="0"/>
          </a:p>
        </p:txBody>
      </p:sp>
      <p:sp>
        <p:nvSpPr>
          <p:cNvPr id="17" name="Shape 15"/>
          <p:cNvSpPr/>
          <p:nvPr/>
        </p:nvSpPr>
        <p:spPr>
          <a:xfrm>
            <a:off x="5902452" y="5349240"/>
            <a:ext cx="384048" cy="384048"/>
          </a:xfrm>
          <a:prstGeom prst="ellipse">
            <a:avLst/>
          </a:prstGeom>
          <a:solidFill>
            <a:srgbClr val="E8EDF3"/>
          </a:solidFill>
          <a:ln/>
        </p:spPr>
      </p:sp>
      <p:sp>
        <p:nvSpPr>
          <p:cNvPr id="18" name="Text 16"/>
          <p:cNvSpPr txBox="1"/>
          <p:nvPr/>
        </p:nvSpPr>
        <p:spPr>
          <a:xfrm>
            <a:off x="5902452"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6</a:t>
            </a:r>
            <a:endParaRPr lang="en-US" sz="1200" dirty="0"/>
          </a:p>
        </p:txBody>
      </p:sp>
      <p:sp>
        <p:nvSpPr>
          <p:cNvPr id="19" name="Shape 17"/>
          <p:cNvSpPr/>
          <p:nvPr/>
        </p:nvSpPr>
        <p:spPr>
          <a:xfrm>
            <a:off x="6927494" y="5349240"/>
            <a:ext cx="384048" cy="384048"/>
          </a:xfrm>
          <a:prstGeom prst="ellipse">
            <a:avLst/>
          </a:prstGeom>
          <a:solidFill>
            <a:srgbClr val="E8EDF3"/>
          </a:solidFill>
          <a:ln/>
        </p:spPr>
      </p:sp>
      <p:sp>
        <p:nvSpPr>
          <p:cNvPr id="20" name="Text 18"/>
          <p:cNvSpPr txBox="1"/>
          <p:nvPr/>
        </p:nvSpPr>
        <p:spPr>
          <a:xfrm>
            <a:off x="6927494"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7</a:t>
            </a:r>
            <a:endParaRPr lang="en-US" sz="1200" dirty="0"/>
          </a:p>
        </p:txBody>
      </p:sp>
      <p:sp>
        <p:nvSpPr>
          <p:cNvPr id="21" name="Shape 19"/>
          <p:cNvSpPr/>
          <p:nvPr/>
        </p:nvSpPr>
        <p:spPr>
          <a:xfrm>
            <a:off x="7952537" y="5349240"/>
            <a:ext cx="384048" cy="384048"/>
          </a:xfrm>
          <a:prstGeom prst="ellipse">
            <a:avLst/>
          </a:prstGeom>
          <a:solidFill>
            <a:srgbClr val="E8EDF3"/>
          </a:solidFill>
          <a:ln/>
        </p:spPr>
      </p:sp>
      <p:sp>
        <p:nvSpPr>
          <p:cNvPr id="22" name="Text 20"/>
          <p:cNvSpPr txBox="1"/>
          <p:nvPr/>
        </p:nvSpPr>
        <p:spPr>
          <a:xfrm>
            <a:off x="7952537"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8</a:t>
            </a:r>
            <a:endParaRPr lang="en-US" sz="1200" dirty="0"/>
          </a:p>
        </p:txBody>
      </p:sp>
      <p:sp>
        <p:nvSpPr>
          <p:cNvPr id="23" name="Shape 21"/>
          <p:cNvSpPr/>
          <p:nvPr/>
        </p:nvSpPr>
        <p:spPr>
          <a:xfrm>
            <a:off x="8977579" y="5349240"/>
            <a:ext cx="384048" cy="384048"/>
          </a:xfrm>
          <a:prstGeom prst="ellipse">
            <a:avLst/>
          </a:prstGeom>
          <a:solidFill>
            <a:srgbClr val="E8EDF3"/>
          </a:solidFill>
          <a:ln/>
        </p:spPr>
      </p:sp>
      <p:sp>
        <p:nvSpPr>
          <p:cNvPr id="24" name="Text 22"/>
          <p:cNvSpPr txBox="1"/>
          <p:nvPr/>
        </p:nvSpPr>
        <p:spPr>
          <a:xfrm>
            <a:off x="8977579"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9</a:t>
            </a:r>
            <a:endParaRPr lang="en-US" sz="1200" dirty="0"/>
          </a:p>
        </p:txBody>
      </p:sp>
      <p:sp>
        <p:nvSpPr>
          <p:cNvPr id="25" name="Shape 23"/>
          <p:cNvSpPr/>
          <p:nvPr/>
        </p:nvSpPr>
        <p:spPr>
          <a:xfrm>
            <a:off x="10002622" y="5349240"/>
            <a:ext cx="384048" cy="384048"/>
          </a:xfrm>
          <a:prstGeom prst="ellipse">
            <a:avLst/>
          </a:prstGeom>
          <a:solidFill>
            <a:srgbClr val="E8EDF3"/>
          </a:solidFill>
          <a:ln/>
        </p:spPr>
      </p:sp>
      <p:sp>
        <p:nvSpPr>
          <p:cNvPr id="26" name="Text 24"/>
          <p:cNvSpPr txBox="1"/>
          <p:nvPr/>
        </p:nvSpPr>
        <p:spPr>
          <a:xfrm>
            <a:off x="10002622"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10</a:t>
            </a:r>
            <a:endParaRPr lang="en-US" sz="1200" dirty="0"/>
          </a:p>
        </p:txBody>
      </p:sp>
      <p:sp>
        <p:nvSpPr>
          <p:cNvPr id="27" name="Shape 25"/>
          <p:cNvSpPr/>
          <p:nvPr/>
        </p:nvSpPr>
        <p:spPr>
          <a:xfrm>
            <a:off x="11027664" y="5349240"/>
            <a:ext cx="384048" cy="384048"/>
          </a:xfrm>
          <a:prstGeom prst="ellipse">
            <a:avLst/>
          </a:prstGeom>
          <a:solidFill>
            <a:srgbClr val="E8EDF3"/>
          </a:solidFill>
          <a:ln/>
        </p:spPr>
      </p:sp>
      <p:sp>
        <p:nvSpPr>
          <p:cNvPr id="28" name="Text 26"/>
          <p:cNvSpPr txBox="1"/>
          <p:nvPr/>
        </p:nvSpPr>
        <p:spPr>
          <a:xfrm>
            <a:off x="11027664"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11</a:t>
            </a:r>
            <a:endParaRPr lang="en-US" sz="1200" dirty="0"/>
          </a:p>
        </p:txBody>
      </p:sp>
      <p:sp>
        <p:nvSpPr>
          <p:cNvPr id="29" name="Text 27"/>
          <p:cNvSpPr txBox="1"/>
          <p:nvPr/>
        </p:nvSpPr>
        <p:spPr>
          <a:xfrm>
            <a:off x="777240" y="5852160"/>
            <a:ext cx="10634472" cy="274320"/>
          </a:xfrm>
          <a:prstGeom prst="rect">
            <a:avLst/>
          </a:prstGeom>
          <a:noFill/>
          <a:ln/>
        </p:spPr>
        <p:txBody>
          <a:bodyPr wrap="square" lIns="0" tIns="0" rIns="0" bIns="0" rtlCol="0" anchor="t"/>
          <a:lstStyle/>
          <a:p>
            <a:pPr algn="l" indent="0" marL="0">
              <a:buNone/>
            </a:pPr>
            <a:r>
              <a:rPr lang="en-US" sz="1100" b="1" spc="200" kern="0" dirty="0">
                <a:solidFill>
                  <a:srgbClr val="9AA7B5"/>
                </a:solidFill>
                <a:latin typeface="Arial" pitchFamily="34" charset="0"/>
                <a:ea typeface="Arial" pitchFamily="34" charset="-122"/>
                <a:cs typeface="Arial" pitchFamily="34" charset="-120"/>
              </a:rPr>
              <a:t>THE ELEVEN STAGES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10634472" cy="310896"/>
          </a:xfrm>
          <a:prstGeom prst="rect">
            <a:avLst/>
          </a:prstGeom>
          <a:noFill/>
          <a:ln/>
        </p:spPr>
        <p:txBody>
          <a:bodyPr wrap="square" lIns="0" tIns="0" rIns="0" bIns="0" rtlCol="0" anchor="t"/>
          <a:lstStyle/>
          <a:p>
            <a:pPr algn="l" indent="0" marL="0">
              <a:buNone/>
            </a:pPr>
            <a:r>
              <a:rPr lang="en-US" sz="1300" b="1" spc="200" kern="0" dirty="0">
                <a:solidFill>
                  <a:srgbClr val="1A5FB4"/>
                </a:solidFill>
                <a:latin typeface="Arial" pitchFamily="34" charset="0"/>
                <a:ea typeface="Arial" pitchFamily="34" charset="-122"/>
                <a:cs typeface="Arial" pitchFamily="34" charset="-120"/>
              </a:rPr>
              <a:t>STAGE 2 OF 11</a:t>
            </a:r>
            <a:endParaRPr lang="en-US" sz="1300" dirty="0"/>
          </a:p>
        </p:txBody>
      </p:sp>
      <p:sp>
        <p:nvSpPr>
          <p:cNvPr id="3" name="Shape 1"/>
          <p:cNvSpPr/>
          <p:nvPr/>
        </p:nvSpPr>
        <p:spPr>
          <a:xfrm>
            <a:off x="777240" y="1051560"/>
            <a:ext cx="960120" cy="960120"/>
          </a:xfrm>
          <a:prstGeom prst="ellipse">
            <a:avLst/>
          </a:prstGeom>
          <a:solidFill>
            <a:srgbClr val="1A5FB4"/>
          </a:solidFill>
          <a:ln/>
        </p:spPr>
      </p:sp>
      <p:sp>
        <p:nvSpPr>
          <p:cNvPr id="4" name="Text 2"/>
          <p:cNvSpPr txBox="1"/>
          <p:nvPr/>
        </p:nvSpPr>
        <p:spPr>
          <a:xfrm>
            <a:off x="777240" y="1051560"/>
            <a:ext cx="960120" cy="960120"/>
          </a:xfrm>
          <a:prstGeom prst="rect">
            <a:avLst/>
          </a:prstGeom>
          <a:noFill/>
          <a:ln/>
        </p:spPr>
        <p:txBody>
          <a:bodyPr wrap="square" lIns="0" tIns="0" rIns="0" bIns="0" rtlCol="0" anchor="ctr"/>
          <a:lstStyle/>
          <a:p>
            <a:pPr algn="ctr" indent="0" marL="0">
              <a:buNone/>
            </a:pPr>
            <a:r>
              <a:rPr lang="en-US" sz="2700" b="1" dirty="0">
                <a:solidFill>
                  <a:srgbClr val="FFFFFF"/>
                </a:solidFill>
                <a:latin typeface="Arial" pitchFamily="34" charset="0"/>
                <a:ea typeface="Arial" pitchFamily="34" charset="-122"/>
                <a:cs typeface="Arial" pitchFamily="34" charset="-120"/>
              </a:rPr>
              <a:t>2</a:t>
            </a:r>
            <a:endParaRPr lang="en-US" sz="2700" dirty="0"/>
          </a:p>
        </p:txBody>
      </p:sp>
      <p:sp>
        <p:nvSpPr>
          <p:cNvPr id="5" name="Text 3"/>
          <p:cNvSpPr txBox="1"/>
          <p:nvPr/>
        </p:nvSpPr>
        <p:spPr>
          <a:xfrm>
            <a:off x="2011680" y="1097280"/>
            <a:ext cx="9400032" cy="868680"/>
          </a:xfrm>
          <a:prstGeom prst="rect">
            <a:avLst/>
          </a:prstGeom>
          <a:noFill/>
          <a:ln/>
        </p:spPr>
        <p:txBody>
          <a:bodyPr wrap="square" lIns="0" tIns="0" rIns="0" bIns="0" rtlCol="0" anchor="t"/>
          <a:lstStyle/>
          <a:p>
            <a:pPr algn="l" indent="0" marL="0">
              <a:buNone/>
            </a:pPr>
            <a:r>
              <a:rPr lang="en-US" sz="3800" b="1" dirty="0">
                <a:solidFill>
                  <a:srgbClr val="10243A"/>
                </a:solidFill>
                <a:latin typeface="Arial" pitchFamily="34" charset="0"/>
                <a:ea typeface="Arial" pitchFamily="34" charset="-122"/>
                <a:cs typeface="Arial" pitchFamily="34" charset="-120"/>
              </a:rPr>
              <a:t>Patrol response</a:t>
            </a:r>
            <a:endParaRPr lang="en-US" sz="3800" dirty="0"/>
          </a:p>
        </p:txBody>
      </p:sp>
      <p:sp>
        <p:nvSpPr>
          <p:cNvPr id="6" name="Text 4"/>
          <p:cNvSpPr txBox="1"/>
          <p:nvPr/>
        </p:nvSpPr>
        <p:spPr>
          <a:xfrm>
            <a:off x="2011680" y="2331720"/>
            <a:ext cx="9400032" cy="2377440"/>
          </a:xfrm>
          <a:prstGeom prst="rect">
            <a:avLst/>
          </a:prstGeom>
          <a:noFill/>
          <a:ln/>
        </p:spPr>
        <p:txBody>
          <a:bodyPr wrap="square" lIns="0" tIns="0" rIns="0" bIns="0" rtlCol="0" anchor="t"/>
          <a:lstStyle/>
          <a:p>
            <a:pPr algn="l" indent="0" marL="0">
              <a:lnSpc>
                <a:spcPts val="3500"/>
              </a:lnSpc>
              <a:buNone/>
            </a:pPr>
            <a:r>
              <a:rPr lang="en-US" sz="2400" dirty="0">
                <a:solidFill>
                  <a:srgbClr val="1B1B1B"/>
                </a:solidFill>
                <a:latin typeface="Arial" pitchFamily="34" charset="0"/>
                <a:ea typeface="Arial" pitchFamily="34" charset="-122"/>
                <a:cs typeface="Arial" pitchFamily="34" charset="-120"/>
              </a:rPr>
              <a:t>The officer secures the scene, finds witnesses, collects evidence, and writes a report.</a:t>
            </a:r>
            <a:endParaRPr lang="en-US" sz="2400" dirty="0"/>
          </a:p>
        </p:txBody>
      </p:sp>
      <p:sp>
        <p:nvSpPr>
          <p:cNvPr id="7" name="Shape 5"/>
          <p:cNvSpPr/>
          <p:nvPr/>
        </p:nvSpPr>
        <p:spPr>
          <a:xfrm>
            <a:off x="777240" y="5349240"/>
            <a:ext cx="384048" cy="384048"/>
          </a:xfrm>
          <a:prstGeom prst="ellipse">
            <a:avLst/>
          </a:prstGeom>
          <a:solidFill>
            <a:srgbClr val="C6D6EA"/>
          </a:solidFill>
          <a:ln/>
        </p:spPr>
      </p:sp>
      <p:sp>
        <p:nvSpPr>
          <p:cNvPr id="8" name="Text 6"/>
          <p:cNvSpPr txBox="1"/>
          <p:nvPr/>
        </p:nvSpPr>
        <p:spPr>
          <a:xfrm>
            <a:off x="777240"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1</a:t>
            </a:r>
            <a:endParaRPr lang="en-US" sz="1200" dirty="0"/>
          </a:p>
        </p:txBody>
      </p:sp>
      <p:sp>
        <p:nvSpPr>
          <p:cNvPr id="9" name="Shape 7"/>
          <p:cNvSpPr/>
          <p:nvPr/>
        </p:nvSpPr>
        <p:spPr>
          <a:xfrm>
            <a:off x="1802282" y="5349240"/>
            <a:ext cx="384048" cy="384048"/>
          </a:xfrm>
          <a:prstGeom prst="ellipse">
            <a:avLst/>
          </a:prstGeom>
          <a:solidFill>
            <a:srgbClr val="1A5FB4"/>
          </a:solidFill>
          <a:ln/>
        </p:spPr>
      </p:sp>
      <p:sp>
        <p:nvSpPr>
          <p:cNvPr id="10" name="Text 8"/>
          <p:cNvSpPr txBox="1"/>
          <p:nvPr/>
        </p:nvSpPr>
        <p:spPr>
          <a:xfrm>
            <a:off x="1802282" y="53492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1" name="Shape 9"/>
          <p:cNvSpPr/>
          <p:nvPr/>
        </p:nvSpPr>
        <p:spPr>
          <a:xfrm>
            <a:off x="2827325" y="5349240"/>
            <a:ext cx="384048" cy="384048"/>
          </a:xfrm>
          <a:prstGeom prst="ellipse">
            <a:avLst/>
          </a:prstGeom>
          <a:solidFill>
            <a:srgbClr val="E8EDF3"/>
          </a:solidFill>
          <a:ln/>
        </p:spPr>
      </p:sp>
      <p:sp>
        <p:nvSpPr>
          <p:cNvPr id="12" name="Text 10"/>
          <p:cNvSpPr txBox="1"/>
          <p:nvPr/>
        </p:nvSpPr>
        <p:spPr>
          <a:xfrm>
            <a:off x="2827325"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3</a:t>
            </a:r>
            <a:endParaRPr lang="en-US" sz="1200" dirty="0"/>
          </a:p>
        </p:txBody>
      </p:sp>
      <p:sp>
        <p:nvSpPr>
          <p:cNvPr id="13" name="Shape 11"/>
          <p:cNvSpPr/>
          <p:nvPr/>
        </p:nvSpPr>
        <p:spPr>
          <a:xfrm>
            <a:off x="3852367" y="5349240"/>
            <a:ext cx="384048" cy="384048"/>
          </a:xfrm>
          <a:prstGeom prst="ellipse">
            <a:avLst/>
          </a:prstGeom>
          <a:solidFill>
            <a:srgbClr val="E8EDF3"/>
          </a:solidFill>
          <a:ln/>
        </p:spPr>
      </p:sp>
      <p:sp>
        <p:nvSpPr>
          <p:cNvPr id="14" name="Text 12"/>
          <p:cNvSpPr txBox="1"/>
          <p:nvPr/>
        </p:nvSpPr>
        <p:spPr>
          <a:xfrm>
            <a:off x="3852367"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4</a:t>
            </a:r>
            <a:endParaRPr lang="en-US" sz="1200" dirty="0"/>
          </a:p>
        </p:txBody>
      </p:sp>
      <p:sp>
        <p:nvSpPr>
          <p:cNvPr id="15" name="Shape 13"/>
          <p:cNvSpPr/>
          <p:nvPr/>
        </p:nvSpPr>
        <p:spPr>
          <a:xfrm>
            <a:off x="4877410" y="5349240"/>
            <a:ext cx="384048" cy="384048"/>
          </a:xfrm>
          <a:prstGeom prst="ellipse">
            <a:avLst/>
          </a:prstGeom>
          <a:solidFill>
            <a:srgbClr val="E8EDF3"/>
          </a:solidFill>
          <a:ln/>
        </p:spPr>
      </p:sp>
      <p:sp>
        <p:nvSpPr>
          <p:cNvPr id="16" name="Text 14"/>
          <p:cNvSpPr txBox="1"/>
          <p:nvPr/>
        </p:nvSpPr>
        <p:spPr>
          <a:xfrm>
            <a:off x="4877410"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5</a:t>
            </a:r>
            <a:endParaRPr lang="en-US" sz="1200" dirty="0"/>
          </a:p>
        </p:txBody>
      </p:sp>
      <p:sp>
        <p:nvSpPr>
          <p:cNvPr id="17" name="Shape 15"/>
          <p:cNvSpPr/>
          <p:nvPr/>
        </p:nvSpPr>
        <p:spPr>
          <a:xfrm>
            <a:off x="5902452" y="5349240"/>
            <a:ext cx="384048" cy="384048"/>
          </a:xfrm>
          <a:prstGeom prst="ellipse">
            <a:avLst/>
          </a:prstGeom>
          <a:solidFill>
            <a:srgbClr val="E8EDF3"/>
          </a:solidFill>
          <a:ln/>
        </p:spPr>
      </p:sp>
      <p:sp>
        <p:nvSpPr>
          <p:cNvPr id="18" name="Text 16"/>
          <p:cNvSpPr txBox="1"/>
          <p:nvPr/>
        </p:nvSpPr>
        <p:spPr>
          <a:xfrm>
            <a:off x="5902452"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6</a:t>
            </a:r>
            <a:endParaRPr lang="en-US" sz="1200" dirty="0"/>
          </a:p>
        </p:txBody>
      </p:sp>
      <p:sp>
        <p:nvSpPr>
          <p:cNvPr id="19" name="Shape 17"/>
          <p:cNvSpPr/>
          <p:nvPr/>
        </p:nvSpPr>
        <p:spPr>
          <a:xfrm>
            <a:off x="6927494" y="5349240"/>
            <a:ext cx="384048" cy="384048"/>
          </a:xfrm>
          <a:prstGeom prst="ellipse">
            <a:avLst/>
          </a:prstGeom>
          <a:solidFill>
            <a:srgbClr val="E8EDF3"/>
          </a:solidFill>
          <a:ln/>
        </p:spPr>
      </p:sp>
      <p:sp>
        <p:nvSpPr>
          <p:cNvPr id="20" name="Text 18"/>
          <p:cNvSpPr txBox="1"/>
          <p:nvPr/>
        </p:nvSpPr>
        <p:spPr>
          <a:xfrm>
            <a:off x="6927494"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7</a:t>
            </a:r>
            <a:endParaRPr lang="en-US" sz="1200" dirty="0"/>
          </a:p>
        </p:txBody>
      </p:sp>
      <p:sp>
        <p:nvSpPr>
          <p:cNvPr id="21" name="Shape 19"/>
          <p:cNvSpPr/>
          <p:nvPr/>
        </p:nvSpPr>
        <p:spPr>
          <a:xfrm>
            <a:off x="7952537" y="5349240"/>
            <a:ext cx="384048" cy="384048"/>
          </a:xfrm>
          <a:prstGeom prst="ellipse">
            <a:avLst/>
          </a:prstGeom>
          <a:solidFill>
            <a:srgbClr val="E8EDF3"/>
          </a:solidFill>
          <a:ln/>
        </p:spPr>
      </p:sp>
      <p:sp>
        <p:nvSpPr>
          <p:cNvPr id="22" name="Text 20"/>
          <p:cNvSpPr txBox="1"/>
          <p:nvPr/>
        </p:nvSpPr>
        <p:spPr>
          <a:xfrm>
            <a:off x="7952537"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8</a:t>
            </a:r>
            <a:endParaRPr lang="en-US" sz="1200" dirty="0"/>
          </a:p>
        </p:txBody>
      </p:sp>
      <p:sp>
        <p:nvSpPr>
          <p:cNvPr id="23" name="Shape 21"/>
          <p:cNvSpPr/>
          <p:nvPr/>
        </p:nvSpPr>
        <p:spPr>
          <a:xfrm>
            <a:off x="8977579" y="5349240"/>
            <a:ext cx="384048" cy="384048"/>
          </a:xfrm>
          <a:prstGeom prst="ellipse">
            <a:avLst/>
          </a:prstGeom>
          <a:solidFill>
            <a:srgbClr val="E8EDF3"/>
          </a:solidFill>
          <a:ln/>
        </p:spPr>
      </p:sp>
      <p:sp>
        <p:nvSpPr>
          <p:cNvPr id="24" name="Text 22"/>
          <p:cNvSpPr txBox="1"/>
          <p:nvPr/>
        </p:nvSpPr>
        <p:spPr>
          <a:xfrm>
            <a:off x="8977579"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9</a:t>
            </a:r>
            <a:endParaRPr lang="en-US" sz="1200" dirty="0"/>
          </a:p>
        </p:txBody>
      </p:sp>
      <p:sp>
        <p:nvSpPr>
          <p:cNvPr id="25" name="Shape 23"/>
          <p:cNvSpPr/>
          <p:nvPr/>
        </p:nvSpPr>
        <p:spPr>
          <a:xfrm>
            <a:off x="10002622" y="5349240"/>
            <a:ext cx="384048" cy="384048"/>
          </a:xfrm>
          <a:prstGeom prst="ellipse">
            <a:avLst/>
          </a:prstGeom>
          <a:solidFill>
            <a:srgbClr val="E8EDF3"/>
          </a:solidFill>
          <a:ln/>
        </p:spPr>
      </p:sp>
      <p:sp>
        <p:nvSpPr>
          <p:cNvPr id="26" name="Text 24"/>
          <p:cNvSpPr txBox="1"/>
          <p:nvPr/>
        </p:nvSpPr>
        <p:spPr>
          <a:xfrm>
            <a:off x="10002622"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10</a:t>
            </a:r>
            <a:endParaRPr lang="en-US" sz="1200" dirty="0"/>
          </a:p>
        </p:txBody>
      </p:sp>
      <p:sp>
        <p:nvSpPr>
          <p:cNvPr id="27" name="Shape 25"/>
          <p:cNvSpPr/>
          <p:nvPr/>
        </p:nvSpPr>
        <p:spPr>
          <a:xfrm>
            <a:off x="11027664" y="5349240"/>
            <a:ext cx="384048" cy="384048"/>
          </a:xfrm>
          <a:prstGeom prst="ellipse">
            <a:avLst/>
          </a:prstGeom>
          <a:solidFill>
            <a:srgbClr val="E8EDF3"/>
          </a:solidFill>
          <a:ln/>
        </p:spPr>
      </p:sp>
      <p:sp>
        <p:nvSpPr>
          <p:cNvPr id="28" name="Text 26"/>
          <p:cNvSpPr txBox="1"/>
          <p:nvPr/>
        </p:nvSpPr>
        <p:spPr>
          <a:xfrm>
            <a:off x="11027664"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11</a:t>
            </a:r>
            <a:endParaRPr lang="en-US" sz="1200" dirty="0"/>
          </a:p>
        </p:txBody>
      </p:sp>
      <p:sp>
        <p:nvSpPr>
          <p:cNvPr id="29" name="Text 27"/>
          <p:cNvSpPr txBox="1"/>
          <p:nvPr/>
        </p:nvSpPr>
        <p:spPr>
          <a:xfrm>
            <a:off x="777240" y="5852160"/>
            <a:ext cx="10634472" cy="274320"/>
          </a:xfrm>
          <a:prstGeom prst="rect">
            <a:avLst/>
          </a:prstGeom>
          <a:noFill/>
          <a:ln/>
        </p:spPr>
        <p:txBody>
          <a:bodyPr wrap="square" lIns="0" tIns="0" rIns="0" bIns="0" rtlCol="0" anchor="t"/>
          <a:lstStyle/>
          <a:p>
            <a:pPr algn="l" indent="0" marL="0">
              <a:buNone/>
            </a:pPr>
            <a:r>
              <a:rPr lang="en-US" sz="1100" b="1" spc="200" kern="0" dirty="0">
                <a:solidFill>
                  <a:srgbClr val="9AA7B5"/>
                </a:solidFill>
                <a:latin typeface="Arial" pitchFamily="34" charset="0"/>
                <a:ea typeface="Arial" pitchFamily="34" charset="-122"/>
                <a:cs typeface="Arial" pitchFamily="34" charset="-120"/>
              </a:rPr>
              <a:t>THE ELEVEN STAGES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10634472" cy="310896"/>
          </a:xfrm>
          <a:prstGeom prst="rect">
            <a:avLst/>
          </a:prstGeom>
          <a:noFill/>
          <a:ln/>
        </p:spPr>
        <p:txBody>
          <a:bodyPr wrap="square" lIns="0" tIns="0" rIns="0" bIns="0" rtlCol="0" anchor="t"/>
          <a:lstStyle/>
          <a:p>
            <a:pPr algn="l" indent="0" marL="0">
              <a:buNone/>
            </a:pPr>
            <a:r>
              <a:rPr lang="en-US" sz="1300" b="1" spc="200" kern="0" dirty="0">
                <a:solidFill>
                  <a:srgbClr val="1A5FB4"/>
                </a:solidFill>
                <a:latin typeface="Arial" pitchFamily="34" charset="0"/>
                <a:ea typeface="Arial" pitchFamily="34" charset="-122"/>
                <a:cs typeface="Arial" pitchFamily="34" charset="-120"/>
              </a:rPr>
              <a:t>STAGE 3 OF 11</a:t>
            </a:r>
            <a:endParaRPr lang="en-US" sz="1300" dirty="0"/>
          </a:p>
        </p:txBody>
      </p:sp>
      <p:sp>
        <p:nvSpPr>
          <p:cNvPr id="3" name="Shape 1"/>
          <p:cNvSpPr/>
          <p:nvPr/>
        </p:nvSpPr>
        <p:spPr>
          <a:xfrm>
            <a:off x="777240" y="1051560"/>
            <a:ext cx="960120" cy="960120"/>
          </a:xfrm>
          <a:prstGeom prst="ellipse">
            <a:avLst/>
          </a:prstGeom>
          <a:solidFill>
            <a:srgbClr val="1A5FB4"/>
          </a:solidFill>
          <a:ln/>
        </p:spPr>
      </p:sp>
      <p:sp>
        <p:nvSpPr>
          <p:cNvPr id="4" name="Text 2"/>
          <p:cNvSpPr txBox="1"/>
          <p:nvPr/>
        </p:nvSpPr>
        <p:spPr>
          <a:xfrm>
            <a:off x="777240" y="1051560"/>
            <a:ext cx="960120" cy="960120"/>
          </a:xfrm>
          <a:prstGeom prst="rect">
            <a:avLst/>
          </a:prstGeom>
          <a:noFill/>
          <a:ln/>
        </p:spPr>
        <p:txBody>
          <a:bodyPr wrap="square" lIns="0" tIns="0" rIns="0" bIns="0" rtlCol="0" anchor="ctr"/>
          <a:lstStyle/>
          <a:p>
            <a:pPr algn="ctr" indent="0" marL="0">
              <a:buNone/>
            </a:pPr>
            <a:r>
              <a:rPr lang="en-US" sz="2700" b="1" dirty="0">
                <a:solidFill>
                  <a:srgbClr val="FFFFFF"/>
                </a:solidFill>
                <a:latin typeface="Arial" pitchFamily="34" charset="0"/>
                <a:ea typeface="Arial" pitchFamily="34" charset="-122"/>
                <a:cs typeface="Arial" pitchFamily="34" charset="-120"/>
              </a:rPr>
              <a:t>3</a:t>
            </a:r>
            <a:endParaRPr lang="en-US" sz="2700" dirty="0"/>
          </a:p>
        </p:txBody>
      </p:sp>
      <p:sp>
        <p:nvSpPr>
          <p:cNvPr id="5" name="Text 3"/>
          <p:cNvSpPr txBox="1"/>
          <p:nvPr/>
        </p:nvSpPr>
        <p:spPr>
          <a:xfrm>
            <a:off x="2011680" y="1097280"/>
            <a:ext cx="9400032" cy="868680"/>
          </a:xfrm>
          <a:prstGeom prst="rect">
            <a:avLst/>
          </a:prstGeom>
          <a:noFill/>
          <a:ln/>
        </p:spPr>
        <p:txBody>
          <a:bodyPr wrap="square" lIns="0" tIns="0" rIns="0" bIns="0" rtlCol="0" anchor="t"/>
          <a:lstStyle/>
          <a:p>
            <a:pPr algn="l" indent="0" marL="0">
              <a:buNone/>
            </a:pPr>
            <a:r>
              <a:rPr lang="en-US" sz="3800" b="1" dirty="0">
                <a:solidFill>
                  <a:srgbClr val="10243A"/>
                </a:solidFill>
                <a:latin typeface="Arial" pitchFamily="34" charset="0"/>
                <a:ea typeface="Arial" pitchFamily="34" charset="-122"/>
                <a:cs typeface="Arial" pitchFamily="34" charset="-120"/>
              </a:rPr>
              <a:t>Arrest, or a notice to appear</a:t>
            </a:r>
            <a:endParaRPr lang="en-US" sz="3800" dirty="0"/>
          </a:p>
        </p:txBody>
      </p:sp>
      <p:sp>
        <p:nvSpPr>
          <p:cNvPr id="6" name="Text 4"/>
          <p:cNvSpPr txBox="1"/>
          <p:nvPr/>
        </p:nvSpPr>
        <p:spPr>
          <a:xfrm>
            <a:off x="2011680" y="2331720"/>
            <a:ext cx="9400032" cy="2377440"/>
          </a:xfrm>
          <a:prstGeom prst="rect">
            <a:avLst/>
          </a:prstGeom>
          <a:noFill/>
          <a:ln/>
        </p:spPr>
        <p:txBody>
          <a:bodyPr wrap="square" lIns="0" tIns="0" rIns="0" bIns="0" rtlCol="0" anchor="t"/>
          <a:lstStyle/>
          <a:p>
            <a:pPr algn="l" indent="0" marL="0">
              <a:lnSpc>
                <a:spcPts val="3500"/>
              </a:lnSpc>
              <a:buNone/>
            </a:pPr>
            <a:r>
              <a:rPr lang="en-US" sz="2400" dirty="0">
                <a:solidFill>
                  <a:srgbClr val="1B1B1B"/>
                </a:solidFill>
                <a:latin typeface="Arial" pitchFamily="34" charset="0"/>
                <a:ea typeface="Arial" pitchFamily="34" charset="-122"/>
                <a:cs typeface="Arial" pitchFamily="34" charset="-120"/>
              </a:rPr>
              <a:t>An arrest needs probable cause — more than a hunch, less than certainty. For many misdemeanors an officer can issue a written notice to appear instead.</a:t>
            </a:r>
            <a:endParaRPr lang="en-US" sz="2400" dirty="0"/>
          </a:p>
        </p:txBody>
      </p:sp>
      <p:sp>
        <p:nvSpPr>
          <p:cNvPr id="7" name="Shape 5"/>
          <p:cNvSpPr/>
          <p:nvPr/>
        </p:nvSpPr>
        <p:spPr>
          <a:xfrm>
            <a:off x="777240" y="5349240"/>
            <a:ext cx="384048" cy="384048"/>
          </a:xfrm>
          <a:prstGeom prst="ellipse">
            <a:avLst/>
          </a:prstGeom>
          <a:solidFill>
            <a:srgbClr val="C6D6EA"/>
          </a:solidFill>
          <a:ln/>
        </p:spPr>
      </p:sp>
      <p:sp>
        <p:nvSpPr>
          <p:cNvPr id="8" name="Text 6"/>
          <p:cNvSpPr txBox="1"/>
          <p:nvPr/>
        </p:nvSpPr>
        <p:spPr>
          <a:xfrm>
            <a:off x="777240"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1</a:t>
            </a:r>
            <a:endParaRPr lang="en-US" sz="1200" dirty="0"/>
          </a:p>
        </p:txBody>
      </p:sp>
      <p:sp>
        <p:nvSpPr>
          <p:cNvPr id="9" name="Shape 7"/>
          <p:cNvSpPr/>
          <p:nvPr/>
        </p:nvSpPr>
        <p:spPr>
          <a:xfrm>
            <a:off x="1802282" y="5349240"/>
            <a:ext cx="384048" cy="384048"/>
          </a:xfrm>
          <a:prstGeom prst="ellipse">
            <a:avLst/>
          </a:prstGeom>
          <a:solidFill>
            <a:srgbClr val="C6D6EA"/>
          </a:solidFill>
          <a:ln/>
        </p:spPr>
      </p:sp>
      <p:sp>
        <p:nvSpPr>
          <p:cNvPr id="10" name="Text 8"/>
          <p:cNvSpPr txBox="1"/>
          <p:nvPr/>
        </p:nvSpPr>
        <p:spPr>
          <a:xfrm>
            <a:off x="1802282"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2</a:t>
            </a:r>
            <a:endParaRPr lang="en-US" sz="1200" dirty="0"/>
          </a:p>
        </p:txBody>
      </p:sp>
      <p:sp>
        <p:nvSpPr>
          <p:cNvPr id="11" name="Shape 9"/>
          <p:cNvSpPr/>
          <p:nvPr/>
        </p:nvSpPr>
        <p:spPr>
          <a:xfrm>
            <a:off x="2827325" y="5349240"/>
            <a:ext cx="384048" cy="384048"/>
          </a:xfrm>
          <a:prstGeom prst="ellipse">
            <a:avLst/>
          </a:prstGeom>
          <a:solidFill>
            <a:srgbClr val="1A5FB4"/>
          </a:solidFill>
          <a:ln/>
        </p:spPr>
      </p:sp>
      <p:sp>
        <p:nvSpPr>
          <p:cNvPr id="12" name="Text 10"/>
          <p:cNvSpPr txBox="1"/>
          <p:nvPr/>
        </p:nvSpPr>
        <p:spPr>
          <a:xfrm>
            <a:off x="2827325" y="53492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3" name="Shape 11"/>
          <p:cNvSpPr/>
          <p:nvPr/>
        </p:nvSpPr>
        <p:spPr>
          <a:xfrm>
            <a:off x="3852367" y="5349240"/>
            <a:ext cx="384048" cy="384048"/>
          </a:xfrm>
          <a:prstGeom prst="ellipse">
            <a:avLst/>
          </a:prstGeom>
          <a:solidFill>
            <a:srgbClr val="E8EDF3"/>
          </a:solidFill>
          <a:ln/>
        </p:spPr>
      </p:sp>
      <p:sp>
        <p:nvSpPr>
          <p:cNvPr id="14" name="Text 12"/>
          <p:cNvSpPr txBox="1"/>
          <p:nvPr/>
        </p:nvSpPr>
        <p:spPr>
          <a:xfrm>
            <a:off x="3852367"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4</a:t>
            </a:r>
            <a:endParaRPr lang="en-US" sz="1200" dirty="0"/>
          </a:p>
        </p:txBody>
      </p:sp>
      <p:sp>
        <p:nvSpPr>
          <p:cNvPr id="15" name="Shape 13"/>
          <p:cNvSpPr/>
          <p:nvPr/>
        </p:nvSpPr>
        <p:spPr>
          <a:xfrm>
            <a:off x="4877410" y="5349240"/>
            <a:ext cx="384048" cy="384048"/>
          </a:xfrm>
          <a:prstGeom prst="ellipse">
            <a:avLst/>
          </a:prstGeom>
          <a:solidFill>
            <a:srgbClr val="E8EDF3"/>
          </a:solidFill>
          <a:ln/>
        </p:spPr>
      </p:sp>
      <p:sp>
        <p:nvSpPr>
          <p:cNvPr id="16" name="Text 14"/>
          <p:cNvSpPr txBox="1"/>
          <p:nvPr/>
        </p:nvSpPr>
        <p:spPr>
          <a:xfrm>
            <a:off x="4877410"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5</a:t>
            </a:r>
            <a:endParaRPr lang="en-US" sz="1200" dirty="0"/>
          </a:p>
        </p:txBody>
      </p:sp>
      <p:sp>
        <p:nvSpPr>
          <p:cNvPr id="17" name="Shape 15"/>
          <p:cNvSpPr/>
          <p:nvPr/>
        </p:nvSpPr>
        <p:spPr>
          <a:xfrm>
            <a:off x="5902452" y="5349240"/>
            <a:ext cx="384048" cy="384048"/>
          </a:xfrm>
          <a:prstGeom prst="ellipse">
            <a:avLst/>
          </a:prstGeom>
          <a:solidFill>
            <a:srgbClr val="E8EDF3"/>
          </a:solidFill>
          <a:ln/>
        </p:spPr>
      </p:sp>
      <p:sp>
        <p:nvSpPr>
          <p:cNvPr id="18" name="Text 16"/>
          <p:cNvSpPr txBox="1"/>
          <p:nvPr/>
        </p:nvSpPr>
        <p:spPr>
          <a:xfrm>
            <a:off x="5902452"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6</a:t>
            </a:r>
            <a:endParaRPr lang="en-US" sz="1200" dirty="0"/>
          </a:p>
        </p:txBody>
      </p:sp>
      <p:sp>
        <p:nvSpPr>
          <p:cNvPr id="19" name="Shape 17"/>
          <p:cNvSpPr/>
          <p:nvPr/>
        </p:nvSpPr>
        <p:spPr>
          <a:xfrm>
            <a:off x="6927494" y="5349240"/>
            <a:ext cx="384048" cy="384048"/>
          </a:xfrm>
          <a:prstGeom prst="ellipse">
            <a:avLst/>
          </a:prstGeom>
          <a:solidFill>
            <a:srgbClr val="E8EDF3"/>
          </a:solidFill>
          <a:ln/>
        </p:spPr>
      </p:sp>
      <p:sp>
        <p:nvSpPr>
          <p:cNvPr id="20" name="Text 18"/>
          <p:cNvSpPr txBox="1"/>
          <p:nvPr/>
        </p:nvSpPr>
        <p:spPr>
          <a:xfrm>
            <a:off x="6927494"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7</a:t>
            </a:r>
            <a:endParaRPr lang="en-US" sz="1200" dirty="0"/>
          </a:p>
        </p:txBody>
      </p:sp>
      <p:sp>
        <p:nvSpPr>
          <p:cNvPr id="21" name="Shape 19"/>
          <p:cNvSpPr/>
          <p:nvPr/>
        </p:nvSpPr>
        <p:spPr>
          <a:xfrm>
            <a:off x="7952537" y="5349240"/>
            <a:ext cx="384048" cy="384048"/>
          </a:xfrm>
          <a:prstGeom prst="ellipse">
            <a:avLst/>
          </a:prstGeom>
          <a:solidFill>
            <a:srgbClr val="E8EDF3"/>
          </a:solidFill>
          <a:ln/>
        </p:spPr>
      </p:sp>
      <p:sp>
        <p:nvSpPr>
          <p:cNvPr id="22" name="Text 20"/>
          <p:cNvSpPr txBox="1"/>
          <p:nvPr/>
        </p:nvSpPr>
        <p:spPr>
          <a:xfrm>
            <a:off x="7952537"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8</a:t>
            </a:r>
            <a:endParaRPr lang="en-US" sz="1200" dirty="0"/>
          </a:p>
        </p:txBody>
      </p:sp>
      <p:sp>
        <p:nvSpPr>
          <p:cNvPr id="23" name="Shape 21"/>
          <p:cNvSpPr/>
          <p:nvPr/>
        </p:nvSpPr>
        <p:spPr>
          <a:xfrm>
            <a:off x="8977579" y="5349240"/>
            <a:ext cx="384048" cy="384048"/>
          </a:xfrm>
          <a:prstGeom prst="ellipse">
            <a:avLst/>
          </a:prstGeom>
          <a:solidFill>
            <a:srgbClr val="E8EDF3"/>
          </a:solidFill>
          <a:ln/>
        </p:spPr>
      </p:sp>
      <p:sp>
        <p:nvSpPr>
          <p:cNvPr id="24" name="Text 22"/>
          <p:cNvSpPr txBox="1"/>
          <p:nvPr/>
        </p:nvSpPr>
        <p:spPr>
          <a:xfrm>
            <a:off x="8977579"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9</a:t>
            </a:r>
            <a:endParaRPr lang="en-US" sz="1200" dirty="0"/>
          </a:p>
        </p:txBody>
      </p:sp>
      <p:sp>
        <p:nvSpPr>
          <p:cNvPr id="25" name="Shape 23"/>
          <p:cNvSpPr/>
          <p:nvPr/>
        </p:nvSpPr>
        <p:spPr>
          <a:xfrm>
            <a:off x="10002622" y="5349240"/>
            <a:ext cx="384048" cy="384048"/>
          </a:xfrm>
          <a:prstGeom prst="ellipse">
            <a:avLst/>
          </a:prstGeom>
          <a:solidFill>
            <a:srgbClr val="E8EDF3"/>
          </a:solidFill>
          <a:ln/>
        </p:spPr>
      </p:sp>
      <p:sp>
        <p:nvSpPr>
          <p:cNvPr id="26" name="Text 24"/>
          <p:cNvSpPr txBox="1"/>
          <p:nvPr/>
        </p:nvSpPr>
        <p:spPr>
          <a:xfrm>
            <a:off x="10002622"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10</a:t>
            </a:r>
            <a:endParaRPr lang="en-US" sz="1200" dirty="0"/>
          </a:p>
        </p:txBody>
      </p:sp>
      <p:sp>
        <p:nvSpPr>
          <p:cNvPr id="27" name="Shape 25"/>
          <p:cNvSpPr/>
          <p:nvPr/>
        </p:nvSpPr>
        <p:spPr>
          <a:xfrm>
            <a:off x="11027664" y="5349240"/>
            <a:ext cx="384048" cy="384048"/>
          </a:xfrm>
          <a:prstGeom prst="ellipse">
            <a:avLst/>
          </a:prstGeom>
          <a:solidFill>
            <a:srgbClr val="E8EDF3"/>
          </a:solidFill>
          <a:ln/>
        </p:spPr>
      </p:sp>
      <p:sp>
        <p:nvSpPr>
          <p:cNvPr id="28" name="Text 26"/>
          <p:cNvSpPr txBox="1"/>
          <p:nvPr/>
        </p:nvSpPr>
        <p:spPr>
          <a:xfrm>
            <a:off x="11027664"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11</a:t>
            </a:r>
            <a:endParaRPr lang="en-US" sz="1200" dirty="0"/>
          </a:p>
        </p:txBody>
      </p:sp>
      <p:sp>
        <p:nvSpPr>
          <p:cNvPr id="29" name="Text 27"/>
          <p:cNvSpPr txBox="1"/>
          <p:nvPr/>
        </p:nvSpPr>
        <p:spPr>
          <a:xfrm>
            <a:off x="777240" y="5852160"/>
            <a:ext cx="10634472" cy="274320"/>
          </a:xfrm>
          <a:prstGeom prst="rect">
            <a:avLst/>
          </a:prstGeom>
          <a:noFill/>
          <a:ln/>
        </p:spPr>
        <p:txBody>
          <a:bodyPr wrap="square" lIns="0" tIns="0" rIns="0" bIns="0" rtlCol="0" anchor="t"/>
          <a:lstStyle/>
          <a:p>
            <a:pPr algn="l" indent="0" marL="0">
              <a:buNone/>
            </a:pPr>
            <a:r>
              <a:rPr lang="en-US" sz="1100" b="1" spc="200" kern="0" dirty="0">
                <a:solidFill>
                  <a:srgbClr val="9AA7B5"/>
                </a:solidFill>
                <a:latin typeface="Arial" pitchFamily="34" charset="0"/>
                <a:ea typeface="Arial" pitchFamily="34" charset="-122"/>
                <a:cs typeface="Arial" pitchFamily="34" charset="-120"/>
              </a:rPr>
              <a:t>THE ELEVEN STAGES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10634472" cy="310896"/>
          </a:xfrm>
          <a:prstGeom prst="rect">
            <a:avLst/>
          </a:prstGeom>
          <a:noFill/>
          <a:ln/>
        </p:spPr>
        <p:txBody>
          <a:bodyPr wrap="square" lIns="0" tIns="0" rIns="0" bIns="0" rtlCol="0" anchor="t"/>
          <a:lstStyle/>
          <a:p>
            <a:pPr algn="l" indent="0" marL="0">
              <a:buNone/>
            </a:pPr>
            <a:r>
              <a:rPr lang="en-US" sz="1300" b="1" spc="200" kern="0" dirty="0">
                <a:solidFill>
                  <a:srgbClr val="1A5FB4"/>
                </a:solidFill>
                <a:latin typeface="Arial" pitchFamily="34" charset="0"/>
                <a:ea typeface="Arial" pitchFamily="34" charset="-122"/>
                <a:cs typeface="Arial" pitchFamily="34" charset="-120"/>
              </a:rPr>
              <a:t>STAGE 4 OF 11</a:t>
            </a:r>
            <a:endParaRPr lang="en-US" sz="1300" dirty="0"/>
          </a:p>
        </p:txBody>
      </p:sp>
      <p:sp>
        <p:nvSpPr>
          <p:cNvPr id="3" name="Shape 1"/>
          <p:cNvSpPr/>
          <p:nvPr/>
        </p:nvSpPr>
        <p:spPr>
          <a:xfrm>
            <a:off x="777240" y="1051560"/>
            <a:ext cx="960120" cy="960120"/>
          </a:xfrm>
          <a:prstGeom prst="ellipse">
            <a:avLst/>
          </a:prstGeom>
          <a:solidFill>
            <a:srgbClr val="1A5FB4"/>
          </a:solidFill>
          <a:ln/>
        </p:spPr>
      </p:sp>
      <p:sp>
        <p:nvSpPr>
          <p:cNvPr id="4" name="Text 2"/>
          <p:cNvSpPr txBox="1"/>
          <p:nvPr/>
        </p:nvSpPr>
        <p:spPr>
          <a:xfrm>
            <a:off x="777240" y="1051560"/>
            <a:ext cx="960120" cy="960120"/>
          </a:xfrm>
          <a:prstGeom prst="rect">
            <a:avLst/>
          </a:prstGeom>
          <a:noFill/>
          <a:ln/>
        </p:spPr>
        <p:txBody>
          <a:bodyPr wrap="square" lIns="0" tIns="0" rIns="0" bIns="0" rtlCol="0" anchor="ctr"/>
          <a:lstStyle/>
          <a:p>
            <a:pPr algn="ctr" indent="0" marL="0">
              <a:buNone/>
            </a:pPr>
            <a:r>
              <a:rPr lang="en-US" sz="2700" b="1" dirty="0">
                <a:solidFill>
                  <a:srgbClr val="FFFFFF"/>
                </a:solidFill>
                <a:latin typeface="Arial" pitchFamily="34" charset="0"/>
                <a:ea typeface="Arial" pitchFamily="34" charset="-122"/>
                <a:cs typeface="Arial" pitchFamily="34" charset="-120"/>
              </a:rPr>
              <a:t>4</a:t>
            </a:r>
            <a:endParaRPr lang="en-US" sz="2700" dirty="0"/>
          </a:p>
        </p:txBody>
      </p:sp>
      <p:sp>
        <p:nvSpPr>
          <p:cNvPr id="5" name="Text 3"/>
          <p:cNvSpPr txBox="1"/>
          <p:nvPr/>
        </p:nvSpPr>
        <p:spPr>
          <a:xfrm>
            <a:off x="2011680" y="1097280"/>
            <a:ext cx="9400032" cy="868680"/>
          </a:xfrm>
          <a:prstGeom prst="rect">
            <a:avLst/>
          </a:prstGeom>
          <a:noFill/>
          <a:ln/>
        </p:spPr>
        <p:txBody>
          <a:bodyPr wrap="square" lIns="0" tIns="0" rIns="0" bIns="0" rtlCol="0" anchor="t"/>
          <a:lstStyle/>
          <a:p>
            <a:pPr algn="l" indent="0" marL="0">
              <a:buNone/>
            </a:pPr>
            <a:r>
              <a:rPr lang="en-US" sz="3800" b="1" dirty="0">
                <a:solidFill>
                  <a:srgbClr val="10243A"/>
                </a:solidFill>
                <a:latin typeface="Arial" pitchFamily="34" charset="0"/>
                <a:ea typeface="Arial" pitchFamily="34" charset="-122"/>
                <a:cs typeface="Arial" pitchFamily="34" charset="-120"/>
              </a:rPr>
              <a:t>Booking</a:t>
            </a:r>
            <a:endParaRPr lang="en-US" sz="3800" dirty="0"/>
          </a:p>
        </p:txBody>
      </p:sp>
      <p:sp>
        <p:nvSpPr>
          <p:cNvPr id="6" name="Text 4"/>
          <p:cNvSpPr txBox="1"/>
          <p:nvPr/>
        </p:nvSpPr>
        <p:spPr>
          <a:xfrm>
            <a:off x="2011680" y="2331720"/>
            <a:ext cx="9400032" cy="2377440"/>
          </a:xfrm>
          <a:prstGeom prst="rect">
            <a:avLst/>
          </a:prstGeom>
          <a:noFill/>
          <a:ln/>
        </p:spPr>
        <p:txBody>
          <a:bodyPr wrap="square" lIns="0" tIns="0" rIns="0" bIns="0" rtlCol="0" anchor="t"/>
          <a:lstStyle/>
          <a:p>
            <a:pPr algn="l" indent="0" marL="0">
              <a:lnSpc>
                <a:spcPts val="3500"/>
              </a:lnSpc>
              <a:buNone/>
            </a:pPr>
            <a:r>
              <a:rPr lang="en-US" sz="2400" dirty="0">
                <a:solidFill>
                  <a:srgbClr val="1B1B1B"/>
                </a:solidFill>
                <a:latin typeface="Arial" pitchFamily="34" charset="0"/>
                <a:ea typeface="Arial" pitchFamily="34" charset="-122"/>
                <a:cs typeface="Arial" pitchFamily="34" charset="-120"/>
              </a:rPr>
              <a:t>Photographs, fingerprints, property inventory and medical screening at the jail.</a:t>
            </a:r>
            <a:endParaRPr lang="en-US" sz="2400" dirty="0"/>
          </a:p>
        </p:txBody>
      </p:sp>
      <p:sp>
        <p:nvSpPr>
          <p:cNvPr id="7" name="Shape 5"/>
          <p:cNvSpPr/>
          <p:nvPr/>
        </p:nvSpPr>
        <p:spPr>
          <a:xfrm>
            <a:off x="777240" y="5349240"/>
            <a:ext cx="384048" cy="384048"/>
          </a:xfrm>
          <a:prstGeom prst="ellipse">
            <a:avLst/>
          </a:prstGeom>
          <a:solidFill>
            <a:srgbClr val="C6D6EA"/>
          </a:solidFill>
          <a:ln/>
        </p:spPr>
      </p:sp>
      <p:sp>
        <p:nvSpPr>
          <p:cNvPr id="8" name="Text 6"/>
          <p:cNvSpPr txBox="1"/>
          <p:nvPr/>
        </p:nvSpPr>
        <p:spPr>
          <a:xfrm>
            <a:off x="777240"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1</a:t>
            </a:r>
            <a:endParaRPr lang="en-US" sz="1200" dirty="0"/>
          </a:p>
        </p:txBody>
      </p:sp>
      <p:sp>
        <p:nvSpPr>
          <p:cNvPr id="9" name="Shape 7"/>
          <p:cNvSpPr/>
          <p:nvPr/>
        </p:nvSpPr>
        <p:spPr>
          <a:xfrm>
            <a:off x="1802282" y="5349240"/>
            <a:ext cx="384048" cy="384048"/>
          </a:xfrm>
          <a:prstGeom prst="ellipse">
            <a:avLst/>
          </a:prstGeom>
          <a:solidFill>
            <a:srgbClr val="C6D6EA"/>
          </a:solidFill>
          <a:ln/>
        </p:spPr>
      </p:sp>
      <p:sp>
        <p:nvSpPr>
          <p:cNvPr id="10" name="Text 8"/>
          <p:cNvSpPr txBox="1"/>
          <p:nvPr/>
        </p:nvSpPr>
        <p:spPr>
          <a:xfrm>
            <a:off x="1802282"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2</a:t>
            </a:r>
            <a:endParaRPr lang="en-US" sz="1200" dirty="0"/>
          </a:p>
        </p:txBody>
      </p:sp>
      <p:sp>
        <p:nvSpPr>
          <p:cNvPr id="11" name="Shape 9"/>
          <p:cNvSpPr/>
          <p:nvPr/>
        </p:nvSpPr>
        <p:spPr>
          <a:xfrm>
            <a:off x="2827325" y="5349240"/>
            <a:ext cx="384048" cy="384048"/>
          </a:xfrm>
          <a:prstGeom prst="ellipse">
            <a:avLst/>
          </a:prstGeom>
          <a:solidFill>
            <a:srgbClr val="C6D6EA"/>
          </a:solidFill>
          <a:ln/>
        </p:spPr>
      </p:sp>
      <p:sp>
        <p:nvSpPr>
          <p:cNvPr id="12" name="Text 10"/>
          <p:cNvSpPr txBox="1"/>
          <p:nvPr/>
        </p:nvSpPr>
        <p:spPr>
          <a:xfrm>
            <a:off x="2827325"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3</a:t>
            </a:r>
            <a:endParaRPr lang="en-US" sz="1200" dirty="0"/>
          </a:p>
        </p:txBody>
      </p:sp>
      <p:sp>
        <p:nvSpPr>
          <p:cNvPr id="13" name="Shape 11"/>
          <p:cNvSpPr/>
          <p:nvPr/>
        </p:nvSpPr>
        <p:spPr>
          <a:xfrm>
            <a:off x="3852367" y="5349240"/>
            <a:ext cx="384048" cy="384048"/>
          </a:xfrm>
          <a:prstGeom prst="ellipse">
            <a:avLst/>
          </a:prstGeom>
          <a:solidFill>
            <a:srgbClr val="1A5FB4"/>
          </a:solidFill>
          <a:ln/>
        </p:spPr>
      </p:sp>
      <p:sp>
        <p:nvSpPr>
          <p:cNvPr id="14" name="Text 12"/>
          <p:cNvSpPr txBox="1"/>
          <p:nvPr/>
        </p:nvSpPr>
        <p:spPr>
          <a:xfrm>
            <a:off x="3852367" y="53492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15" name="Shape 13"/>
          <p:cNvSpPr/>
          <p:nvPr/>
        </p:nvSpPr>
        <p:spPr>
          <a:xfrm>
            <a:off x="4877410" y="5349240"/>
            <a:ext cx="384048" cy="384048"/>
          </a:xfrm>
          <a:prstGeom prst="ellipse">
            <a:avLst/>
          </a:prstGeom>
          <a:solidFill>
            <a:srgbClr val="E8EDF3"/>
          </a:solidFill>
          <a:ln/>
        </p:spPr>
      </p:sp>
      <p:sp>
        <p:nvSpPr>
          <p:cNvPr id="16" name="Text 14"/>
          <p:cNvSpPr txBox="1"/>
          <p:nvPr/>
        </p:nvSpPr>
        <p:spPr>
          <a:xfrm>
            <a:off x="4877410"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5</a:t>
            </a:r>
            <a:endParaRPr lang="en-US" sz="1200" dirty="0"/>
          </a:p>
        </p:txBody>
      </p:sp>
      <p:sp>
        <p:nvSpPr>
          <p:cNvPr id="17" name="Shape 15"/>
          <p:cNvSpPr/>
          <p:nvPr/>
        </p:nvSpPr>
        <p:spPr>
          <a:xfrm>
            <a:off x="5902452" y="5349240"/>
            <a:ext cx="384048" cy="384048"/>
          </a:xfrm>
          <a:prstGeom prst="ellipse">
            <a:avLst/>
          </a:prstGeom>
          <a:solidFill>
            <a:srgbClr val="E8EDF3"/>
          </a:solidFill>
          <a:ln/>
        </p:spPr>
      </p:sp>
      <p:sp>
        <p:nvSpPr>
          <p:cNvPr id="18" name="Text 16"/>
          <p:cNvSpPr txBox="1"/>
          <p:nvPr/>
        </p:nvSpPr>
        <p:spPr>
          <a:xfrm>
            <a:off x="5902452"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6</a:t>
            </a:r>
            <a:endParaRPr lang="en-US" sz="1200" dirty="0"/>
          </a:p>
        </p:txBody>
      </p:sp>
      <p:sp>
        <p:nvSpPr>
          <p:cNvPr id="19" name="Shape 17"/>
          <p:cNvSpPr/>
          <p:nvPr/>
        </p:nvSpPr>
        <p:spPr>
          <a:xfrm>
            <a:off x="6927494" y="5349240"/>
            <a:ext cx="384048" cy="384048"/>
          </a:xfrm>
          <a:prstGeom prst="ellipse">
            <a:avLst/>
          </a:prstGeom>
          <a:solidFill>
            <a:srgbClr val="E8EDF3"/>
          </a:solidFill>
          <a:ln/>
        </p:spPr>
      </p:sp>
      <p:sp>
        <p:nvSpPr>
          <p:cNvPr id="20" name="Text 18"/>
          <p:cNvSpPr txBox="1"/>
          <p:nvPr/>
        </p:nvSpPr>
        <p:spPr>
          <a:xfrm>
            <a:off x="6927494"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7</a:t>
            </a:r>
            <a:endParaRPr lang="en-US" sz="1200" dirty="0"/>
          </a:p>
        </p:txBody>
      </p:sp>
      <p:sp>
        <p:nvSpPr>
          <p:cNvPr id="21" name="Shape 19"/>
          <p:cNvSpPr/>
          <p:nvPr/>
        </p:nvSpPr>
        <p:spPr>
          <a:xfrm>
            <a:off x="7952537" y="5349240"/>
            <a:ext cx="384048" cy="384048"/>
          </a:xfrm>
          <a:prstGeom prst="ellipse">
            <a:avLst/>
          </a:prstGeom>
          <a:solidFill>
            <a:srgbClr val="E8EDF3"/>
          </a:solidFill>
          <a:ln/>
        </p:spPr>
      </p:sp>
      <p:sp>
        <p:nvSpPr>
          <p:cNvPr id="22" name="Text 20"/>
          <p:cNvSpPr txBox="1"/>
          <p:nvPr/>
        </p:nvSpPr>
        <p:spPr>
          <a:xfrm>
            <a:off x="7952537"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8</a:t>
            </a:r>
            <a:endParaRPr lang="en-US" sz="1200" dirty="0"/>
          </a:p>
        </p:txBody>
      </p:sp>
      <p:sp>
        <p:nvSpPr>
          <p:cNvPr id="23" name="Shape 21"/>
          <p:cNvSpPr/>
          <p:nvPr/>
        </p:nvSpPr>
        <p:spPr>
          <a:xfrm>
            <a:off x="8977579" y="5349240"/>
            <a:ext cx="384048" cy="384048"/>
          </a:xfrm>
          <a:prstGeom prst="ellipse">
            <a:avLst/>
          </a:prstGeom>
          <a:solidFill>
            <a:srgbClr val="E8EDF3"/>
          </a:solidFill>
          <a:ln/>
        </p:spPr>
      </p:sp>
      <p:sp>
        <p:nvSpPr>
          <p:cNvPr id="24" name="Text 22"/>
          <p:cNvSpPr txBox="1"/>
          <p:nvPr/>
        </p:nvSpPr>
        <p:spPr>
          <a:xfrm>
            <a:off x="8977579"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9</a:t>
            </a:r>
            <a:endParaRPr lang="en-US" sz="1200" dirty="0"/>
          </a:p>
        </p:txBody>
      </p:sp>
      <p:sp>
        <p:nvSpPr>
          <p:cNvPr id="25" name="Shape 23"/>
          <p:cNvSpPr/>
          <p:nvPr/>
        </p:nvSpPr>
        <p:spPr>
          <a:xfrm>
            <a:off x="10002622" y="5349240"/>
            <a:ext cx="384048" cy="384048"/>
          </a:xfrm>
          <a:prstGeom prst="ellipse">
            <a:avLst/>
          </a:prstGeom>
          <a:solidFill>
            <a:srgbClr val="E8EDF3"/>
          </a:solidFill>
          <a:ln/>
        </p:spPr>
      </p:sp>
      <p:sp>
        <p:nvSpPr>
          <p:cNvPr id="26" name="Text 24"/>
          <p:cNvSpPr txBox="1"/>
          <p:nvPr/>
        </p:nvSpPr>
        <p:spPr>
          <a:xfrm>
            <a:off x="10002622"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10</a:t>
            </a:r>
            <a:endParaRPr lang="en-US" sz="1200" dirty="0"/>
          </a:p>
        </p:txBody>
      </p:sp>
      <p:sp>
        <p:nvSpPr>
          <p:cNvPr id="27" name="Shape 25"/>
          <p:cNvSpPr/>
          <p:nvPr/>
        </p:nvSpPr>
        <p:spPr>
          <a:xfrm>
            <a:off x="11027664" y="5349240"/>
            <a:ext cx="384048" cy="384048"/>
          </a:xfrm>
          <a:prstGeom prst="ellipse">
            <a:avLst/>
          </a:prstGeom>
          <a:solidFill>
            <a:srgbClr val="E8EDF3"/>
          </a:solidFill>
          <a:ln/>
        </p:spPr>
      </p:sp>
      <p:sp>
        <p:nvSpPr>
          <p:cNvPr id="28" name="Text 26"/>
          <p:cNvSpPr txBox="1"/>
          <p:nvPr/>
        </p:nvSpPr>
        <p:spPr>
          <a:xfrm>
            <a:off x="11027664"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11</a:t>
            </a:r>
            <a:endParaRPr lang="en-US" sz="1200" dirty="0"/>
          </a:p>
        </p:txBody>
      </p:sp>
      <p:sp>
        <p:nvSpPr>
          <p:cNvPr id="29" name="Text 27"/>
          <p:cNvSpPr txBox="1"/>
          <p:nvPr/>
        </p:nvSpPr>
        <p:spPr>
          <a:xfrm>
            <a:off x="777240" y="5852160"/>
            <a:ext cx="10634472" cy="274320"/>
          </a:xfrm>
          <a:prstGeom prst="rect">
            <a:avLst/>
          </a:prstGeom>
          <a:noFill/>
          <a:ln/>
        </p:spPr>
        <p:txBody>
          <a:bodyPr wrap="square" lIns="0" tIns="0" rIns="0" bIns="0" rtlCol="0" anchor="t"/>
          <a:lstStyle/>
          <a:p>
            <a:pPr algn="l" indent="0" marL="0">
              <a:buNone/>
            </a:pPr>
            <a:r>
              <a:rPr lang="en-US" sz="1100" b="1" spc="200" kern="0" dirty="0">
                <a:solidFill>
                  <a:srgbClr val="9AA7B5"/>
                </a:solidFill>
                <a:latin typeface="Arial" pitchFamily="34" charset="0"/>
                <a:ea typeface="Arial" pitchFamily="34" charset="-122"/>
                <a:cs typeface="Arial" pitchFamily="34" charset="-120"/>
              </a:rPr>
              <a:t>THE ELEVEN STAGES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10634472" cy="310896"/>
          </a:xfrm>
          <a:prstGeom prst="rect">
            <a:avLst/>
          </a:prstGeom>
          <a:noFill/>
          <a:ln/>
        </p:spPr>
        <p:txBody>
          <a:bodyPr wrap="square" lIns="0" tIns="0" rIns="0" bIns="0" rtlCol="0" anchor="t"/>
          <a:lstStyle/>
          <a:p>
            <a:pPr algn="l" indent="0" marL="0">
              <a:buNone/>
            </a:pPr>
            <a:r>
              <a:rPr lang="en-US" sz="1300" b="1" spc="200" kern="0" dirty="0">
                <a:solidFill>
                  <a:srgbClr val="1A5FB4"/>
                </a:solidFill>
                <a:latin typeface="Arial" pitchFamily="34" charset="0"/>
                <a:ea typeface="Arial" pitchFamily="34" charset="-122"/>
                <a:cs typeface="Arial" pitchFamily="34" charset="-120"/>
              </a:rPr>
              <a:t>STAGE 5 OF 11</a:t>
            </a:r>
            <a:endParaRPr lang="en-US" sz="1300" dirty="0"/>
          </a:p>
        </p:txBody>
      </p:sp>
      <p:sp>
        <p:nvSpPr>
          <p:cNvPr id="3" name="Shape 1"/>
          <p:cNvSpPr/>
          <p:nvPr/>
        </p:nvSpPr>
        <p:spPr>
          <a:xfrm>
            <a:off x="777240" y="1051560"/>
            <a:ext cx="960120" cy="960120"/>
          </a:xfrm>
          <a:prstGeom prst="ellipse">
            <a:avLst/>
          </a:prstGeom>
          <a:solidFill>
            <a:srgbClr val="1A5FB4"/>
          </a:solidFill>
          <a:ln/>
        </p:spPr>
      </p:sp>
      <p:sp>
        <p:nvSpPr>
          <p:cNvPr id="4" name="Text 2"/>
          <p:cNvSpPr txBox="1"/>
          <p:nvPr/>
        </p:nvSpPr>
        <p:spPr>
          <a:xfrm>
            <a:off x="777240" y="1051560"/>
            <a:ext cx="960120" cy="960120"/>
          </a:xfrm>
          <a:prstGeom prst="rect">
            <a:avLst/>
          </a:prstGeom>
          <a:noFill/>
          <a:ln/>
        </p:spPr>
        <p:txBody>
          <a:bodyPr wrap="square" lIns="0" tIns="0" rIns="0" bIns="0" rtlCol="0" anchor="ctr"/>
          <a:lstStyle/>
          <a:p>
            <a:pPr algn="ctr" indent="0" marL="0">
              <a:buNone/>
            </a:pPr>
            <a:r>
              <a:rPr lang="en-US" sz="2700" b="1" dirty="0">
                <a:solidFill>
                  <a:srgbClr val="FFFFFF"/>
                </a:solidFill>
                <a:latin typeface="Arial" pitchFamily="34" charset="0"/>
                <a:ea typeface="Arial" pitchFamily="34" charset="-122"/>
                <a:cs typeface="Arial" pitchFamily="34" charset="-120"/>
              </a:rPr>
              <a:t>5</a:t>
            </a:r>
            <a:endParaRPr lang="en-US" sz="2700" dirty="0"/>
          </a:p>
        </p:txBody>
      </p:sp>
      <p:sp>
        <p:nvSpPr>
          <p:cNvPr id="5" name="Text 3"/>
          <p:cNvSpPr txBox="1"/>
          <p:nvPr/>
        </p:nvSpPr>
        <p:spPr>
          <a:xfrm>
            <a:off x="2011680" y="1097280"/>
            <a:ext cx="9400032" cy="868680"/>
          </a:xfrm>
          <a:prstGeom prst="rect">
            <a:avLst/>
          </a:prstGeom>
          <a:noFill/>
          <a:ln/>
        </p:spPr>
        <p:txBody>
          <a:bodyPr wrap="square" lIns="0" tIns="0" rIns="0" bIns="0" rtlCol="0" anchor="t"/>
          <a:lstStyle/>
          <a:p>
            <a:pPr algn="l" indent="0" marL="0">
              <a:buNone/>
            </a:pPr>
            <a:r>
              <a:rPr lang="en-US" sz="3800" b="1" dirty="0">
                <a:solidFill>
                  <a:srgbClr val="10243A"/>
                </a:solidFill>
                <a:latin typeface="Arial" pitchFamily="34" charset="0"/>
                <a:ea typeface="Arial" pitchFamily="34" charset="-122"/>
                <a:cs typeface="Arial" pitchFamily="34" charset="-120"/>
              </a:rPr>
              <a:t>First appearance</a:t>
            </a:r>
            <a:endParaRPr lang="en-US" sz="3800" dirty="0"/>
          </a:p>
        </p:txBody>
      </p:sp>
      <p:sp>
        <p:nvSpPr>
          <p:cNvPr id="6" name="Text 4"/>
          <p:cNvSpPr txBox="1"/>
          <p:nvPr/>
        </p:nvSpPr>
        <p:spPr>
          <a:xfrm>
            <a:off x="2011680" y="2331720"/>
            <a:ext cx="9400032" cy="2377440"/>
          </a:xfrm>
          <a:prstGeom prst="rect">
            <a:avLst/>
          </a:prstGeom>
          <a:noFill/>
          <a:ln/>
        </p:spPr>
        <p:txBody>
          <a:bodyPr wrap="square" lIns="0" tIns="0" rIns="0" bIns="0" rtlCol="0" anchor="t"/>
          <a:lstStyle/>
          <a:p>
            <a:pPr algn="l" indent="0" marL="0">
              <a:lnSpc>
                <a:spcPts val="3500"/>
              </a:lnSpc>
              <a:buNone/>
            </a:pPr>
            <a:r>
              <a:rPr lang="en-US" sz="2400" dirty="0">
                <a:solidFill>
                  <a:srgbClr val="1B1B1B"/>
                </a:solidFill>
                <a:latin typeface="Arial" pitchFamily="34" charset="0"/>
                <a:ea typeface="Arial" pitchFamily="34" charset="-122"/>
                <a:cs typeface="Arial" pitchFamily="34" charset="-120"/>
              </a:rPr>
              <a:t>Within 24 hours a judge confirms probable cause, states the charge, advises the right to a lawyer, and sets bond.</a:t>
            </a:r>
            <a:endParaRPr lang="en-US" sz="2400" dirty="0"/>
          </a:p>
        </p:txBody>
      </p:sp>
      <p:sp>
        <p:nvSpPr>
          <p:cNvPr id="7" name="Shape 5"/>
          <p:cNvSpPr/>
          <p:nvPr/>
        </p:nvSpPr>
        <p:spPr>
          <a:xfrm>
            <a:off x="777240" y="5349240"/>
            <a:ext cx="384048" cy="384048"/>
          </a:xfrm>
          <a:prstGeom prst="ellipse">
            <a:avLst/>
          </a:prstGeom>
          <a:solidFill>
            <a:srgbClr val="C6D6EA"/>
          </a:solidFill>
          <a:ln/>
        </p:spPr>
      </p:sp>
      <p:sp>
        <p:nvSpPr>
          <p:cNvPr id="8" name="Text 6"/>
          <p:cNvSpPr txBox="1"/>
          <p:nvPr/>
        </p:nvSpPr>
        <p:spPr>
          <a:xfrm>
            <a:off x="777240"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1</a:t>
            </a:r>
            <a:endParaRPr lang="en-US" sz="1200" dirty="0"/>
          </a:p>
        </p:txBody>
      </p:sp>
      <p:sp>
        <p:nvSpPr>
          <p:cNvPr id="9" name="Shape 7"/>
          <p:cNvSpPr/>
          <p:nvPr/>
        </p:nvSpPr>
        <p:spPr>
          <a:xfrm>
            <a:off x="1802282" y="5349240"/>
            <a:ext cx="384048" cy="384048"/>
          </a:xfrm>
          <a:prstGeom prst="ellipse">
            <a:avLst/>
          </a:prstGeom>
          <a:solidFill>
            <a:srgbClr val="C6D6EA"/>
          </a:solidFill>
          <a:ln/>
        </p:spPr>
      </p:sp>
      <p:sp>
        <p:nvSpPr>
          <p:cNvPr id="10" name="Text 8"/>
          <p:cNvSpPr txBox="1"/>
          <p:nvPr/>
        </p:nvSpPr>
        <p:spPr>
          <a:xfrm>
            <a:off x="1802282"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2</a:t>
            </a:r>
            <a:endParaRPr lang="en-US" sz="1200" dirty="0"/>
          </a:p>
        </p:txBody>
      </p:sp>
      <p:sp>
        <p:nvSpPr>
          <p:cNvPr id="11" name="Shape 9"/>
          <p:cNvSpPr/>
          <p:nvPr/>
        </p:nvSpPr>
        <p:spPr>
          <a:xfrm>
            <a:off x="2827325" y="5349240"/>
            <a:ext cx="384048" cy="384048"/>
          </a:xfrm>
          <a:prstGeom prst="ellipse">
            <a:avLst/>
          </a:prstGeom>
          <a:solidFill>
            <a:srgbClr val="C6D6EA"/>
          </a:solidFill>
          <a:ln/>
        </p:spPr>
      </p:sp>
      <p:sp>
        <p:nvSpPr>
          <p:cNvPr id="12" name="Text 10"/>
          <p:cNvSpPr txBox="1"/>
          <p:nvPr/>
        </p:nvSpPr>
        <p:spPr>
          <a:xfrm>
            <a:off x="2827325"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3</a:t>
            </a:r>
            <a:endParaRPr lang="en-US" sz="1200" dirty="0"/>
          </a:p>
        </p:txBody>
      </p:sp>
      <p:sp>
        <p:nvSpPr>
          <p:cNvPr id="13" name="Shape 11"/>
          <p:cNvSpPr/>
          <p:nvPr/>
        </p:nvSpPr>
        <p:spPr>
          <a:xfrm>
            <a:off x="3852367" y="5349240"/>
            <a:ext cx="384048" cy="384048"/>
          </a:xfrm>
          <a:prstGeom prst="ellipse">
            <a:avLst/>
          </a:prstGeom>
          <a:solidFill>
            <a:srgbClr val="C6D6EA"/>
          </a:solidFill>
          <a:ln/>
        </p:spPr>
      </p:sp>
      <p:sp>
        <p:nvSpPr>
          <p:cNvPr id="14" name="Text 12"/>
          <p:cNvSpPr txBox="1"/>
          <p:nvPr/>
        </p:nvSpPr>
        <p:spPr>
          <a:xfrm>
            <a:off x="3852367"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4</a:t>
            </a:r>
            <a:endParaRPr lang="en-US" sz="1200" dirty="0"/>
          </a:p>
        </p:txBody>
      </p:sp>
      <p:sp>
        <p:nvSpPr>
          <p:cNvPr id="15" name="Shape 13"/>
          <p:cNvSpPr/>
          <p:nvPr/>
        </p:nvSpPr>
        <p:spPr>
          <a:xfrm>
            <a:off x="4877410" y="5349240"/>
            <a:ext cx="384048" cy="384048"/>
          </a:xfrm>
          <a:prstGeom prst="ellipse">
            <a:avLst/>
          </a:prstGeom>
          <a:solidFill>
            <a:srgbClr val="1A5FB4"/>
          </a:solidFill>
          <a:ln/>
        </p:spPr>
      </p:sp>
      <p:sp>
        <p:nvSpPr>
          <p:cNvPr id="16" name="Text 14"/>
          <p:cNvSpPr txBox="1"/>
          <p:nvPr/>
        </p:nvSpPr>
        <p:spPr>
          <a:xfrm>
            <a:off x="4877410" y="53492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17" name="Shape 15"/>
          <p:cNvSpPr/>
          <p:nvPr/>
        </p:nvSpPr>
        <p:spPr>
          <a:xfrm>
            <a:off x="5902452" y="5349240"/>
            <a:ext cx="384048" cy="384048"/>
          </a:xfrm>
          <a:prstGeom prst="ellipse">
            <a:avLst/>
          </a:prstGeom>
          <a:solidFill>
            <a:srgbClr val="E8EDF3"/>
          </a:solidFill>
          <a:ln/>
        </p:spPr>
      </p:sp>
      <p:sp>
        <p:nvSpPr>
          <p:cNvPr id="18" name="Text 16"/>
          <p:cNvSpPr txBox="1"/>
          <p:nvPr/>
        </p:nvSpPr>
        <p:spPr>
          <a:xfrm>
            <a:off x="5902452"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6</a:t>
            </a:r>
            <a:endParaRPr lang="en-US" sz="1200" dirty="0"/>
          </a:p>
        </p:txBody>
      </p:sp>
      <p:sp>
        <p:nvSpPr>
          <p:cNvPr id="19" name="Shape 17"/>
          <p:cNvSpPr/>
          <p:nvPr/>
        </p:nvSpPr>
        <p:spPr>
          <a:xfrm>
            <a:off x="6927494" y="5349240"/>
            <a:ext cx="384048" cy="384048"/>
          </a:xfrm>
          <a:prstGeom prst="ellipse">
            <a:avLst/>
          </a:prstGeom>
          <a:solidFill>
            <a:srgbClr val="E8EDF3"/>
          </a:solidFill>
          <a:ln/>
        </p:spPr>
      </p:sp>
      <p:sp>
        <p:nvSpPr>
          <p:cNvPr id="20" name="Text 18"/>
          <p:cNvSpPr txBox="1"/>
          <p:nvPr/>
        </p:nvSpPr>
        <p:spPr>
          <a:xfrm>
            <a:off x="6927494"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7</a:t>
            </a:r>
            <a:endParaRPr lang="en-US" sz="1200" dirty="0"/>
          </a:p>
        </p:txBody>
      </p:sp>
      <p:sp>
        <p:nvSpPr>
          <p:cNvPr id="21" name="Shape 19"/>
          <p:cNvSpPr/>
          <p:nvPr/>
        </p:nvSpPr>
        <p:spPr>
          <a:xfrm>
            <a:off x="7952537" y="5349240"/>
            <a:ext cx="384048" cy="384048"/>
          </a:xfrm>
          <a:prstGeom prst="ellipse">
            <a:avLst/>
          </a:prstGeom>
          <a:solidFill>
            <a:srgbClr val="E8EDF3"/>
          </a:solidFill>
          <a:ln/>
        </p:spPr>
      </p:sp>
      <p:sp>
        <p:nvSpPr>
          <p:cNvPr id="22" name="Text 20"/>
          <p:cNvSpPr txBox="1"/>
          <p:nvPr/>
        </p:nvSpPr>
        <p:spPr>
          <a:xfrm>
            <a:off x="7952537"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8</a:t>
            </a:r>
            <a:endParaRPr lang="en-US" sz="1200" dirty="0"/>
          </a:p>
        </p:txBody>
      </p:sp>
      <p:sp>
        <p:nvSpPr>
          <p:cNvPr id="23" name="Shape 21"/>
          <p:cNvSpPr/>
          <p:nvPr/>
        </p:nvSpPr>
        <p:spPr>
          <a:xfrm>
            <a:off x="8977579" y="5349240"/>
            <a:ext cx="384048" cy="384048"/>
          </a:xfrm>
          <a:prstGeom prst="ellipse">
            <a:avLst/>
          </a:prstGeom>
          <a:solidFill>
            <a:srgbClr val="E8EDF3"/>
          </a:solidFill>
          <a:ln/>
        </p:spPr>
      </p:sp>
      <p:sp>
        <p:nvSpPr>
          <p:cNvPr id="24" name="Text 22"/>
          <p:cNvSpPr txBox="1"/>
          <p:nvPr/>
        </p:nvSpPr>
        <p:spPr>
          <a:xfrm>
            <a:off x="8977579"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9</a:t>
            </a:r>
            <a:endParaRPr lang="en-US" sz="1200" dirty="0"/>
          </a:p>
        </p:txBody>
      </p:sp>
      <p:sp>
        <p:nvSpPr>
          <p:cNvPr id="25" name="Shape 23"/>
          <p:cNvSpPr/>
          <p:nvPr/>
        </p:nvSpPr>
        <p:spPr>
          <a:xfrm>
            <a:off x="10002622" y="5349240"/>
            <a:ext cx="384048" cy="384048"/>
          </a:xfrm>
          <a:prstGeom prst="ellipse">
            <a:avLst/>
          </a:prstGeom>
          <a:solidFill>
            <a:srgbClr val="E8EDF3"/>
          </a:solidFill>
          <a:ln/>
        </p:spPr>
      </p:sp>
      <p:sp>
        <p:nvSpPr>
          <p:cNvPr id="26" name="Text 24"/>
          <p:cNvSpPr txBox="1"/>
          <p:nvPr/>
        </p:nvSpPr>
        <p:spPr>
          <a:xfrm>
            <a:off x="10002622"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10</a:t>
            </a:r>
            <a:endParaRPr lang="en-US" sz="1200" dirty="0"/>
          </a:p>
        </p:txBody>
      </p:sp>
      <p:sp>
        <p:nvSpPr>
          <p:cNvPr id="27" name="Shape 25"/>
          <p:cNvSpPr/>
          <p:nvPr/>
        </p:nvSpPr>
        <p:spPr>
          <a:xfrm>
            <a:off x="11027664" y="5349240"/>
            <a:ext cx="384048" cy="384048"/>
          </a:xfrm>
          <a:prstGeom prst="ellipse">
            <a:avLst/>
          </a:prstGeom>
          <a:solidFill>
            <a:srgbClr val="E8EDF3"/>
          </a:solidFill>
          <a:ln/>
        </p:spPr>
      </p:sp>
      <p:sp>
        <p:nvSpPr>
          <p:cNvPr id="28" name="Text 26"/>
          <p:cNvSpPr txBox="1"/>
          <p:nvPr/>
        </p:nvSpPr>
        <p:spPr>
          <a:xfrm>
            <a:off x="11027664"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11</a:t>
            </a:r>
            <a:endParaRPr lang="en-US" sz="1200" dirty="0"/>
          </a:p>
        </p:txBody>
      </p:sp>
      <p:sp>
        <p:nvSpPr>
          <p:cNvPr id="29" name="Text 27"/>
          <p:cNvSpPr txBox="1"/>
          <p:nvPr/>
        </p:nvSpPr>
        <p:spPr>
          <a:xfrm>
            <a:off x="777240" y="5852160"/>
            <a:ext cx="10634472" cy="274320"/>
          </a:xfrm>
          <a:prstGeom prst="rect">
            <a:avLst/>
          </a:prstGeom>
          <a:noFill/>
          <a:ln/>
        </p:spPr>
        <p:txBody>
          <a:bodyPr wrap="square" lIns="0" tIns="0" rIns="0" bIns="0" rtlCol="0" anchor="t"/>
          <a:lstStyle/>
          <a:p>
            <a:pPr algn="l" indent="0" marL="0">
              <a:buNone/>
            </a:pPr>
            <a:r>
              <a:rPr lang="en-US" sz="1100" b="1" spc="200" kern="0" dirty="0">
                <a:solidFill>
                  <a:srgbClr val="9AA7B5"/>
                </a:solidFill>
                <a:latin typeface="Arial" pitchFamily="34" charset="0"/>
                <a:ea typeface="Arial" pitchFamily="34" charset="-122"/>
                <a:cs typeface="Arial" pitchFamily="34" charset="-120"/>
              </a:rPr>
              <a:t>THE ELEVEN STAGES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10634472" cy="310896"/>
          </a:xfrm>
          <a:prstGeom prst="rect">
            <a:avLst/>
          </a:prstGeom>
          <a:noFill/>
          <a:ln/>
        </p:spPr>
        <p:txBody>
          <a:bodyPr wrap="square" lIns="0" tIns="0" rIns="0" bIns="0" rtlCol="0" anchor="t"/>
          <a:lstStyle/>
          <a:p>
            <a:pPr algn="l" indent="0" marL="0">
              <a:buNone/>
            </a:pPr>
            <a:r>
              <a:rPr lang="en-US" sz="1300" b="1" spc="200" kern="0" dirty="0">
                <a:solidFill>
                  <a:srgbClr val="1A5FB4"/>
                </a:solidFill>
                <a:latin typeface="Arial" pitchFamily="34" charset="0"/>
                <a:ea typeface="Arial" pitchFamily="34" charset="-122"/>
                <a:cs typeface="Arial" pitchFamily="34" charset="-120"/>
              </a:rPr>
              <a:t>STAGE 6 OF 11</a:t>
            </a:r>
            <a:endParaRPr lang="en-US" sz="1300" dirty="0"/>
          </a:p>
        </p:txBody>
      </p:sp>
      <p:sp>
        <p:nvSpPr>
          <p:cNvPr id="3" name="Shape 1"/>
          <p:cNvSpPr/>
          <p:nvPr/>
        </p:nvSpPr>
        <p:spPr>
          <a:xfrm>
            <a:off x="777240" y="1051560"/>
            <a:ext cx="960120" cy="960120"/>
          </a:xfrm>
          <a:prstGeom prst="ellipse">
            <a:avLst/>
          </a:prstGeom>
          <a:solidFill>
            <a:srgbClr val="1A5FB4"/>
          </a:solidFill>
          <a:ln/>
        </p:spPr>
      </p:sp>
      <p:sp>
        <p:nvSpPr>
          <p:cNvPr id="4" name="Text 2"/>
          <p:cNvSpPr txBox="1"/>
          <p:nvPr/>
        </p:nvSpPr>
        <p:spPr>
          <a:xfrm>
            <a:off x="777240" y="1051560"/>
            <a:ext cx="960120" cy="960120"/>
          </a:xfrm>
          <a:prstGeom prst="rect">
            <a:avLst/>
          </a:prstGeom>
          <a:noFill/>
          <a:ln/>
        </p:spPr>
        <p:txBody>
          <a:bodyPr wrap="square" lIns="0" tIns="0" rIns="0" bIns="0" rtlCol="0" anchor="ctr"/>
          <a:lstStyle/>
          <a:p>
            <a:pPr algn="ctr" indent="0" marL="0">
              <a:buNone/>
            </a:pPr>
            <a:r>
              <a:rPr lang="en-US" sz="2700" b="1" dirty="0">
                <a:solidFill>
                  <a:srgbClr val="FFFFFF"/>
                </a:solidFill>
                <a:latin typeface="Arial" pitchFamily="34" charset="0"/>
                <a:ea typeface="Arial" pitchFamily="34" charset="-122"/>
                <a:cs typeface="Arial" pitchFamily="34" charset="-120"/>
              </a:rPr>
              <a:t>6</a:t>
            </a:r>
            <a:endParaRPr lang="en-US" sz="2700" dirty="0"/>
          </a:p>
        </p:txBody>
      </p:sp>
      <p:sp>
        <p:nvSpPr>
          <p:cNvPr id="5" name="Text 3"/>
          <p:cNvSpPr txBox="1"/>
          <p:nvPr/>
        </p:nvSpPr>
        <p:spPr>
          <a:xfrm>
            <a:off x="2011680" y="1097280"/>
            <a:ext cx="9400032" cy="868680"/>
          </a:xfrm>
          <a:prstGeom prst="rect">
            <a:avLst/>
          </a:prstGeom>
          <a:noFill/>
          <a:ln/>
        </p:spPr>
        <p:txBody>
          <a:bodyPr wrap="square" lIns="0" tIns="0" rIns="0" bIns="0" rtlCol="0" anchor="t"/>
          <a:lstStyle/>
          <a:p>
            <a:pPr algn="l" indent="0" marL="0">
              <a:buNone/>
            </a:pPr>
            <a:r>
              <a:rPr lang="en-US" sz="3800" b="1" dirty="0">
                <a:solidFill>
                  <a:srgbClr val="10243A"/>
                </a:solidFill>
                <a:latin typeface="Arial" pitchFamily="34" charset="0"/>
                <a:ea typeface="Arial" pitchFamily="34" charset="-122"/>
                <a:cs typeface="Arial" pitchFamily="34" charset="-120"/>
              </a:rPr>
              <a:t>The charging decision</a:t>
            </a:r>
            <a:endParaRPr lang="en-US" sz="3800" dirty="0"/>
          </a:p>
        </p:txBody>
      </p:sp>
      <p:sp>
        <p:nvSpPr>
          <p:cNvPr id="6" name="Text 4"/>
          <p:cNvSpPr txBox="1"/>
          <p:nvPr/>
        </p:nvSpPr>
        <p:spPr>
          <a:xfrm>
            <a:off x="2011680" y="2331720"/>
            <a:ext cx="9400032" cy="2377440"/>
          </a:xfrm>
          <a:prstGeom prst="rect">
            <a:avLst/>
          </a:prstGeom>
          <a:noFill/>
          <a:ln/>
        </p:spPr>
        <p:txBody>
          <a:bodyPr wrap="square" lIns="0" tIns="0" rIns="0" bIns="0" rtlCol="0" anchor="t"/>
          <a:lstStyle/>
          <a:p>
            <a:pPr algn="l" indent="0" marL="0">
              <a:lnSpc>
                <a:spcPts val="3500"/>
              </a:lnSpc>
              <a:buNone/>
            </a:pPr>
            <a:r>
              <a:rPr lang="en-US" sz="2400" dirty="0">
                <a:solidFill>
                  <a:srgbClr val="1B1B1B"/>
                </a:solidFill>
                <a:latin typeface="Arial" pitchFamily="34" charset="0"/>
                <a:ea typeface="Arial" pitchFamily="34" charset="-122"/>
                <a:cs typeface="Arial" pitchFamily="34" charset="-120"/>
              </a:rPr>
              <a:t>The State Attorney decides the charge, not the police. Most felonies are charged by an information. A capital crime requires a grand jury indictment.</a:t>
            </a:r>
            <a:endParaRPr lang="en-US" sz="2400" dirty="0"/>
          </a:p>
        </p:txBody>
      </p:sp>
      <p:sp>
        <p:nvSpPr>
          <p:cNvPr id="7" name="Shape 5"/>
          <p:cNvSpPr/>
          <p:nvPr/>
        </p:nvSpPr>
        <p:spPr>
          <a:xfrm>
            <a:off x="777240" y="5349240"/>
            <a:ext cx="384048" cy="384048"/>
          </a:xfrm>
          <a:prstGeom prst="ellipse">
            <a:avLst/>
          </a:prstGeom>
          <a:solidFill>
            <a:srgbClr val="C6D6EA"/>
          </a:solidFill>
          <a:ln/>
        </p:spPr>
      </p:sp>
      <p:sp>
        <p:nvSpPr>
          <p:cNvPr id="8" name="Text 6"/>
          <p:cNvSpPr txBox="1"/>
          <p:nvPr/>
        </p:nvSpPr>
        <p:spPr>
          <a:xfrm>
            <a:off x="777240"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1</a:t>
            </a:r>
            <a:endParaRPr lang="en-US" sz="1200" dirty="0"/>
          </a:p>
        </p:txBody>
      </p:sp>
      <p:sp>
        <p:nvSpPr>
          <p:cNvPr id="9" name="Shape 7"/>
          <p:cNvSpPr/>
          <p:nvPr/>
        </p:nvSpPr>
        <p:spPr>
          <a:xfrm>
            <a:off x="1802282" y="5349240"/>
            <a:ext cx="384048" cy="384048"/>
          </a:xfrm>
          <a:prstGeom prst="ellipse">
            <a:avLst/>
          </a:prstGeom>
          <a:solidFill>
            <a:srgbClr val="C6D6EA"/>
          </a:solidFill>
          <a:ln/>
        </p:spPr>
      </p:sp>
      <p:sp>
        <p:nvSpPr>
          <p:cNvPr id="10" name="Text 8"/>
          <p:cNvSpPr txBox="1"/>
          <p:nvPr/>
        </p:nvSpPr>
        <p:spPr>
          <a:xfrm>
            <a:off x="1802282"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2</a:t>
            </a:r>
            <a:endParaRPr lang="en-US" sz="1200" dirty="0"/>
          </a:p>
        </p:txBody>
      </p:sp>
      <p:sp>
        <p:nvSpPr>
          <p:cNvPr id="11" name="Shape 9"/>
          <p:cNvSpPr/>
          <p:nvPr/>
        </p:nvSpPr>
        <p:spPr>
          <a:xfrm>
            <a:off x="2827325" y="5349240"/>
            <a:ext cx="384048" cy="384048"/>
          </a:xfrm>
          <a:prstGeom prst="ellipse">
            <a:avLst/>
          </a:prstGeom>
          <a:solidFill>
            <a:srgbClr val="C6D6EA"/>
          </a:solidFill>
          <a:ln/>
        </p:spPr>
      </p:sp>
      <p:sp>
        <p:nvSpPr>
          <p:cNvPr id="12" name="Text 10"/>
          <p:cNvSpPr txBox="1"/>
          <p:nvPr/>
        </p:nvSpPr>
        <p:spPr>
          <a:xfrm>
            <a:off x="2827325"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3</a:t>
            </a:r>
            <a:endParaRPr lang="en-US" sz="1200" dirty="0"/>
          </a:p>
        </p:txBody>
      </p:sp>
      <p:sp>
        <p:nvSpPr>
          <p:cNvPr id="13" name="Shape 11"/>
          <p:cNvSpPr/>
          <p:nvPr/>
        </p:nvSpPr>
        <p:spPr>
          <a:xfrm>
            <a:off x="3852367" y="5349240"/>
            <a:ext cx="384048" cy="384048"/>
          </a:xfrm>
          <a:prstGeom prst="ellipse">
            <a:avLst/>
          </a:prstGeom>
          <a:solidFill>
            <a:srgbClr val="C6D6EA"/>
          </a:solidFill>
          <a:ln/>
        </p:spPr>
      </p:sp>
      <p:sp>
        <p:nvSpPr>
          <p:cNvPr id="14" name="Text 12"/>
          <p:cNvSpPr txBox="1"/>
          <p:nvPr/>
        </p:nvSpPr>
        <p:spPr>
          <a:xfrm>
            <a:off x="3852367"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4</a:t>
            </a:r>
            <a:endParaRPr lang="en-US" sz="1200" dirty="0"/>
          </a:p>
        </p:txBody>
      </p:sp>
      <p:sp>
        <p:nvSpPr>
          <p:cNvPr id="15" name="Shape 13"/>
          <p:cNvSpPr/>
          <p:nvPr/>
        </p:nvSpPr>
        <p:spPr>
          <a:xfrm>
            <a:off x="4877410" y="5349240"/>
            <a:ext cx="384048" cy="384048"/>
          </a:xfrm>
          <a:prstGeom prst="ellipse">
            <a:avLst/>
          </a:prstGeom>
          <a:solidFill>
            <a:srgbClr val="C6D6EA"/>
          </a:solidFill>
          <a:ln/>
        </p:spPr>
      </p:sp>
      <p:sp>
        <p:nvSpPr>
          <p:cNvPr id="16" name="Text 14"/>
          <p:cNvSpPr txBox="1"/>
          <p:nvPr/>
        </p:nvSpPr>
        <p:spPr>
          <a:xfrm>
            <a:off x="4877410"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5</a:t>
            </a:r>
            <a:endParaRPr lang="en-US" sz="1200" dirty="0"/>
          </a:p>
        </p:txBody>
      </p:sp>
      <p:sp>
        <p:nvSpPr>
          <p:cNvPr id="17" name="Shape 15"/>
          <p:cNvSpPr/>
          <p:nvPr/>
        </p:nvSpPr>
        <p:spPr>
          <a:xfrm>
            <a:off x="5902452" y="5349240"/>
            <a:ext cx="384048" cy="384048"/>
          </a:xfrm>
          <a:prstGeom prst="ellipse">
            <a:avLst/>
          </a:prstGeom>
          <a:solidFill>
            <a:srgbClr val="1A5FB4"/>
          </a:solidFill>
          <a:ln/>
        </p:spPr>
      </p:sp>
      <p:sp>
        <p:nvSpPr>
          <p:cNvPr id="18" name="Text 16"/>
          <p:cNvSpPr txBox="1"/>
          <p:nvPr/>
        </p:nvSpPr>
        <p:spPr>
          <a:xfrm>
            <a:off x="5902452" y="53492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19" name="Shape 17"/>
          <p:cNvSpPr/>
          <p:nvPr/>
        </p:nvSpPr>
        <p:spPr>
          <a:xfrm>
            <a:off x="6927494" y="5349240"/>
            <a:ext cx="384048" cy="384048"/>
          </a:xfrm>
          <a:prstGeom prst="ellipse">
            <a:avLst/>
          </a:prstGeom>
          <a:solidFill>
            <a:srgbClr val="E8EDF3"/>
          </a:solidFill>
          <a:ln/>
        </p:spPr>
      </p:sp>
      <p:sp>
        <p:nvSpPr>
          <p:cNvPr id="20" name="Text 18"/>
          <p:cNvSpPr txBox="1"/>
          <p:nvPr/>
        </p:nvSpPr>
        <p:spPr>
          <a:xfrm>
            <a:off x="6927494"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7</a:t>
            </a:r>
            <a:endParaRPr lang="en-US" sz="1200" dirty="0"/>
          </a:p>
        </p:txBody>
      </p:sp>
      <p:sp>
        <p:nvSpPr>
          <p:cNvPr id="21" name="Shape 19"/>
          <p:cNvSpPr/>
          <p:nvPr/>
        </p:nvSpPr>
        <p:spPr>
          <a:xfrm>
            <a:off x="7952537" y="5349240"/>
            <a:ext cx="384048" cy="384048"/>
          </a:xfrm>
          <a:prstGeom prst="ellipse">
            <a:avLst/>
          </a:prstGeom>
          <a:solidFill>
            <a:srgbClr val="E8EDF3"/>
          </a:solidFill>
          <a:ln/>
        </p:spPr>
      </p:sp>
      <p:sp>
        <p:nvSpPr>
          <p:cNvPr id="22" name="Text 20"/>
          <p:cNvSpPr txBox="1"/>
          <p:nvPr/>
        </p:nvSpPr>
        <p:spPr>
          <a:xfrm>
            <a:off x="7952537"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8</a:t>
            </a:r>
            <a:endParaRPr lang="en-US" sz="1200" dirty="0"/>
          </a:p>
        </p:txBody>
      </p:sp>
      <p:sp>
        <p:nvSpPr>
          <p:cNvPr id="23" name="Shape 21"/>
          <p:cNvSpPr/>
          <p:nvPr/>
        </p:nvSpPr>
        <p:spPr>
          <a:xfrm>
            <a:off x="8977579" y="5349240"/>
            <a:ext cx="384048" cy="384048"/>
          </a:xfrm>
          <a:prstGeom prst="ellipse">
            <a:avLst/>
          </a:prstGeom>
          <a:solidFill>
            <a:srgbClr val="E8EDF3"/>
          </a:solidFill>
          <a:ln/>
        </p:spPr>
      </p:sp>
      <p:sp>
        <p:nvSpPr>
          <p:cNvPr id="24" name="Text 22"/>
          <p:cNvSpPr txBox="1"/>
          <p:nvPr/>
        </p:nvSpPr>
        <p:spPr>
          <a:xfrm>
            <a:off x="8977579"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9</a:t>
            </a:r>
            <a:endParaRPr lang="en-US" sz="1200" dirty="0"/>
          </a:p>
        </p:txBody>
      </p:sp>
      <p:sp>
        <p:nvSpPr>
          <p:cNvPr id="25" name="Shape 23"/>
          <p:cNvSpPr/>
          <p:nvPr/>
        </p:nvSpPr>
        <p:spPr>
          <a:xfrm>
            <a:off x="10002622" y="5349240"/>
            <a:ext cx="384048" cy="384048"/>
          </a:xfrm>
          <a:prstGeom prst="ellipse">
            <a:avLst/>
          </a:prstGeom>
          <a:solidFill>
            <a:srgbClr val="E8EDF3"/>
          </a:solidFill>
          <a:ln/>
        </p:spPr>
      </p:sp>
      <p:sp>
        <p:nvSpPr>
          <p:cNvPr id="26" name="Text 24"/>
          <p:cNvSpPr txBox="1"/>
          <p:nvPr/>
        </p:nvSpPr>
        <p:spPr>
          <a:xfrm>
            <a:off x="10002622"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10</a:t>
            </a:r>
            <a:endParaRPr lang="en-US" sz="1200" dirty="0"/>
          </a:p>
        </p:txBody>
      </p:sp>
      <p:sp>
        <p:nvSpPr>
          <p:cNvPr id="27" name="Shape 25"/>
          <p:cNvSpPr/>
          <p:nvPr/>
        </p:nvSpPr>
        <p:spPr>
          <a:xfrm>
            <a:off x="11027664" y="5349240"/>
            <a:ext cx="384048" cy="384048"/>
          </a:xfrm>
          <a:prstGeom prst="ellipse">
            <a:avLst/>
          </a:prstGeom>
          <a:solidFill>
            <a:srgbClr val="E8EDF3"/>
          </a:solidFill>
          <a:ln/>
        </p:spPr>
      </p:sp>
      <p:sp>
        <p:nvSpPr>
          <p:cNvPr id="28" name="Text 26"/>
          <p:cNvSpPr txBox="1"/>
          <p:nvPr/>
        </p:nvSpPr>
        <p:spPr>
          <a:xfrm>
            <a:off x="11027664"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11</a:t>
            </a:r>
            <a:endParaRPr lang="en-US" sz="1200" dirty="0"/>
          </a:p>
        </p:txBody>
      </p:sp>
      <p:sp>
        <p:nvSpPr>
          <p:cNvPr id="29" name="Text 27"/>
          <p:cNvSpPr txBox="1"/>
          <p:nvPr/>
        </p:nvSpPr>
        <p:spPr>
          <a:xfrm>
            <a:off x="777240" y="5852160"/>
            <a:ext cx="10634472" cy="274320"/>
          </a:xfrm>
          <a:prstGeom prst="rect">
            <a:avLst/>
          </a:prstGeom>
          <a:noFill/>
          <a:ln/>
        </p:spPr>
        <p:txBody>
          <a:bodyPr wrap="square" lIns="0" tIns="0" rIns="0" bIns="0" rtlCol="0" anchor="t"/>
          <a:lstStyle/>
          <a:p>
            <a:pPr algn="l" indent="0" marL="0">
              <a:buNone/>
            </a:pPr>
            <a:r>
              <a:rPr lang="en-US" sz="1100" b="1" spc="200" kern="0" dirty="0">
                <a:solidFill>
                  <a:srgbClr val="9AA7B5"/>
                </a:solidFill>
                <a:latin typeface="Arial" pitchFamily="34" charset="0"/>
                <a:ea typeface="Arial" pitchFamily="34" charset="-122"/>
                <a:cs typeface="Arial" pitchFamily="34" charset="-120"/>
              </a:rPr>
              <a:t>THE ELEVEN STAGES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10634472" cy="310896"/>
          </a:xfrm>
          <a:prstGeom prst="rect">
            <a:avLst/>
          </a:prstGeom>
          <a:noFill/>
          <a:ln/>
        </p:spPr>
        <p:txBody>
          <a:bodyPr wrap="square" lIns="0" tIns="0" rIns="0" bIns="0" rtlCol="0" anchor="t"/>
          <a:lstStyle/>
          <a:p>
            <a:pPr algn="l" indent="0" marL="0">
              <a:buNone/>
            </a:pPr>
            <a:r>
              <a:rPr lang="en-US" sz="1300" b="1" spc="200" kern="0" dirty="0">
                <a:solidFill>
                  <a:srgbClr val="1A5FB4"/>
                </a:solidFill>
                <a:latin typeface="Arial" pitchFamily="34" charset="0"/>
                <a:ea typeface="Arial" pitchFamily="34" charset="-122"/>
                <a:cs typeface="Arial" pitchFamily="34" charset="-120"/>
              </a:rPr>
              <a:t>STAGE 7 OF 11</a:t>
            </a:r>
            <a:endParaRPr lang="en-US" sz="1300" dirty="0"/>
          </a:p>
        </p:txBody>
      </p:sp>
      <p:sp>
        <p:nvSpPr>
          <p:cNvPr id="3" name="Shape 1"/>
          <p:cNvSpPr/>
          <p:nvPr/>
        </p:nvSpPr>
        <p:spPr>
          <a:xfrm>
            <a:off x="777240" y="1051560"/>
            <a:ext cx="960120" cy="960120"/>
          </a:xfrm>
          <a:prstGeom prst="ellipse">
            <a:avLst/>
          </a:prstGeom>
          <a:solidFill>
            <a:srgbClr val="1A5FB4"/>
          </a:solidFill>
          <a:ln/>
        </p:spPr>
      </p:sp>
      <p:sp>
        <p:nvSpPr>
          <p:cNvPr id="4" name="Text 2"/>
          <p:cNvSpPr txBox="1"/>
          <p:nvPr/>
        </p:nvSpPr>
        <p:spPr>
          <a:xfrm>
            <a:off x="777240" y="1051560"/>
            <a:ext cx="960120" cy="960120"/>
          </a:xfrm>
          <a:prstGeom prst="rect">
            <a:avLst/>
          </a:prstGeom>
          <a:noFill/>
          <a:ln/>
        </p:spPr>
        <p:txBody>
          <a:bodyPr wrap="square" lIns="0" tIns="0" rIns="0" bIns="0" rtlCol="0" anchor="ctr"/>
          <a:lstStyle/>
          <a:p>
            <a:pPr algn="ctr" indent="0" marL="0">
              <a:buNone/>
            </a:pPr>
            <a:r>
              <a:rPr lang="en-US" sz="2700" b="1" dirty="0">
                <a:solidFill>
                  <a:srgbClr val="FFFFFF"/>
                </a:solidFill>
                <a:latin typeface="Arial" pitchFamily="34" charset="0"/>
                <a:ea typeface="Arial" pitchFamily="34" charset="-122"/>
                <a:cs typeface="Arial" pitchFamily="34" charset="-120"/>
              </a:rPr>
              <a:t>7</a:t>
            </a:r>
            <a:endParaRPr lang="en-US" sz="2700" dirty="0"/>
          </a:p>
        </p:txBody>
      </p:sp>
      <p:sp>
        <p:nvSpPr>
          <p:cNvPr id="5" name="Text 3"/>
          <p:cNvSpPr txBox="1"/>
          <p:nvPr/>
        </p:nvSpPr>
        <p:spPr>
          <a:xfrm>
            <a:off x="2011680" y="1097280"/>
            <a:ext cx="9400032" cy="868680"/>
          </a:xfrm>
          <a:prstGeom prst="rect">
            <a:avLst/>
          </a:prstGeom>
          <a:noFill/>
          <a:ln/>
        </p:spPr>
        <p:txBody>
          <a:bodyPr wrap="square" lIns="0" tIns="0" rIns="0" bIns="0" rtlCol="0" anchor="t"/>
          <a:lstStyle/>
          <a:p>
            <a:pPr algn="l" indent="0" marL="0">
              <a:buNone/>
            </a:pPr>
            <a:r>
              <a:rPr lang="en-US" sz="3800" b="1" dirty="0">
                <a:solidFill>
                  <a:srgbClr val="10243A"/>
                </a:solidFill>
                <a:latin typeface="Arial" pitchFamily="34" charset="0"/>
                <a:ea typeface="Arial" pitchFamily="34" charset="-122"/>
                <a:cs typeface="Arial" pitchFamily="34" charset="-120"/>
              </a:rPr>
              <a:t>Arraignment</a:t>
            </a:r>
            <a:endParaRPr lang="en-US" sz="3800" dirty="0"/>
          </a:p>
        </p:txBody>
      </p:sp>
      <p:sp>
        <p:nvSpPr>
          <p:cNvPr id="6" name="Text 4"/>
          <p:cNvSpPr txBox="1"/>
          <p:nvPr/>
        </p:nvSpPr>
        <p:spPr>
          <a:xfrm>
            <a:off x="2011680" y="2331720"/>
            <a:ext cx="9400032" cy="2377440"/>
          </a:xfrm>
          <a:prstGeom prst="rect">
            <a:avLst/>
          </a:prstGeom>
          <a:noFill/>
          <a:ln/>
        </p:spPr>
        <p:txBody>
          <a:bodyPr wrap="square" lIns="0" tIns="0" rIns="0" bIns="0" rtlCol="0" anchor="t"/>
          <a:lstStyle/>
          <a:p>
            <a:pPr algn="l" indent="0" marL="0">
              <a:lnSpc>
                <a:spcPts val="3500"/>
              </a:lnSpc>
              <a:buNone/>
            </a:pPr>
            <a:r>
              <a:rPr lang="en-US" sz="2400" dirty="0">
                <a:solidFill>
                  <a:srgbClr val="1B1B1B"/>
                </a:solidFill>
                <a:latin typeface="Arial" pitchFamily="34" charset="0"/>
                <a:ea typeface="Arial" pitchFamily="34" charset="-122"/>
                <a:cs typeface="Arial" pitchFamily="34" charset="-120"/>
              </a:rPr>
              <a:t>The defendant is formally told the charge and enters a plea — guilty, not guilty, or no contest.</a:t>
            </a:r>
            <a:endParaRPr lang="en-US" sz="2400" dirty="0"/>
          </a:p>
        </p:txBody>
      </p:sp>
      <p:sp>
        <p:nvSpPr>
          <p:cNvPr id="7" name="Shape 5"/>
          <p:cNvSpPr/>
          <p:nvPr/>
        </p:nvSpPr>
        <p:spPr>
          <a:xfrm>
            <a:off x="777240" y="5349240"/>
            <a:ext cx="384048" cy="384048"/>
          </a:xfrm>
          <a:prstGeom prst="ellipse">
            <a:avLst/>
          </a:prstGeom>
          <a:solidFill>
            <a:srgbClr val="C6D6EA"/>
          </a:solidFill>
          <a:ln/>
        </p:spPr>
      </p:sp>
      <p:sp>
        <p:nvSpPr>
          <p:cNvPr id="8" name="Text 6"/>
          <p:cNvSpPr txBox="1"/>
          <p:nvPr/>
        </p:nvSpPr>
        <p:spPr>
          <a:xfrm>
            <a:off x="777240"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1</a:t>
            </a:r>
            <a:endParaRPr lang="en-US" sz="1200" dirty="0"/>
          </a:p>
        </p:txBody>
      </p:sp>
      <p:sp>
        <p:nvSpPr>
          <p:cNvPr id="9" name="Shape 7"/>
          <p:cNvSpPr/>
          <p:nvPr/>
        </p:nvSpPr>
        <p:spPr>
          <a:xfrm>
            <a:off x="1802282" y="5349240"/>
            <a:ext cx="384048" cy="384048"/>
          </a:xfrm>
          <a:prstGeom prst="ellipse">
            <a:avLst/>
          </a:prstGeom>
          <a:solidFill>
            <a:srgbClr val="C6D6EA"/>
          </a:solidFill>
          <a:ln/>
        </p:spPr>
      </p:sp>
      <p:sp>
        <p:nvSpPr>
          <p:cNvPr id="10" name="Text 8"/>
          <p:cNvSpPr txBox="1"/>
          <p:nvPr/>
        </p:nvSpPr>
        <p:spPr>
          <a:xfrm>
            <a:off x="1802282"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2</a:t>
            </a:r>
            <a:endParaRPr lang="en-US" sz="1200" dirty="0"/>
          </a:p>
        </p:txBody>
      </p:sp>
      <p:sp>
        <p:nvSpPr>
          <p:cNvPr id="11" name="Shape 9"/>
          <p:cNvSpPr/>
          <p:nvPr/>
        </p:nvSpPr>
        <p:spPr>
          <a:xfrm>
            <a:off x="2827325" y="5349240"/>
            <a:ext cx="384048" cy="384048"/>
          </a:xfrm>
          <a:prstGeom prst="ellipse">
            <a:avLst/>
          </a:prstGeom>
          <a:solidFill>
            <a:srgbClr val="C6D6EA"/>
          </a:solidFill>
          <a:ln/>
        </p:spPr>
      </p:sp>
      <p:sp>
        <p:nvSpPr>
          <p:cNvPr id="12" name="Text 10"/>
          <p:cNvSpPr txBox="1"/>
          <p:nvPr/>
        </p:nvSpPr>
        <p:spPr>
          <a:xfrm>
            <a:off x="2827325"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3</a:t>
            </a:r>
            <a:endParaRPr lang="en-US" sz="1200" dirty="0"/>
          </a:p>
        </p:txBody>
      </p:sp>
      <p:sp>
        <p:nvSpPr>
          <p:cNvPr id="13" name="Shape 11"/>
          <p:cNvSpPr/>
          <p:nvPr/>
        </p:nvSpPr>
        <p:spPr>
          <a:xfrm>
            <a:off x="3852367" y="5349240"/>
            <a:ext cx="384048" cy="384048"/>
          </a:xfrm>
          <a:prstGeom prst="ellipse">
            <a:avLst/>
          </a:prstGeom>
          <a:solidFill>
            <a:srgbClr val="C6D6EA"/>
          </a:solidFill>
          <a:ln/>
        </p:spPr>
      </p:sp>
      <p:sp>
        <p:nvSpPr>
          <p:cNvPr id="14" name="Text 12"/>
          <p:cNvSpPr txBox="1"/>
          <p:nvPr/>
        </p:nvSpPr>
        <p:spPr>
          <a:xfrm>
            <a:off x="3852367"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4</a:t>
            </a:r>
            <a:endParaRPr lang="en-US" sz="1200" dirty="0"/>
          </a:p>
        </p:txBody>
      </p:sp>
      <p:sp>
        <p:nvSpPr>
          <p:cNvPr id="15" name="Shape 13"/>
          <p:cNvSpPr/>
          <p:nvPr/>
        </p:nvSpPr>
        <p:spPr>
          <a:xfrm>
            <a:off x="4877410" y="5349240"/>
            <a:ext cx="384048" cy="384048"/>
          </a:xfrm>
          <a:prstGeom prst="ellipse">
            <a:avLst/>
          </a:prstGeom>
          <a:solidFill>
            <a:srgbClr val="C6D6EA"/>
          </a:solidFill>
          <a:ln/>
        </p:spPr>
      </p:sp>
      <p:sp>
        <p:nvSpPr>
          <p:cNvPr id="16" name="Text 14"/>
          <p:cNvSpPr txBox="1"/>
          <p:nvPr/>
        </p:nvSpPr>
        <p:spPr>
          <a:xfrm>
            <a:off x="4877410"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5</a:t>
            </a:r>
            <a:endParaRPr lang="en-US" sz="1200" dirty="0"/>
          </a:p>
        </p:txBody>
      </p:sp>
      <p:sp>
        <p:nvSpPr>
          <p:cNvPr id="17" name="Shape 15"/>
          <p:cNvSpPr/>
          <p:nvPr/>
        </p:nvSpPr>
        <p:spPr>
          <a:xfrm>
            <a:off x="5902452" y="5349240"/>
            <a:ext cx="384048" cy="384048"/>
          </a:xfrm>
          <a:prstGeom prst="ellipse">
            <a:avLst/>
          </a:prstGeom>
          <a:solidFill>
            <a:srgbClr val="C6D6EA"/>
          </a:solidFill>
          <a:ln/>
        </p:spPr>
      </p:sp>
      <p:sp>
        <p:nvSpPr>
          <p:cNvPr id="18" name="Text 16"/>
          <p:cNvSpPr txBox="1"/>
          <p:nvPr/>
        </p:nvSpPr>
        <p:spPr>
          <a:xfrm>
            <a:off x="5902452"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6</a:t>
            </a:r>
            <a:endParaRPr lang="en-US" sz="1200" dirty="0"/>
          </a:p>
        </p:txBody>
      </p:sp>
      <p:sp>
        <p:nvSpPr>
          <p:cNvPr id="19" name="Shape 17"/>
          <p:cNvSpPr/>
          <p:nvPr/>
        </p:nvSpPr>
        <p:spPr>
          <a:xfrm>
            <a:off x="6927494" y="5349240"/>
            <a:ext cx="384048" cy="384048"/>
          </a:xfrm>
          <a:prstGeom prst="ellipse">
            <a:avLst/>
          </a:prstGeom>
          <a:solidFill>
            <a:srgbClr val="1A5FB4"/>
          </a:solidFill>
          <a:ln/>
        </p:spPr>
      </p:sp>
      <p:sp>
        <p:nvSpPr>
          <p:cNvPr id="20" name="Text 18"/>
          <p:cNvSpPr txBox="1"/>
          <p:nvPr/>
        </p:nvSpPr>
        <p:spPr>
          <a:xfrm>
            <a:off x="6927494" y="53492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7</a:t>
            </a:r>
            <a:endParaRPr lang="en-US" sz="1200" dirty="0"/>
          </a:p>
        </p:txBody>
      </p:sp>
      <p:sp>
        <p:nvSpPr>
          <p:cNvPr id="21" name="Shape 19"/>
          <p:cNvSpPr/>
          <p:nvPr/>
        </p:nvSpPr>
        <p:spPr>
          <a:xfrm>
            <a:off x="7952537" y="5349240"/>
            <a:ext cx="384048" cy="384048"/>
          </a:xfrm>
          <a:prstGeom prst="ellipse">
            <a:avLst/>
          </a:prstGeom>
          <a:solidFill>
            <a:srgbClr val="E8EDF3"/>
          </a:solidFill>
          <a:ln/>
        </p:spPr>
      </p:sp>
      <p:sp>
        <p:nvSpPr>
          <p:cNvPr id="22" name="Text 20"/>
          <p:cNvSpPr txBox="1"/>
          <p:nvPr/>
        </p:nvSpPr>
        <p:spPr>
          <a:xfrm>
            <a:off x="7952537"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8</a:t>
            </a:r>
            <a:endParaRPr lang="en-US" sz="1200" dirty="0"/>
          </a:p>
        </p:txBody>
      </p:sp>
      <p:sp>
        <p:nvSpPr>
          <p:cNvPr id="23" name="Shape 21"/>
          <p:cNvSpPr/>
          <p:nvPr/>
        </p:nvSpPr>
        <p:spPr>
          <a:xfrm>
            <a:off x="8977579" y="5349240"/>
            <a:ext cx="384048" cy="384048"/>
          </a:xfrm>
          <a:prstGeom prst="ellipse">
            <a:avLst/>
          </a:prstGeom>
          <a:solidFill>
            <a:srgbClr val="E8EDF3"/>
          </a:solidFill>
          <a:ln/>
        </p:spPr>
      </p:sp>
      <p:sp>
        <p:nvSpPr>
          <p:cNvPr id="24" name="Text 22"/>
          <p:cNvSpPr txBox="1"/>
          <p:nvPr/>
        </p:nvSpPr>
        <p:spPr>
          <a:xfrm>
            <a:off x="8977579"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9</a:t>
            </a:r>
            <a:endParaRPr lang="en-US" sz="1200" dirty="0"/>
          </a:p>
        </p:txBody>
      </p:sp>
      <p:sp>
        <p:nvSpPr>
          <p:cNvPr id="25" name="Shape 23"/>
          <p:cNvSpPr/>
          <p:nvPr/>
        </p:nvSpPr>
        <p:spPr>
          <a:xfrm>
            <a:off x="10002622" y="5349240"/>
            <a:ext cx="384048" cy="384048"/>
          </a:xfrm>
          <a:prstGeom prst="ellipse">
            <a:avLst/>
          </a:prstGeom>
          <a:solidFill>
            <a:srgbClr val="E8EDF3"/>
          </a:solidFill>
          <a:ln/>
        </p:spPr>
      </p:sp>
      <p:sp>
        <p:nvSpPr>
          <p:cNvPr id="26" name="Text 24"/>
          <p:cNvSpPr txBox="1"/>
          <p:nvPr/>
        </p:nvSpPr>
        <p:spPr>
          <a:xfrm>
            <a:off x="10002622"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10</a:t>
            </a:r>
            <a:endParaRPr lang="en-US" sz="1200" dirty="0"/>
          </a:p>
        </p:txBody>
      </p:sp>
      <p:sp>
        <p:nvSpPr>
          <p:cNvPr id="27" name="Shape 25"/>
          <p:cNvSpPr/>
          <p:nvPr/>
        </p:nvSpPr>
        <p:spPr>
          <a:xfrm>
            <a:off x="11027664" y="5349240"/>
            <a:ext cx="384048" cy="384048"/>
          </a:xfrm>
          <a:prstGeom prst="ellipse">
            <a:avLst/>
          </a:prstGeom>
          <a:solidFill>
            <a:srgbClr val="E8EDF3"/>
          </a:solidFill>
          <a:ln/>
        </p:spPr>
      </p:sp>
      <p:sp>
        <p:nvSpPr>
          <p:cNvPr id="28" name="Text 26"/>
          <p:cNvSpPr txBox="1"/>
          <p:nvPr/>
        </p:nvSpPr>
        <p:spPr>
          <a:xfrm>
            <a:off x="11027664"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11</a:t>
            </a:r>
            <a:endParaRPr lang="en-US" sz="1200" dirty="0"/>
          </a:p>
        </p:txBody>
      </p:sp>
      <p:sp>
        <p:nvSpPr>
          <p:cNvPr id="29" name="Text 27"/>
          <p:cNvSpPr txBox="1"/>
          <p:nvPr/>
        </p:nvSpPr>
        <p:spPr>
          <a:xfrm>
            <a:off x="777240" y="5852160"/>
            <a:ext cx="10634472" cy="274320"/>
          </a:xfrm>
          <a:prstGeom prst="rect">
            <a:avLst/>
          </a:prstGeom>
          <a:noFill/>
          <a:ln/>
        </p:spPr>
        <p:txBody>
          <a:bodyPr wrap="square" lIns="0" tIns="0" rIns="0" bIns="0" rtlCol="0" anchor="t"/>
          <a:lstStyle/>
          <a:p>
            <a:pPr algn="l" indent="0" marL="0">
              <a:buNone/>
            </a:pPr>
            <a:r>
              <a:rPr lang="en-US" sz="1100" b="1" spc="200" kern="0" dirty="0">
                <a:solidFill>
                  <a:srgbClr val="9AA7B5"/>
                </a:solidFill>
                <a:latin typeface="Arial" pitchFamily="34" charset="0"/>
                <a:ea typeface="Arial" pitchFamily="34" charset="-122"/>
                <a:cs typeface="Arial" pitchFamily="34" charset="-120"/>
              </a:rPr>
              <a:t>THE ELEVEN STAGES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10634472" cy="310896"/>
          </a:xfrm>
          <a:prstGeom prst="rect">
            <a:avLst/>
          </a:prstGeom>
          <a:noFill/>
          <a:ln/>
        </p:spPr>
        <p:txBody>
          <a:bodyPr wrap="square" lIns="0" tIns="0" rIns="0" bIns="0" rtlCol="0" anchor="t"/>
          <a:lstStyle/>
          <a:p>
            <a:pPr algn="l" indent="0" marL="0">
              <a:buNone/>
            </a:pPr>
            <a:r>
              <a:rPr lang="en-US" sz="1300" b="1" spc="200" kern="0" dirty="0">
                <a:solidFill>
                  <a:srgbClr val="1A5FB4"/>
                </a:solidFill>
                <a:latin typeface="Arial" pitchFamily="34" charset="0"/>
                <a:ea typeface="Arial" pitchFamily="34" charset="-122"/>
                <a:cs typeface="Arial" pitchFamily="34" charset="-120"/>
              </a:rPr>
              <a:t>STAGE 8 OF 11</a:t>
            </a:r>
            <a:endParaRPr lang="en-US" sz="1300" dirty="0"/>
          </a:p>
        </p:txBody>
      </p:sp>
      <p:sp>
        <p:nvSpPr>
          <p:cNvPr id="3" name="Shape 1"/>
          <p:cNvSpPr/>
          <p:nvPr/>
        </p:nvSpPr>
        <p:spPr>
          <a:xfrm>
            <a:off x="777240" y="1051560"/>
            <a:ext cx="960120" cy="960120"/>
          </a:xfrm>
          <a:prstGeom prst="ellipse">
            <a:avLst/>
          </a:prstGeom>
          <a:solidFill>
            <a:srgbClr val="1A5FB4"/>
          </a:solidFill>
          <a:ln/>
        </p:spPr>
      </p:sp>
      <p:sp>
        <p:nvSpPr>
          <p:cNvPr id="4" name="Text 2"/>
          <p:cNvSpPr txBox="1"/>
          <p:nvPr/>
        </p:nvSpPr>
        <p:spPr>
          <a:xfrm>
            <a:off x="777240" y="1051560"/>
            <a:ext cx="960120" cy="960120"/>
          </a:xfrm>
          <a:prstGeom prst="rect">
            <a:avLst/>
          </a:prstGeom>
          <a:noFill/>
          <a:ln/>
        </p:spPr>
        <p:txBody>
          <a:bodyPr wrap="square" lIns="0" tIns="0" rIns="0" bIns="0" rtlCol="0" anchor="ctr"/>
          <a:lstStyle/>
          <a:p>
            <a:pPr algn="ctr" indent="0" marL="0">
              <a:buNone/>
            </a:pPr>
            <a:r>
              <a:rPr lang="en-US" sz="2700" b="1" dirty="0">
                <a:solidFill>
                  <a:srgbClr val="FFFFFF"/>
                </a:solidFill>
                <a:latin typeface="Arial" pitchFamily="34" charset="0"/>
                <a:ea typeface="Arial" pitchFamily="34" charset="-122"/>
                <a:cs typeface="Arial" pitchFamily="34" charset="-120"/>
              </a:rPr>
              <a:t>8</a:t>
            </a:r>
            <a:endParaRPr lang="en-US" sz="2700" dirty="0"/>
          </a:p>
        </p:txBody>
      </p:sp>
      <p:sp>
        <p:nvSpPr>
          <p:cNvPr id="5" name="Text 3"/>
          <p:cNvSpPr txBox="1"/>
          <p:nvPr/>
        </p:nvSpPr>
        <p:spPr>
          <a:xfrm>
            <a:off x="2011680" y="1097280"/>
            <a:ext cx="9400032" cy="868680"/>
          </a:xfrm>
          <a:prstGeom prst="rect">
            <a:avLst/>
          </a:prstGeom>
          <a:noFill/>
          <a:ln/>
        </p:spPr>
        <p:txBody>
          <a:bodyPr wrap="square" lIns="0" tIns="0" rIns="0" bIns="0" rtlCol="0" anchor="t"/>
          <a:lstStyle/>
          <a:p>
            <a:pPr algn="l" indent="0" marL="0">
              <a:buNone/>
            </a:pPr>
            <a:r>
              <a:rPr lang="en-US" sz="3800" b="1" dirty="0">
                <a:solidFill>
                  <a:srgbClr val="10243A"/>
                </a:solidFill>
                <a:latin typeface="Arial" pitchFamily="34" charset="0"/>
                <a:ea typeface="Arial" pitchFamily="34" charset="-122"/>
                <a:cs typeface="Arial" pitchFamily="34" charset="-120"/>
              </a:rPr>
              <a:t>Pretrial</a:t>
            </a:r>
            <a:endParaRPr lang="en-US" sz="3800" dirty="0"/>
          </a:p>
        </p:txBody>
      </p:sp>
      <p:sp>
        <p:nvSpPr>
          <p:cNvPr id="6" name="Text 4"/>
          <p:cNvSpPr txBox="1"/>
          <p:nvPr/>
        </p:nvSpPr>
        <p:spPr>
          <a:xfrm>
            <a:off x="2011680" y="2331720"/>
            <a:ext cx="9400032" cy="2377440"/>
          </a:xfrm>
          <a:prstGeom prst="rect">
            <a:avLst/>
          </a:prstGeom>
          <a:noFill/>
          <a:ln/>
        </p:spPr>
        <p:txBody>
          <a:bodyPr wrap="square" lIns="0" tIns="0" rIns="0" bIns="0" rtlCol="0" anchor="t"/>
          <a:lstStyle/>
          <a:p>
            <a:pPr algn="l" indent="0" marL="0">
              <a:lnSpc>
                <a:spcPts val="3500"/>
              </a:lnSpc>
              <a:buNone/>
            </a:pPr>
            <a:r>
              <a:rPr lang="en-US" sz="2400" dirty="0">
                <a:solidFill>
                  <a:srgbClr val="1B1B1B"/>
                </a:solidFill>
                <a:latin typeface="Arial" pitchFamily="34" charset="0"/>
                <a:ea typeface="Arial" pitchFamily="34" charset="-122"/>
                <a:cs typeface="Arial" pitchFamily="34" charset="-120"/>
              </a:rPr>
              <a:t>Both sides exchange evidence. The defense may move to suppress. Most cases end right here in a plea agreement.</a:t>
            </a:r>
            <a:endParaRPr lang="en-US" sz="2400" dirty="0"/>
          </a:p>
        </p:txBody>
      </p:sp>
      <p:sp>
        <p:nvSpPr>
          <p:cNvPr id="7" name="Shape 5"/>
          <p:cNvSpPr/>
          <p:nvPr/>
        </p:nvSpPr>
        <p:spPr>
          <a:xfrm>
            <a:off x="777240" y="5349240"/>
            <a:ext cx="384048" cy="384048"/>
          </a:xfrm>
          <a:prstGeom prst="ellipse">
            <a:avLst/>
          </a:prstGeom>
          <a:solidFill>
            <a:srgbClr val="C6D6EA"/>
          </a:solidFill>
          <a:ln/>
        </p:spPr>
      </p:sp>
      <p:sp>
        <p:nvSpPr>
          <p:cNvPr id="8" name="Text 6"/>
          <p:cNvSpPr txBox="1"/>
          <p:nvPr/>
        </p:nvSpPr>
        <p:spPr>
          <a:xfrm>
            <a:off x="777240"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1</a:t>
            </a:r>
            <a:endParaRPr lang="en-US" sz="1200" dirty="0"/>
          </a:p>
        </p:txBody>
      </p:sp>
      <p:sp>
        <p:nvSpPr>
          <p:cNvPr id="9" name="Shape 7"/>
          <p:cNvSpPr/>
          <p:nvPr/>
        </p:nvSpPr>
        <p:spPr>
          <a:xfrm>
            <a:off x="1802282" y="5349240"/>
            <a:ext cx="384048" cy="384048"/>
          </a:xfrm>
          <a:prstGeom prst="ellipse">
            <a:avLst/>
          </a:prstGeom>
          <a:solidFill>
            <a:srgbClr val="C6D6EA"/>
          </a:solidFill>
          <a:ln/>
        </p:spPr>
      </p:sp>
      <p:sp>
        <p:nvSpPr>
          <p:cNvPr id="10" name="Text 8"/>
          <p:cNvSpPr txBox="1"/>
          <p:nvPr/>
        </p:nvSpPr>
        <p:spPr>
          <a:xfrm>
            <a:off x="1802282"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2</a:t>
            </a:r>
            <a:endParaRPr lang="en-US" sz="1200" dirty="0"/>
          </a:p>
        </p:txBody>
      </p:sp>
      <p:sp>
        <p:nvSpPr>
          <p:cNvPr id="11" name="Shape 9"/>
          <p:cNvSpPr/>
          <p:nvPr/>
        </p:nvSpPr>
        <p:spPr>
          <a:xfrm>
            <a:off x="2827325" y="5349240"/>
            <a:ext cx="384048" cy="384048"/>
          </a:xfrm>
          <a:prstGeom prst="ellipse">
            <a:avLst/>
          </a:prstGeom>
          <a:solidFill>
            <a:srgbClr val="C6D6EA"/>
          </a:solidFill>
          <a:ln/>
        </p:spPr>
      </p:sp>
      <p:sp>
        <p:nvSpPr>
          <p:cNvPr id="12" name="Text 10"/>
          <p:cNvSpPr txBox="1"/>
          <p:nvPr/>
        </p:nvSpPr>
        <p:spPr>
          <a:xfrm>
            <a:off x="2827325"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3</a:t>
            </a:r>
            <a:endParaRPr lang="en-US" sz="1200" dirty="0"/>
          </a:p>
        </p:txBody>
      </p:sp>
      <p:sp>
        <p:nvSpPr>
          <p:cNvPr id="13" name="Shape 11"/>
          <p:cNvSpPr/>
          <p:nvPr/>
        </p:nvSpPr>
        <p:spPr>
          <a:xfrm>
            <a:off x="3852367" y="5349240"/>
            <a:ext cx="384048" cy="384048"/>
          </a:xfrm>
          <a:prstGeom prst="ellipse">
            <a:avLst/>
          </a:prstGeom>
          <a:solidFill>
            <a:srgbClr val="C6D6EA"/>
          </a:solidFill>
          <a:ln/>
        </p:spPr>
      </p:sp>
      <p:sp>
        <p:nvSpPr>
          <p:cNvPr id="14" name="Text 12"/>
          <p:cNvSpPr txBox="1"/>
          <p:nvPr/>
        </p:nvSpPr>
        <p:spPr>
          <a:xfrm>
            <a:off x="3852367"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4</a:t>
            </a:r>
            <a:endParaRPr lang="en-US" sz="1200" dirty="0"/>
          </a:p>
        </p:txBody>
      </p:sp>
      <p:sp>
        <p:nvSpPr>
          <p:cNvPr id="15" name="Shape 13"/>
          <p:cNvSpPr/>
          <p:nvPr/>
        </p:nvSpPr>
        <p:spPr>
          <a:xfrm>
            <a:off x="4877410" y="5349240"/>
            <a:ext cx="384048" cy="384048"/>
          </a:xfrm>
          <a:prstGeom prst="ellipse">
            <a:avLst/>
          </a:prstGeom>
          <a:solidFill>
            <a:srgbClr val="C6D6EA"/>
          </a:solidFill>
          <a:ln/>
        </p:spPr>
      </p:sp>
      <p:sp>
        <p:nvSpPr>
          <p:cNvPr id="16" name="Text 14"/>
          <p:cNvSpPr txBox="1"/>
          <p:nvPr/>
        </p:nvSpPr>
        <p:spPr>
          <a:xfrm>
            <a:off x="4877410"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5</a:t>
            </a:r>
            <a:endParaRPr lang="en-US" sz="1200" dirty="0"/>
          </a:p>
        </p:txBody>
      </p:sp>
      <p:sp>
        <p:nvSpPr>
          <p:cNvPr id="17" name="Shape 15"/>
          <p:cNvSpPr/>
          <p:nvPr/>
        </p:nvSpPr>
        <p:spPr>
          <a:xfrm>
            <a:off x="5902452" y="5349240"/>
            <a:ext cx="384048" cy="384048"/>
          </a:xfrm>
          <a:prstGeom prst="ellipse">
            <a:avLst/>
          </a:prstGeom>
          <a:solidFill>
            <a:srgbClr val="C6D6EA"/>
          </a:solidFill>
          <a:ln/>
        </p:spPr>
      </p:sp>
      <p:sp>
        <p:nvSpPr>
          <p:cNvPr id="18" name="Text 16"/>
          <p:cNvSpPr txBox="1"/>
          <p:nvPr/>
        </p:nvSpPr>
        <p:spPr>
          <a:xfrm>
            <a:off x="5902452"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6</a:t>
            </a:r>
            <a:endParaRPr lang="en-US" sz="1200" dirty="0"/>
          </a:p>
        </p:txBody>
      </p:sp>
      <p:sp>
        <p:nvSpPr>
          <p:cNvPr id="19" name="Shape 17"/>
          <p:cNvSpPr/>
          <p:nvPr/>
        </p:nvSpPr>
        <p:spPr>
          <a:xfrm>
            <a:off x="6927494" y="5349240"/>
            <a:ext cx="384048" cy="384048"/>
          </a:xfrm>
          <a:prstGeom prst="ellipse">
            <a:avLst/>
          </a:prstGeom>
          <a:solidFill>
            <a:srgbClr val="C6D6EA"/>
          </a:solidFill>
          <a:ln/>
        </p:spPr>
      </p:sp>
      <p:sp>
        <p:nvSpPr>
          <p:cNvPr id="20" name="Text 18"/>
          <p:cNvSpPr txBox="1"/>
          <p:nvPr/>
        </p:nvSpPr>
        <p:spPr>
          <a:xfrm>
            <a:off x="6927494"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7</a:t>
            </a:r>
            <a:endParaRPr lang="en-US" sz="1200" dirty="0"/>
          </a:p>
        </p:txBody>
      </p:sp>
      <p:sp>
        <p:nvSpPr>
          <p:cNvPr id="21" name="Shape 19"/>
          <p:cNvSpPr/>
          <p:nvPr/>
        </p:nvSpPr>
        <p:spPr>
          <a:xfrm>
            <a:off x="7952537" y="5349240"/>
            <a:ext cx="384048" cy="384048"/>
          </a:xfrm>
          <a:prstGeom prst="ellipse">
            <a:avLst/>
          </a:prstGeom>
          <a:solidFill>
            <a:srgbClr val="1A5FB4"/>
          </a:solidFill>
          <a:ln/>
        </p:spPr>
      </p:sp>
      <p:sp>
        <p:nvSpPr>
          <p:cNvPr id="22" name="Text 20"/>
          <p:cNvSpPr txBox="1"/>
          <p:nvPr/>
        </p:nvSpPr>
        <p:spPr>
          <a:xfrm>
            <a:off x="7952537" y="53492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8</a:t>
            </a:r>
            <a:endParaRPr lang="en-US" sz="1200" dirty="0"/>
          </a:p>
        </p:txBody>
      </p:sp>
      <p:sp>
        <p:nvSpPr>
          <p:cNvPr id="23" name="Shape 21"/>
          <p:cNvSpPr/>
          <p:nvPr/>
        </p:nvSpPr>
        <p:spPr>
          <a:xfrm>
            <a:off x="8977579" y="5349240"/>
            <a:ext cx="384048" cy="384048"/>
          </a:xfrm>
          <a:prstGeom prst="ellipse">
            <a:avLst/>
          </a:prstGeom>
          <a:solidFill>
            <a:srgbClr val="E8EDF3"/>
          </a:solidFill>
          <a:ln/>
        </p:spPr>
      </p:sp>
      <p:sp>
        <p:nvSpPr>
          <p:cNvPr id="24" name="Text 22"/>
          <p:cNvSpPr txBox="1"/>
          <p:nvPr/>
        </p:nvSpPr>
        <p:spPr>
          <a:xfrm>
            <a:off x="8977579"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9</a:t>
            </a:r>
            <a:endParaRPr lang="en-US" sz="1200" dirty="0"/>
          </a:p>
        </p:txBody>
      </p:sp>
      <p:sp>
        <p:nvSpPr>
          <p:cNvPr id="25" name="Shape 23"/>
          <p:cNvSpPr/>
          <p:nvPr/>
        </p:nvSpPr>
        <p:spPr>
          <a:xfrm>
            <a:off x="10002622" y="5349240"/>
            <a:ext cx="384048" cy="384048"/>
          </a:xfrm>
          <a:prstGeom prst="ellipse">
            <a:avLst/>
          </a:prstGeom>
          <a:solidFill>
            <a:srgbClr val="E8EDF3"/>
          </a:solidFill>
          <a:ln/>
        </p:spPr>
      </p:sp>
      <p:sp>
        <p:nvSpPr>
          <p:cNvPr id="26" name="Text 24"/>
          <p:cNvSpPr txBox="1"/>
          <p:nvPr/>
        </p:nvSpPr>
        <p:spPr>
          <a:xfrm>
            <a:off x="10002622"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10</a:t>
            </a:r>
            <a:endParaRPr lang="en-US" sz="1200" dirty="0"/>
          </a:p>
        </p:txBody>
      </p:sp>
      <p:sp>
        <p:nvSpPr>
          <p:cNvPr id="27" name="Shape 25"/>
          <p:cNvSpPr/>
          <p:nvPr/>
        </p:nvSpPr>
        <p:spPr>
          <a:xfrm>
            <a:off x="11027664" y="5349240"/>
            <a:ext cx="384048" cy="384048"/>
          </a:xfrm>
          <a:prstGeom prst="ellipse">
            <a:avLst/>
          </a:prstGeom>
          <a:solidFill>
            <a:srgbClr val="E8EDF3"/>
          </a:solidFill>
          <a:ln/>
        </p:spPr>
      </p:sp>
      <p:sp>
        <p:nvSpPr>
          <p:cNvPr id="28" name="Text 26"/>
          <p:cNvSpPr txBox="1"/>
          <p:nvPr/>
        </p:nvSpPr>
        <p:spPr>
          <a:xfrm>
            <a:off x="11027664"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11</a:t>
            </a:r>
            <a:endParaRPr lang="en-US" sz="1200" dirty="0"/>
          </a:p>
        </p:txBody>
      </p:sp>
      <p:sp>
        <p:nvSpPr>
          <p:cNvPr id="29" name="Text 27"/>
          <p:cNvSpPr txBox="1"/>
          <p:nvPr/>
        </p:nvSpPr>
        <p:spPr>
          <a:xfrm>
            <a:off x="777240" y="5852160"/>
            <a:ext cx="10634472" cy="274320"/>
          </a:xfrm>
          <a:prstGeom prst="rect">
            <a:avLst/>
          </a:prstGeom>
          <a:noFill/>
          <a:ln/>
        </p:spPr>
        <p:txBody>
          <a:bodyPr wrap="square" lIns="0" tIns="0" rIns="0" bIns="0" rtlCol="0" anchor="t"/>
          <a:lstStyle/>
          <a:p>
            <a:pPr algn="l" indent="0" marL="0">
              <a:buNone/>
            </a:pPr>
            <a:r>
              <a:rPr lang="en-US" sz="1100" b="1" spc="200" kern="0" dirty="0">
                <a:solidFill>
                  <a:srgbClr val="9AA7B5"/>
                </a:solidFill>
                <a:latin typeface="Arial" pitchFamily="34" charset="0"/>
                <a:ea typeface="Arial" pitchFamily="34" charset="-122"/>
                <a:cs typeface="Arial" pitchFamily="34" charset="-120"/>
              </a:rPr>
              <a:t>THE ELEVEN STAGES</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10634472" cy="310896"/>
          </a:xfrm>
          <a:prstGeom prst="rect">
            <a:avLst/>
          </a:prstGeom>
          <a:noFill/>
          <a:ln/>
        </p:spPr>
        <p:txBody>
          <a:bodyPr wrap="square" lIns="0" tIns="0" rIns="0" bIns="0" rtlCol="0" anchor="t"/>
          <a:lstStyle/>
          <a:p>
            <a:pPr algn="l" indent="0" marL="0">
              <a:buNone/>
            </a:pPr>
            <a:r>
              <a:rPr lang="en-US" sz="1300" b="1" spc="200" kern="0" dirty="0">
                <a:solidFill>
                  <a:srgbClr val="1A5FB4"/>
                </a:solidFill>
                <a:latin typeface="Arial" pitchFamily="34" charset="0"/>
                <a:ea typeface="Arial" pitchFamily="34" charset="-122"/>
                <a:cs typeface="Arial" pitchFamily="34" charset="-120"/>
              </a:rPr>
              <a:t>STAGE 9 OF 11</a:t>
            </a:r>
            <a:endParaRPr lang="en-US" sz="1300" dirty="0"/>
          </a:p>
        </p:txBody>
      </p:sp>
      <p:sp>
        <p:nvSpPr>
          <p:cNvPr id="3" name="Shape 1"/>
          <p:cNvSpPr/>
          <p:nvPr/>
        </p:nvSpPr>
        <p:spPr>
          <a:xfrm>
            <a:off x="777240" y="1051560"/>
            <a:ext cx="960120" cy="960120"/>
          </a:xfrm>
          <a:prstGeom prst="ellipse">
            <a:avLst/>
          </a:prstGeom>
          <a:solidFill>
            <a:srgbClr val="1A5FB4"/>
          </a:solidFill>
          <a:ln/>
        </p:spPr>
      </p:sp>
      <p:sp>
        <p:nvSpPr>
          <p:cNvPr id="4" name="Text 2"/>
          <p:cNvSpPr txBox="1"/>
          <p:nvPr/>
        </p:nvSpPr>
        <p:spPr>
          <a:xfrm>
            <a:off x="777240" y="1051560"/>
            <a:ext cx="960120" cy="960120"/>
          </a:xfrm>
          <a:prstGeom prst="rect">
            <a:avLst/>
          </a:prstGeom>
          <a:noFill/>
          <a:ln/>
        </p:spPr>
        <p:txBody>
          <a:bodyPr wrap="square" lIns="0" tIns="0" rIns="0" bIns="0" rtlCol="0" anchor="ctr"/>
          <a:lstStyle/>
          <a:p>
            <a:pPr algn="ctr" indent="0" marL="0">
              <a:buNone/>
            </a:pPr>
            <a:r>
              <a:rPr lang="en-US" sz="2700" b="1" dirty="0">
                <a:solidFill>
                  <a:srgbClr val="FFFFFF"/>
                </a:solidFill>
                <a:latin typeface="Arial" pitchFamily="34" charset="0"/>
                <a:ea typeface="Arial" pitchFamily="34" charset="-122"/>
                <a:cs typeface="Arial" pitchFamily="34" charset="-120"/>
              </a:rPr>
              <a:t>9</a:t>
            </a:r>
            <a:endParaRPr lang="en-US" sz="2700" dirty="0"/>
          </a:p>
        </p:txBody>
      </p:sp>
      <p:sp>
        <p:nvSpPr>
          <p:cNvPr id="5" name="Text 3"/>
          <p:cNvSpPr txBox="1"/>
          <p:nvPr/>
        </p:nvSpPr>
        <p:spPr>
          <a:xfrm>
            <a:off x="2011680" y="1097280"/>
            <a:ext cx="9400032" cy="868680"/>
          </a:xfrm>
          <a:prstGeom prst="rect">
            <a:avLst/>
          </a:prstGeom>
          <a:noFill/>
          <a:ln/>
        </p:spPr>
        <p:txBody>
          <a:bodyPr wrap="square" lIns="0" tIns="0" rIns="0" bIns="0" rtlCol="0" anchor="t"/>
          <a:lstStyle/>
          <a:p>
            <a:pPr algn="l" indent="0" marL="0">
              <a:buNone/>
            </a:pPr>
            <a:r>
              <a:rPr lang="en-US" sz="3800" b="1" dirty="0">
                <a:solidFill>
                  <a:srgbClr val="10243A"/>
                </a:solidFill>
                <a:latin typeface="Arial" pitchFamily="34" charset="0"/>
                <a:ea typeface="Arial" pitchFamily="34" charset="-122"/>
                <a:cs typeface="Arial" pitchFamily="34" charset="-120"/>
              </a:rPr>
              <a:t>Trial</a:t>
            </a:r>
            <a:endParaRPr lang="en-US" sz="3800" dirty="0"/>
          </a:p>
        </p:txBody>
      </p:sp>
      <p:sp>
        <p:nvSpPr>
          <p:cNvPr id="6" name="Text 4"/>
          <p:cNvSpPr txBox="1"/>
          <p:nvPr/>
        </p:nvSpPr>
        <p:spPr>
          <a:xfrm>
            <a:off x="2011680" y="2331720"/>
            <a:ext cx="9400032" cy="2377440"/>
          </a:xfrm>
          <a:prstGeom prst="rect">
            <a:avLst/>
          </a:prstGeom>
          <a:noFill/>
          <a:ln/>
        </p:spPr>
        <p:txBody>
          <a:bodyPr wrap="square" lIns="0" tIns="0" rIns="0" bIns="0" rtlCol="0" anchor="t"/>
          <a:lstStyle/>
          <a:p>
            <a:pPr algn="l" indent="0" marL="0">
              <a:lnSpc>
                <a:spcPts val="3500"/>
              </a:lnSpc>
              <a:buNone/>
            </a:pPr>
            <a:r>
              <a:rPr lang="en-US" sz="2400" dirty="0">
                <a:solidFill>
                  <a:srgbClr val="1B1B1B"/>
                </a:solidFill>
                <a:latin typeface="Arial" pitchFamily="34" charset="0"/>
                <a:ea typeface="Arial" pitchFamily="34" charset="-122"/>
                <a:cs typeface="Arial" pitchFamily="34" charset="-120"/>
              </a:rPr>
              <a:t>The State must prove guilt beyond a reasonable doubt. The defendant does not have to prove anything.</a:t>
            </a:r>
            <a:endParaRPr lang="en-US" sz="2400" dirty="0"/>
          </a:p>
        </p:txBody>
      </p:sp>
      <p:sp>
        <p:nvSpPr>
          <p:cNvPr id="7" name="Shape 5"/>
          <p:cNvSpPr/>
          <p:nvPr/>
        </p:nvSpPr>
        <p:spPr>
          <a:xfrm>
            <a:off x="777240" y="5349240"/>
            <a:ext cx="384048" cy="384048"/>
          </a:xfrm>
          <a:prstGeom prst="ellipse">
            <a:avLst/>
          </a:prstGeom>
          <a:solidFill>
            <a:srgbClr val="C6D6EA"/>
          </a:solidFill>
          <a:ln/>
        </p:spPr>
      </p:sp>
      <p:sp>
        <p:nvSpPr>
          <p:cNvPr id="8" name="Text 6"/>
          <p:cNvSpPr txBox="1"/>
          <p:nvPr/>
        </p:nvSpPr>
        <p:spPr>
          <a:xfrm>
            <a:off x="777240"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1</a:t>
            </a:r>
            <a:endParaRPr lang="en-US" sz="1200" dirty="0"/>
          </a:p>
        </p:txBody>
      </p:sp>
      <p:sp>
        <p:nvSpPr>
          <p:cNvPr id="9" name="Shape 7"/>
          <p:cNvSpPr/>
          <p:nvPr/>
        </p:nvSpPr>
        <p:spPr>
          <a:xfrm>
            <a:off x="1802282" y="5349240"/>
            <a:ext cx="384048" cy="384048"/>
          </a:xfrm>
          <a:prstGeom prst="ellipse">
            <a:avLst/>
          </a:prstGeom>
          <a:solidFill>
            <a:srgbClr val="C6D6EA"/>
          </a:solidFill>
          <a:ln/>
        </p:spPr>
      </p:sp>
      <p:sp>
        <p:nvSpPr>
          <p:cNvPr id="10" name="Text 8"/>
          <p:cNvSpPr txBox="1"/>
          <p:nvPr/>
        </p:nvSpPr>
        <p:spPr>
          <a:xfrm>
            <a:off x="1802282"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2</a:t>
            </a:r>
            <a:endParaRPr lang="en-US" sz="1200" dirty="0"/>
          </a:p>
        </p:txBody>
      </p:sp>
      <p:sp>
        <p:nvSpPr>
          <p:cNvPr id="11" name="Shape 9"/>
          <p:cNvSpPr/>
          <p:nvPr/>
        </p:nvSpPr>
        <p:spPr>
          <a:xfrm>
            <a:off x="2827325" y="5349240"/>
            <a:ext cx="384048" cy="384048"/>
          </a:xfrm>
          <a:prstGeom prst="ellipse">
            <a:avLst/>
          </a:prstGeom>
          <a:solidFill>
            <a:srgbClr val="C6D6EA"/>
          </a:solidFill>
          <a:ln/>
        </p:spPr>
      </p:sp>
      <p:sp>
        <p:nvSpPr>
          <p:cNvPr id="12" name="Text 10"/>
          <p:cNvSpPr txBox="1"/>
          <p:nvPr/>
        </p:nvSpPr>
        <p:spPr>
          <a:xfrm>
            <a:off x="2827325"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3</a:t>
            </a:r>
            <a:endParaRPr lang="en-US" sz="1200" dirty="0"/>
          </a:p>
        </p:txBody>
      </p:sp>
      <p:sp>
        <p:nvSpPr>
          <p:cNvPr id="13" name="Shape 11"/>
          <p:cNvSpPr/>
          <p:nvPr/>
        </p:nvSpPr>
        <p:spPr>
          <a:xfrm>
            <a:off x="3852367" y="5349240"/>
            <a:ext cx="384048" cy="384048"/>
          </a:xfrm>
          <a:prstGeom prst="ellipse">
            <a:avLst/>
          </a:prstGeom>
          <a:solidFill>
            <a:srgbClr val="C6D6EA"/>
          </a:solidFill>
          <a:ln/>
        </p:spPr>
      </p:sp>
      <p:sp>
        <p:nvSpPr>
          <p:cNvPr id="14" name="Text 12"/>
          <p:cNvSpPr txBox="1"/>
          <p:nvPr/>
        </p:nvSpPr>
        <p:spPr>
          <a:xfrm>
            <a:off x="3852367"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4</a:t>
            </a:r>
            <a:endParaRPr lang="en-US" sz="1200" dirty="0"/>
          </a:p>
        </p:txBody>
      </p:sp>
      <p:sp>
        <p:nvSpPr>
          <p:cNvPr id="15" name="Shape 13"/>
          <p:cNvSpPr/>
          <p:nvPr/>
        </p:nvSpPr>
        <p:spPr>
          <a:xfrm>
            <a:off x="4877410" y="5349240"/>
            <a:ext cx="384048" cy="384048"/>
          </a:xfrm>
          <a:prstGeom prst="ellipse">
            <a:avLst/>
          </a:prstGeom>
          <a:solidFill>
            <a:srgbClr val="C6D6EA"/>
          </a:solidFill>
          <a:ln/>
        </p:spPr>
      </p:sp>
      <p:sp>
        <p:nvSpPr>
          <p:cNvPr id="16" name="Text 14"/>
          <p:cNvSpPr txBox="1"/>
          <p:nvPr/>
        </p:nvSpPr>
        <p:spPr>
          <a:xfrm>
            <a:off x="4877410"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5</a:t>
            </a:r>
            <a:endParaRPr lang="en-US" sz="1200" dirty="0"/>
          </a:p>
        </p:txBody>
      </p:sp>
      <p:sp>
        <p:nvSpPr>
          <p:cNvPr id="17" name="Shape 15"/>
          <p:cNvSpPr/>
          <p:nvPr/>
        </p:nvSpPr>
        <p:spPr>
          <a:xfrm>
            <a:off x="5902452" y="5349240"/>
            <a:ext cx="384048" cy="384048"/>
          </a:xfrm>
          <a:prstGeom prst="ellipse">
            <a:avLst/>
          </a:prstGeom>
          <a:solidFill>
            <a:srgbClr val="C6D6EA"/>
          </a:solidFill>
          <a:ln/>
        </p:spPr>
      </p:sp>
      <p:sp>
        <p:nvSpPr>
          <p:cNvPr id="18" name="Text 16"/>
          <p:cNvSpPr txBox="1"/>
          <p:nvPr/>
        </p:nvSpPr>
        <p:spPr>
          <a:xfrm>
            <a:off x="5902452"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6</a:t>
            </a:r>
            <a:endParaRPr lang="en-US" sz="1200" dirty="0"/>
          </a:p>
        </p:txBody>
      </p:sp>
      <p:sp>
        <p:nvSpPr>
          <p:cNvPr id="19" name="Shape 17"/>
          <p:cNvSpPr/>
          <p:nvPr/>
        </p:nvSpPr>
        <p:spPr>
          <a:xfrm>
            <a:off x="6927494" y="5349240"/>
            <a:ext cx="384048" cy="384048"/>
          </a:xfrm>
          <a:prstGeom prst="ellipse">
            <a:avLst/>
          </a:prstGeom>
          <a:solidFill>
            <a:srgbClr val="C6D6EA"/>
          </a:solidFill>
          <a:ln/>
        </p:spPr>
      </p:sp>
      <p:sp>
        <p:nvSpPr>
          <p:cNvPr id="20" name="Text 18"/>
          <p:cNvSpPr txBox="1"/>
          <p:nvPr/>
        </p:nvSpPr>
        <p:spPr>
          <a:xfrm>
            <a:off x="6927494"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7</a:t>
            </a:r>
            <a:endParaRPr lang="en-US" sz="1200" dirty="0"/>
          </a:p>
        </p:txBody>
      </p:sp>
      <p:sp>
        <p:nvSpPr>
          <p:cNvPr id="21" name="Shape 19"/>
          <p:cNvSpPr/>
          <p:nvPr/>
        </p:nvSpPr>
        <p:spPr>
          <a:xfrm>
            <a:off x="7952537" y="5349240"/>
            <a:ext cx="384048" cy="384048"/>
          </a:xfrm>
          <a:prstGeom prst="ellipse">
            <a:avLst/>
          </a:prstGeom>
          <a:solidFill>
            <a:srgbClr val="C6D6EA"/>
          </a:solidFill>
          <a:ln/>
        </p:spPr>
      </p:sp>
      <p:sp>
        <p:nvSpPr>
          <p:cNvPr id="22" name="Text 20"/>
          <p:cNvSpPr txBox="1"/>
          <p:nvPr/>
        </p:nvSpPr>
        <p:spPr>
          <a:xfrm>
            <a:off x="7952537"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8</a:t>
            </a:r>
            <a:endParaRPr lang="en-US" sz="1200" dirty="0"/>
          </a:p>
        </p:txBody>
      </p:sp>
      <p:sp>
        <p:nvSpPr>
          <p:cNvPr id="23" name="Shape 21"/>
          <p:cNvSpPr/>
          <p:nvPr/>
        </p:nvSpPr>
        <p:spPr>
          <a:xfrm>
            <a:off x="8977579" y="5349240"/>
            <a:ext cx="384048" cy="384048"/>
          </a:xfrm>
          <a:prstGeom prst="ellipse">
            <a:avLst/>
          </a:prstGeom>
          <a:solidFill>
            <a:srgbClr val="1A5FB4"/>
          </a:solidFill>
          <a:ln/>
        </p:spPr>
      </p:sp>
      <p:sp>
        <p:nvSpPr>
          <p:cNvPr id="24" name="Text 22"/>
          <p:cNvSpPr txBox="1"/>
          <p:nvPr/>
        </p:nvSpPr>
        <p:spPr>
          <a:xfrm>
            <a:off x="8977579" y="53492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9</a:t>
            </a:r>
            <a:endParaRPr lang="en-US" sz="1200" dirty="0"/>
          </a:p>
        </p:txBody>
      </p:sp>
      <p:sp>
        <p:nvSpPr>
          <p:cNvPr id="25" name="Shape 23"/>
          <p:cNvSpPr/>
          <p:nvPr/>
        </p:nvSpPr>
        <p:spPr>
          <a:xfrm>
            <a:off x="10002622" y="5349240"/>
            <a:ext cx="384048" cy="384048"/>
          </a:xfrm>
          <a:prstGeom prst="ellipse">
            <a:avLst/>
          </a:prstGeom>
          <a:solidFill>
            <a:srgbClr val="E8EDF3"/>
          </a:solidFill>
          <a:ln/>
        </p:spPr>
      </p:sp>
      <p:sp>
        <p:nvSpPr>
          <p:cNvPr id="26" name="Text 24"/>
          <p:cNvSpPr txBox="1"/>
          <p:nvPr/>
        </p:nvSpPr>
        <p:spPr>
          <a:xfrm>
            <a:off x="10002622"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10</a:t>
            </a:r>
            <a:endParaRPr lang="en-US" sz="1200" dirty="0"/>
          </a:p>
        </p:txBody>
      </p:sp>
      <p:sp>
        <p:nvSpPr>
          <p:cNvPr id="27" name="Shape 25"/>
          <p:cNvSpPr/>
          <p:nvPr/>
        </p:nvSpPr>
        <p:spPr>
          <a:xfrm>
            <a:off x="11027664" y="5349240"/>
            <a:ext cx="384048" cy="384048"/>
          </a:xfrm>
          <a:prstGeom prst="ellipse">
            <a:avLst/>
          </a:prstGeom>
          <a:solidFill>
            <a:srgbClr val="E8EDF3"/>
          </a:solidFill>
          <a:ln/>
        </p:spPr>
      </p:sp>
      <p:sp>
        <p:nvSpPr>
          <p:cNvPr id="28" name="Text 26"/>
          <p:cNvSpPr txBox="1"/>
          <p:nvPr/>
        </p:nvSpPr>
        <p:spPr>
          <a:xfrm>
            <a:off x="11027664"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11</a:t>
            </a:r>
            <a:endParaRPr lang="en-US" sz="1200" dirty="0"/>
          </a:p>
        </p:txBody>
      </p:sp>
      <p:sp>
        <p:nvSpPr>
          <p:cNvPr id="29" name="Text 27"/>
          <p:cNvSpPr txBox="1"/>
          <p:nvPr/>
        </p:nvSpPr>
        <p:spPr>
          <a:xfrm>
            <a:off x="777240" y="5852160"/>
            <a:ext cx="10634472" cy="274320"/>
          </a:xfrm>
          <a:prstGeom prst="rect">
            <a:avLst/>
          </a:prstGeom>
          <a:noFill/>
          <a:ln/>
        </p:spPr>
        <p:txBody>
          <a:bodyPr wrap="square" lIns="0" tIns="0" rIns="0" bIns="0" rtlCol="0" anchor="t"/>
          <a:lstStyle/>
          <a:p>
            <a:pPr algn="l" indent="0" marL="0">
              <a:buNone/>
            </a:pPr>
            <a:r>
              <a:rPr lang="en-US" sz="1100" b="1" spc="200" kern="0" dirty="0">
                <a:solidFill>
                  <a:srgbClr val="9AA7B5"/>
                </a:solidFill>
                <a:latin typeface="Arial" pitchFamily="34" charset="0"/>
                <a:ea typeface="Arial" pitchFamily="34" charset="-122"/>
                <a:cs typeface="Arial" pitchFamily="34" charset="-120"/>
              </a:rPr>
              <a:t>THE ELEVEN STAGES</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10634472" cy="310896"/>
          </a:xfrm>
          <a:prstGeom prst="rect">
            <a:avLst/>
          </a:prstGeom>
          <a:noFill/>
          <a:ln/>
        </p:spPr>
        <p:txBody>
          <a:bodyPr wrap="square" lIns="0" tIns="0" rIns="0" bIns="0" rtlCol="0" anchor="t"/>
          <a:lstStyle/>
          <a:p>
            <a:pPr algn="l" indent="0" marL="0">
              <a:buNone/>
            </a:pPr>
            <a:r>
              <a:rPr lang="en-US" sz="1300" b="1" spc="200" kern="0" dirty="0">
                <a:solidFill>
                  <a:srgbClr val="1A5FB4"/>
                </a:solidFill>
                <a:latin typeface="Arial" pitchFamily="34" charset="0"/>
                <a:ea typeface="Arial" pitchFamily="34" charset="-122"/>
                <a:cs typeface="Arial" pitchFamily="34" charset="-120"/>
              </a:rPr>
              <a:t>STAGE 10 OF 11</a:t>
            </a:r>
            <a:endParaRPr lang="en-US" sz="1300" dirty="0"/>
          </a:p>
        </p:txBody>
      </p:sp>
      <p:sp>
        <p:nvSpPr>
          <p:cNvPr id="3" name="Shape 1"/>
          <p:cNvSpPr/>
          <p:nvPr/>
        </p:nvSpPr>
        <p:spPr>
          <a:xfrm>
            <a:off x="777240" y="1051560"/>
            <a:ext cx="960120" cy="960120"/>
          </a:xfrm>
          <a:prstGeom prst="ellipse">
            <a:avLst/>
          </a:prstGeom>
          <a:solidFill>
            <a:srgbClr val="1A5FB4"/>
          </a:solidFill>
          <a:ln/>
        </p:spPr>
      </p:sp>
      <p:sp>
        <p:nvSpPr>
          <p:cNvPr id="4" name="Text 2"/>
          <p:cNvSpPr txBox="1"/>
          <p:nvPr/>
        </p:nvSpPr>
        <p:spPr>
          <a:xfrm>
            <a:off x="777240" y="1051560"/>
            <a:ext cx="960120" cy="960120"/>
          </a:xfrm>
          <a:prstGeom prst="rect">
            <a:avLst/>
          </a:prstGeom>
          <a:noFill/>
          <a:ln/>
        </p:spPr>
        <p:txBody>
          <a:bodyPr wrap="square" lIns="0" tIns="0" rIns="0" bIns="0" rtlCol="0" anchor="ctr"/>
          <a:lstStyle/>
          <a:p>
            <a:pPr algn="ctr" indent="0" marL="0">
              <a:buNone/>
            </a:pPr>
            <a:r>
              <a:rPr lang="en-US" sz="2700" b="1" dirty="0">
                <a:solidFill>
                  <a:srgbClr val="FFFFFF"/>
                </a:solidFill>
                <a:latin typeface="Arial" pitchFamily="34" charset="0"/>
                <a:ea typeface="Arial" pitchFamily="34" charset="-122"/>
                <a:cs typeface="Arial" pitchFamily="34" charset="-120"/>
              </a:rPr>
              <a:t>10</a:t>
            </a:r>
            <a:endParaRPr lang="en-US" sz="2700" dirty="0"/>
          </a:p>
        </p:txBody>
      </p:sp>
      <p:sp>
        <p:nvSpPr>
          <p:cNvPr id="5" name="Text 3"/>
          <p:cNvSpPr txBox="1"/>
          <p:nvPr/>
        </p:nvSpPr>
        <p:spPr>
          <a:xfrm>
            <a:off x="2011680" y="1097280"/>
            <a:ext cx="9400032" cy="868680"/>
          </a:xfrm>
          <a:prstGeom prst="rect">
            <a:avLst/>
          </a:prstGeom>
          <a:noFill/>
          <a:ln/>
        </p:spPr>
        <p:txBody>
          <a:bodyPr wrap="square" lIns="0" tIns="0" rIns="0" bIns="0" rtlCol="0" anchor="t"/>
          <a:lstStyle/>
          <a:p>
            <a:pPr algn="l" indent="0" marL="0">
              <a:buNone/>
            </a:pPr>
            <a:r>
              <a:rPr lang="en-US" sz="3800" b="1" dirty="0">
                <a:solidFill>
                  <a:srgbClr val="10243A"/>
                </a:solidFill>
                <a:latin typeface="Arial" pitchFamily="34" charset="0"/>
                <a:ea typeface="Arial" pitchFamily="34" charset="-122"/>
                <a:cs typeface="Arial" pitchFamily="34" charset="-120"/>
              </a:rPr>
              <a:t>Sentencing</a:t>
            </a:r>
            <a:endParaRPr lang="en-US" sz="3800" dirty="0"/>
          </a:p>
        </p:txBody>
      </p:sp>
      <p:sp>
        <p:nvSpPr>
          <p:cNvPr id="6" name="Text 4"/>
          <p:cNvSpPr txBox="1"/>
          <p:nvPr/>
        </p:nvSpPr>
        <p:spPr>
          <a:xfrm>
            <a:off x="2011680" y="2331720"/>
            <a:ext cx="9400032" cy="2377440"/>
          </a:xfrm>
          <a:prstGeom prst="rect">
            <a:avLst/>
          </a:prstGeom>
          <a:noFill/>
          <a:ln/>
        </p:spPr>
        <p:txBody>
          <a:bodyPr wrap="square" lIns="0" tIns="0" rIns="0" bIns="0" rtlCol="0" anchor="t"/>
          <a:lstStyle/>
          <a:p>
            <a:pPr algn="l" indent="0" marL="0">
              <a:lnSpc>
                <a:spcPts val="3500"/>
              </a:lnSpc>
              <a:buNone/>
            </a:pPr>
            <a:r>
              <a:rPr lang="en-US" sz="2400" dirty="0">
                <a:solidFill>
                  <a:srgbClr val="1B1B1B"/>
                </a:solidFill>
                <a:latin typeface="Arial" pitchFamily="34" charset="0"/>
                <a:ea typeface="Arial" pitchFamily="34" charset="-122"/>
                <a:cs typeface="Arial" pitchFamily="34" charset="-120"/>
              </a:rPr>
              <a:t>Fines, probation, community control, jail, prison, restitution — often a combination.</a:t>
            </a:r>
            <a:endParaRPr lang="en-US" sz="2400" dirty="0"/>
          </a:p>
        </p:txBody>
      </p:sp>
      <p:sp>
        <p:nvSpPr>
          <p:cNvPr id="7" name="Shape 5"/>
          <p:cNvSpPr/>
          <p:nvPr/>
        </p:nvSpPr>
        <p:spPr>
          <a:xfrm>
            <a:off x="777240" y="5349240"/>
            <a:ext cx="384048" cy="384048"/>
          </a:xfrm>
          <a:prstGeom prst="ellipse">
            <a:avLst/>
          </a:prstGeom>
          <a:solidFill>
            <a:srgbClr val="C6D6EA"/>
          </a:solidFill>
          <a:ln/>
        </p:spPr>
      </p:sp>
      <p:sp>
        <p:nvSpPr>
          <p:cNvPr id="8" name="Text 6"/>
          <p:cNvSpPr txBox="1"/>
          <p:nvPr/>
        </p:nvSpPr>
        <p:spPr>
          <a:xfrm>
            <a:off x="777240"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1</a:t>
            </a:r>
            <a:endParaRPr lang="en-US" sz="1200" dirty="0"/>
          </a:p>
        </p:txBody>
      </p:sp>
      <p:sp>
        <p:nvSpPr>
          <p:cNvPr id="9" name="Shape 7"/>
          <p:cNvSpPr/>
          <p:nvPr/>
        </p:nvSpPr>
        <p:spPr>
          <a:xfrm>
            <a:off x="1802282" y="5349240"/>
            <a:ext cx="384048" cy="384048"/>
          </a:xfrm>
          <a:prstGeom prst="ellipse">
            <a:avLst/>
          </a:prstGeom>
          <a:solidFill>
            <a:srgbClr val="C6D6EA"/>
          </a:solidFill>
          <a:ln/>
        </p:spPr>
      </p:sp>
      <p:sp>
        <p:nvSpPr>
          <p:cNvPr id="10" name="Text 8"/>
          <p:cNvSpPr txBox="1"/>
          <p:nvPr/>
        </p:nvSpPr>
        <p:spPr>
          <a:xfrm>
            <a:off x="1802282"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2</a:t>
            </a:r>
            <a:endParaRPr lang="en-US" sz="1200" dirty="0"/>
          </a:p>
        </p:txBody>
      </p:sp>
      <p:sp>
        <p:nvSpPr>
          <p:cNvPr id="11" name="Shape 9"/>
          <p:cNvSpPr/>
          <p:nvPr/>
        </p:nvSpPr>
        <p:spPr>
          <a:xfrm>
            <a:off x="2827325" y="5349240"/>
            <a:ext cx="384048" cy="384048"/>
          </a:xfrm>
          <a:prstGeom prst="ellipse">
            <a:avLst/>
          </a:prstGeom>
          <a:solidFill>
            <a:srgbClr val="C6D6EA"/>
          </a:solidFill>
          <a:ln/>
        </p:spPr>
      </p:sp>
      <p:sp>
        <p:nvSpPr>
          <p:cNvPr id="12" name="Text 10"/>
          <p:cNvSpPr txBox="1"/>
          <p:nvPr/>
        </p:nvSpPr>
        <p:spPr>
          <a:xfrm>
            <a:off x="2827325"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3</a:t>
            </a:r>
            <a:endParaRPr lang="en-US" sz="1200" dirty="0"/>
          </a:p>
        </p:txBody>
      </p:sp>
      <p:sp>
        <p:nvSpPr>
          <p:cNvPr id="13" name="Shape 11"/>
          <p:cNvSpPr/>
          <p:nvPr/>
        </p:nvSpPr>
        <p:spPr>
          <a:xfrm>
            <a:off x="3852367" y="5349240"/>
            <a:ext cx="384048" cy="384048"/>
          </a:xfrm>
          <a:prstGeom prst="ellipse">
            <a:avLst/>
          </a:prstGeom>
          <a:solidFill>
            <a:srgbClr val="C6D6EA"/>
          </a:solidFill>
          <a:ln/>
        </p:spPr>
      </p:sp>
      <p:sp>
        <p:nvSpPr>
          <p:cNvPr id="14" name="Text 12"/>
          <p:cNvSpPr txBox="1"/>
          <p:nvPr/>
        </p:nvSpPr>
        <p:spPr>
          <a:xfrm>
            <a:off x="3852367"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4</a:t>
            </a:r>
            <a:endParaRPr lang="en-US" sz="1200" dirty="0"/>
          </a:p>
        </p:txBody>
      </p:sp>
      <p:sp>
        <p:nvSpPr>
          <p:cNvPr id="15" name="Shape 13"/>
          <p:cNvSpPr/>
          <p:nvPr/>
        </p:nvSpPr>
        <p:spPr>
          <a:xfrm>
            <a:off x="4877410" y="5349240"/>
            <a:ext cx="384048" cy="384048"/>
          </a:xfrm>
          <a:prstGeom prst="ellipse">
            <a:avLst/>
          </a:prstGeom>
          <a:solidFill>
            <a:srgbClr val="C6D6EA"/>
          </a:solidFill>
          <a:ln/>
        </p:spPr>
      </p:sp>
      <p:sp>
        <p:nvSpPr>
          <p:cNvPr id="16" name="Text 14"/>
          <p:cNvSpPr txBox="1"/>
          <p:nvPr/>
        </p:nvSpPr>
        <p:spPr>
          <a:xfrm>
            <a:off x="4877410"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5</a:t>
            </a:r>
            <a:endParaRPr lang="en-US" sz="1200" dirty="0"/>
          </a:p>
        </p:txBody>
      </p:sp>
      <p:sp>
        <p:nvSpPr>
          <p:cNvPr id="17" name="Shape 15"/>
          <p:cNvSpPr/>
          <p:nvPr/>
        </p:nvSpPr>
        <p:spPr>
          <a:xfrm>
            <a:off x="5902452" y="5349240"/>
            <a:ext cx="384048" cy="384048"/>
          </a:xfrm>
          <a:prstGeom prst="ellipse">
            <a:avLst/>
          </a:prstGeom>
          <a:solidFill>
            <a:srgbClr val="C6D6EA"/>
          </a:solidFill>
          <a:ln/>
        </p:spPr>
      </p:sp>
      <p:sp>
        <p:nvSpPr>
          <p:cNvPr id="18" name="Text 16"/>
          <p:cNvSpPr txBox="1"/>
          <p:nvPr/>
        </p:nvSpPr>
        <p:spPr>
          <a:xfrm>
            <a:off x="5902452"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6</a:t>
            </a:r>
            <a:endParaRPr lang="en-US" sz="1200" dirty="0"/>
          </a:p>
        </p:txBody>
      </p:sp>
      <p:sp>
        <p:nvSpPr>
          <p:cNvPr id="19" name="Shape 17"/>
          <p:cNvSpPr/>
          <p:nvPr/>
        </p:nvSpPr>
        <p:spPr>
          <a:xfrm>
            <a:off x="6927494" y="5349240"/>
            <a:ext cx="384048" cy="384048"/>
          </a:xfrm>
          <a:prstGeom prst="ellipse">
            <a:avLst/>
          </a:prstGeom>
          <a:solidFill>
            <a:srgbClr val="C6D6EA"/>
          </a:solidFill>
          <a:ln/>
        </p:spPr>
      </p:sp>
      <p:sp>
        <p:nvSpPr>
          <p:cNvPr id="20" name="Text 18"/>
          <p:cNvSpPr txBox="1"/>
          <p:nvPr/>
        </p:nvSpPr>
        <p:spPr>
          <a:xfrm>
            <a:off x="6927494"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7</a:t>
            </a:r>
            <a:endParaRPr lang="en-US" sz="1200" dirty="0"/>
          </a:p>
        </p:txBody>
      </p:sp>
      <p:sp>
        <p:nvSpPr>
          <p:cNvPr id="21" name="Shape 19"/>
          <p:cNvSpPr/>
          <p:nvPr/>
        </p:nvSpPr>
        <p:spPr>
          <a:xfrm>
            <a:off x="7952537" y="5349240"/>
            <a:ext cx="384048" cy="384048"/>
          </a:xfrm>
          <a:prstGeom prst="ellipse">
            <a:avLst/>
          </a:prstGeom>
          <a:solidFill>
            <a:srgbClr val="C6D6EA"/>
          </a:solidFill>
          <a:ln/>
        </p:spPr>
      </p:sp>
      <p:sp>
        <p:nvSpPr>
          <p:cNvPr id="22" name="Text 20"/>
          <p:cNvSpPr txBox="1"/>
          <p:nvPr/>
        </p:nvSpPr>
        <p:spPr>
          <a:xfrm>
            <a:off x="7952537"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8</a:t>
            </a:r>
            <a:endParaRPr lang="en-US" sz="1200" dirty="0"/>
          </a:p>
        </p:txBody>
      </p:sp>
      <p:sp>
        <p:nvSpPr>
          <p:cNvPr id="23" name="Shape 21"/>
          <p:cNvSpPr/>
          <p:nvPr/>
        </p:nvSpPr>
        <p:spPr>
          <a:xfrm>
            <a:off x="8977579" y="5349240"/>
            <a:ext cx="384048" cy="384048"/>
          </a:xfrm>
          <a:prstGeom prst="ellipse">
            <a:avLst/>
          </a:prstGeom>
          <a:solidFill>
            <a:srgbClr val="C6D6EA"/>
          </a:solidFill>
          <a:ln/>
        </p:spPr>
      </p:sp>
      <p:sp>
        <p:nvSpPr>
          <p:cNvPr id="24" name="Text 22"/>
          <p:cNvSpPr txBox="1"/>
          <p:nvPr/>
        </p:nvSpPr>
        <p:spPr>
          <a:xfrm>
            <a:off x="8977579"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9</a:t>
            </a:r>
            <a:endParaRPr lang="en-US" sz="1200" dirty="0"/>
          </a:p>
        </p:txBody>
      </p:sp>
      <p:sp>
        <p:nvSpPr>
          <p:cNvPr id="25" name="Shape 23"/>
          <p:cNvSpPr/>
          <p:nvPr/>
        </p:nvSpPr>
        <p:spPr>
          <a:xfrm>
            <a:off x="10002622" y="5349240"/>
            <a:ext cx="384048" cy="384048"/>
          </a:xfrm>
          <a:prstGeom prst="ellipse">
            <a:avLst/>
          </a:prstGeom>
          <a:solidFill>
            <a:srgbClr val="1A5FB4"/>
          </a:solidFill>
          <a:ln/>
        </p:spPr>
      </p:sp>
      <p:sp>
        <p:nvSpPr>
          <p:cNvPr id="26" name="Text 24"/>
          <p:cNvSpPr txBox="1"/>
          <p:nvPr/>
        </p:nvSpPr>
        <p:spPr>
          <a:xfrm>
            <a:off x="10002622" y="53492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10</a:t>
            </a:r>
            <a:endParaRPr lang="en-US" sz="1200" dirty="0"/>
          </a:p>
        </p:txBody>
      </p:sp>
      <p:sp>
        <p:nvSpPr>
          <p:cNvPr id="27" name="Shape 25"/>
          <p:cNvSpPr/>
          <p:nvPr/>
        </p:nvSpPr>
        <p:spPr>
          <a:xfrm>
            <a:off x="11027664" y="5349240"/>
            <a:ext cx="384048" cy="384048"/>
          </a:xfrm>
          <a:prstGeom prst="ellipse">
            <a:avLst/>
          </a:prstGeom>
          <a:solidFill>
            <a:srgbClr val="E8EDF3"/>
          </a:solidFill>
          <a:ln/>
        </p:spPr>
      </p:sp>
      <p:sp>
        <p:nvSpPr>
          <p:cNvPr id="28" name="Text 26"/>
          <p:cNvSpPr txBox="1"/>
          <p:nvPr/>
        </p:nvSpPr>
        <p:spPr>
          <a:xfrm>
            <a:off x="11027664"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11</a:t>
            </a:r>
            <a:endParaRPr lang="en-US" sz="1200" dirty="0"/>
          </a:p>
        </p:txBody>
      </p:sp>
      <p:sp>
        <p:nvSpPr>
          <p:cNvPr id="29" name="Text 27"/>
          <p:cNvSpPr txBox="1"/>
          <p:nvPr/>
        </p:nvSpPr>
        <p:spPr>
          <a:xfrm>
            <a:off x="777240" y="5852160"/>
            <a:ext cx="10634472" cy="274320"/>
          </a:xfrm>
          <a:prstGeom prst="rect">
            <a:avLst/>
          </a:prstGeom>
          <a:noFill/>
          <a:ln/>
        </p:spPr>
        <p:txBody>
          <a:bodyPr wrap="square" lIns="0" tIns="0" rIns="0" bIns="0" rtlCol="0" anchor="t"/>
          <a:lstStyle/>
          <a:p>
            <a:pPr algn="l" indent="0" marL="0">
              <a:buNone/>
            </a:pPr>
            <a:r>
              <a:rPr lang="en-US" sz="1100" b="1" spc="200" kern="0" dirty="0">
                <a:solidFill>
                  <a:srgbClr val="9AA7B5"/>
                </a:solidFill>
                <a:latin typeface="Arial" pitchFamily="34" charset="0"/>
                <a:ea typeface="Arial" pitchFamily="34" charset="-122"/>
                <a:cs typeface="Arial" pitchFamily="34" charset="-120"/>
              </a:rPr>
              <a:t>THE ELEVEN STAGES</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10634472" cy="310896"/>
          </a:xfrm>
          <a:prstGeom prst="rect">
            <a:avLst/>
          </a:prstGeom>
          <a:noFill/>
          <a:ln/>
        </p:spPr>
        <p:txBody>
          <a:bodyPr wrap="square" lIns="0" tIns="0" rIns="0" bIns="0" rtlCol="0" anchor="t"/>
          <a:lstStyle/>
          <a:p>
            <a:pPr algn="l" indent="0" marL="0">
              <a:buNone/>
            </a:pPr>
            <a:r>
              <a:rPr lang="en-US" sz="1300" b="1" spc="200" kern="0" dirty="0">
                <a:solidFill>
                  <a:srgbClr val="1A5FB4"/>
                </a:solidFill>
                <a:latin typeface="Arial" pitchFamily="34" charset="0"/>
                <a:ea typeface="Arial" pitchFamily="34" charset="-122"/>
                <a:cs typeface="Arial" pitchFamily="34" charset="-120"/>
              </a:rPr>
              <a:t>STAGE 11 OF 11</a:t>
            </a:r>
            <a:endParaRPr lang="en-US" sz="1300" dirty="0"/>
          </a:p>
        </p:txBody>
      </p:sp>
      <p:sp>
        <p:nvSpPr>
          <p:cNvPr id="3" name="Shape 1"/>
          <p:cNvSpPr/>
          <p:nvPr/>
        </p:nvSpPr>
        <p:spPr>
          <a:xfrm>
            <a:off x="777240" y="1051560"/>
            <a:ext cx="960120" cy="960120"/>
          </a:xfrm>
          <a:prstGeom prst="ellipse">
            <a:avLst/>
          </a:prstGeom>
          <a:solidFill>
            <a:srgbClr val="1A5FB4"/>
          </a:solidFill>
          <a:ln/>
        </p:spPr>
      </p:sp>
      <p:sp>
        <p:nvSpPr>
          <p:cNvPr id="4" name="Text 2"/>
          <p:cNvSpPr txBox="1"/>
          <p:nvPr/>
        </p:nvSpPr>
        <p:spPr>
          <a:xfrm>
            <a:off x="777240" y="1051560"/>
            <a:ext cx="960120" cy="960120"/>
          </a:xfrm>
          <a:prstGeom prst="rect">
            <a:avLst/>
          </a:prstGeom>
          <a:noFill/>
          <a:ln/>
        </p:spPr>
        <p:txBody>
          <a:bodyPr wrap="square" lIns="0" tIns="0" rIns="0" bIns="0" rtlCol="0" anchor="ctr"/>
          <a:lstStyle/>
          <a:p>
            <a:pPr algn="ctr" indent="0" marL="0">
              <a:buNone/>
            </a:pPr>
            <a:r>
              <a:rPr lang="en-US" sz="2700" b="1" dirty="0">
                <a:solidFill>
                  <a:srgbClr val="FFFFFF"/>
                </a:solidFill>
                <a:latin typeface="Arial" pitchFamily="34" charset="0"/>
                <a:ea typeface="Arial" pitchFamily="34" charset="-122"/>
                <a:cs typeface="Arial" pitchFamily="34" charset="-120"/>
              </a:rPr>
              <a:t>11</a:t>
            </a:r>
            <a:endParaRPr lang="en-US" sz="2700" dirty="0"/>
          </a:p>
        </p:txBody>
      </p:sp>
      <p:sp>
        <p:nvSpPr>
          <p:cNvPr id="5" name="Text 3"/>
          <p:cNvSpPr txBox="1"/>
          <p:nvPr/>
        </p:nvSpPr>
        <p:spPr>
          <a:xfrm>
            <a:off x="2011680" y="1097280"/>
            <a:ext cx="9400032" cy="868680"/>
          </a:xfrm>
          <a:prstGeom prst="rect">
            <a:avLst/>
          </a:prstGeom>
          <a:noFill/>
          <a:ln/>
        </p:spPr>
        <p:txBody>
          <a:bodyPr wrap="square" lIns="0" tIns="0" rIns="0" bIns="0" rtlCol="0" anchor="t"/>
          <a:lstStyle/>
          <a:p>
            <a:pPr algn="l" indent="0" marL="0">
              <a:buNone/>
            </a:pPr>
            <a:r>
              <a:rPr lang="en-US" sz="3800" b="1" dirty="0">
                <a:solidFill>
                  <a:srgbClr val="10243A"/>
                </a:solidFill>
                <a:latin typeface="Arial" pitchFamily="34" charset="0"/>
                <a:ea typeface="Arial" pitchFamily="34" charset="-122"/>
                <a:cs typeface="Arial" pitchFamily="34" charset="-120"/>
              </a:rPr>
              <a:t>Corrections and release</a:t>
            </a:r>
            <a:endParaRPr lang="en-US" sz="3800" dirty="0"/>
          </a:p>
        </p:txBody>
      </p:sp>
      <p:sp>
        <p:nvSpPr>
          <p:cNvPr id="6" name="Text 4"/>
          <p:cNvSpPr txBox="1"/>
          <p:nvPr/>
        </p:nvSpPr>
        <p:spPr>
          <a:xfrm>
            <a:off x="2011680" y="2331720"/>
            <a:ext cx="9400032" cy="2377440"/>
          </a:xfrm>
          <a:prstGeom prst="rect">
            <a:avLst/>
          </a:prstGeom>
          <a:noFill/>
          <a:ln/>
        </p:spPr>
        <p:txBody>
          <a:bodyPr wrap="square" lIns="0" tIns="0" rIns="0" bIns="0" rtlCol="0" anchor="t"/>
          <a:lstStyle/>
          <a:p>
            <a:pPr algn="l" indent="0" marL="0">
              <a:lnSpc>
                <a:spcPts val="3500"/>
              </a:lnSpc>
              <a:buNone/>
            </a:pPr>
            <a:r>
              <a:rPr lang="en-US" sz="2400" dirty="0">
                <a:solidFill>
                  <a:srgbClr val="1B1B1B"/>
                </a:solidFill>
                <a:latin typeface="Arial" pitchFamily="34" charset="0"/>
                <a:ea typeface="Arial" pitchFamily="34" charset="-122"/>
                <a:cs typeface="Arial" pitchFamily="34" charset="-120"/>
              </a:rPr>
              <a:t>Jail is county-run for a year or less. Prison is state-run for more than a year. Probation is served in the community.</a:t>
            </a:r>
            <a:endParaRPr lang="en-US" sz="2400" dirty="0"/>
          </a:p>
        </p:txBody>
      </p:sp>
      <p:sp>
        <p:nvSpPr>
          <p:cNvPr id="7" name="Shape 5"/>
          <p:cNvSpPr/>
          <p:nvPr/>
        </p:nvSpPr>
        <p:spPr>
          <a:xfrm>
            <a:off x="777240" y="5349240"/>
            <a:ext cx="384048" cy="384048"/>
          </a:xfrm>
          <a:prstGeom prst="ellipse">
            <a:avLst/>
          </a:prstGeom>
          <a:solidFill>
            <a:srgbClr val="C6D6EA"/>
          </a:solidFill>
          <a:ln/>
        </p:spPr>
      </p:sp>
      <p:sp>
        <p:nvSpPr>
          <p:cNvPr id="8" name="Text 6"/>
          <p:cNvSpPr txBox="1"/>
          <p:nvPr/>
        </p:nvSpPr>
        <p:spPr>
          <a:xfrm>
            <a:off x="777240"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1</a:t>
            </a:r>
            <a:endParaRPr lang="en-US" sz="1200" dirty="0"/>
          </a:p>
        </p:txBody>
      </p:sp>
      <p:sp>
        <p:nvSpPr>
          <p:cNvPr id="9" name="Shape 7"/>
          <p:cNvSpPr/>
          <p:nvPr/>
        </p:nvSpPr>
        <p:spPr>
          <a:xfrm>
            <a:off x="1802282" y="5349240"/>
            <a:ext cx="384048" cy="384048"/>
          </a:xfrm>
          <a:prstGeom prst="ellipse">
            <a:avLst/>
          </a:prstGeom>
          <a:solidFill>
            <a:srgbClr val="C6D6EA"/>
          </a:solidFill>
          <a:ln/>
        </p:spPr>
      </p:sp>
      <p:sp>
        <p:nvSpPr>
          <p:cNvPr id="10" name="Text 8"/>
          <p:cNvSpPr txBox="1"/>
          <p:nvPr/>
        </p:nvSpPr>
        <p:spPr>
          <a:xfrm>
            <a:off x="1802282"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2</a:t>
            </a:r>
            <a:endParaRPr lang="en-US" sz="1200" dirty="0"/>
          </a:p>
        </p:txBody>
      </p:sp>
      <p:sp>
        <p:nvSpPr>
          <p:cNvPr id="11" name="Shape 9"/>
          <p:cNvSpPr/>
          <p:nvPr/>
        </p:nvSpPr>
        <p:spPr>
          <a:xfrm>
            <a:off x="2827325" y="5349240"/>
            <a:ext cx="384048" cy="384048"/>
          </a:xfrm>
          <a:prstGeom prst="ellipse">
            <a:avLst/>
          </a:prstGeom>
          <a:solidFill>
            <a:srgbClr val="C6D6EA"/>
          </a:solidFill>
          <a:ln/>
        </p:spPr>
      </p:sp>
      <p:sp>
        <p:nvSpPr>
          <p:cNvPr id="12" name="Text 10"/>
          <p:cNvSpPr txBox="1"/>
          <p:nvPr/>
        </p:nvSpPr>
        <p:spPr>
          <a:xfrm>
            <a:off x="2827325"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3</a:t>
            </a:r>
            <a:endParaRPr lang="en-US" sz="1200" dirty="0"/>
          </a:p>
        </p:txBody>
      </p:sp>
      <p:sp>
        <p:nvSpPr>
          <p:cNvPr id="13" name="Shape 11"/>
          <p:cNvSpPr/>
          <p:nvPr/>
        </p:nvSpPr>
        <p:spPr>
          <a:xfrm>
            <a:off x="3852367" y="5349240"/>
            <a:ext cx="384048" cy="384048"/>
          </a:xfrm>
          <a:prstGeom prst="ellipse">
            <a:avLst/>
          </a:prstGeom>
          <a:solidFill>
            <a:srgbClr val="C6D6EA"/>
          </a:solidFill>
          <a:ln/>
        </p:spPr>
      </p:sp>
      <p:sp>
        <p:nvSpPr>
          <p:cNvPr id="14" name="Text 12"/>
          <p:cNvSpPr txBox="1"/>
          <p:nvPr/>
        </p:nvSpPr>
        <p:spPr>
          <a:xfrm>
            <a:off x="3852367"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4</a:t>
            </a:r>
            <a:endParaRPr lang="en-US" sz="1200" dirty="0"/>
          </a:p>
        </p:txBody>
      </p:sp>
      <p:sp>
        <p:nvSpPr>
          <p:cNvPr id="15" name="Shape 13"/>
          <p:cNvSpPr/>
          <p:nvPr/>
        </p:nvSpPr>
        <p:spPr>
          <a:xfrm>
            <a:off x="4877410" y="5349240"/>
            <a:ext cx="384048" cy="384048"/>
          </a:xfrm>
          <a:prstGeom prst="ellipse">
            <a:avLst/>
          </a:prstGeom>
          <a:solidFill>
            <a:srgbClr val="C6D6EA"/>
          </a:solidFill>
          <a:ln/>
        </p:spPr>
      </p:sp>
      <p:sp>
        <p:nvSpPr>
          <p:cNvPr id="16" name="Text 14"/>
          <p:cNvSpPr txBox="1"/>
          <p:nvPr/>
        </p:nvSpPr>
        <p:spPr>
          <a:xfrm>
            <a:off x="4877410"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5</a:t>
            </a:r>
            <a:endParaRPr lang="en-US" sz="1200" dirty="0"/>
          </a:p>
        </p:txBody>
      </p:sp>
      <p:sp>
        <p:nvSpPr>
          <p:cNvPr id="17" name="Shape 15"/>
          <p:cNvSpPr/>
          <p:nvPr/>
        </p:nvSpPr>
        <p:spPr>
          <a:xfrm>
            <a:off x="5902452" y="5349240"/>
            <a:ext cx="384048" cy="384048"/>
          </a:xfrm>
          <a:prstGeom prst="ellipse">
            <a:avLst/>
          </a:prstGeom>
          <a:solidFill>
            <a:srgbClr val="C6D6EA"/>
          </a:solidFill>
          <a:ln/>
        </p:spPr>
      </p:sp>
      <p:sp>
        <p:nvSpPr>
          <p:cNvPr id="18" name="Text 16"/>
          <p:cNvSpPr txBox="1"/>
          <p:nvPr/>
        </p:nvSpPr>
        <p:spPr>
          <a:xfrm>
            <a:off x="5902452"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6</a:t>
            </a:r>
            <a:endParaRPr lang="en-US" sz="1200" dirty="0"/>
          </a:p>
        </p:txBody>
      </p:sp>
      <p:sp>
        <p:nvSpPr>
          <p:cNvPr id="19" name="Shape 17"/>
          <p:cNvSpPr/>
          <p:nvPr/>
        </p:nvSpPr>
        <p:spPr>
          <a:xfrm>
            <a:off x="6927494" y="5349240"/>
            <a:ext cx="384048" cy="384048"/>
          </a:xfrm>
          <a:prstGeom prst="ellipse">
            <a:avLst/>
          </a:prstGeom>
          <a:solidFill>
            <a:srgbClr val="C6D6EA"/>
          </a:solidFill>
          <a:ln/>
        </p:spPr>
      </p:sp>
      <p:sp>
        <p:nvSpPr>
          <p:cNvPr id="20" name="Text 18"/>
          <p:cNvSpPr txBox="1"/>
          <p:nvPr/>
        </p:nvSpPr>
        <p:spPr>
          <a:xfrm>
            <a:off x="6927494"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7</a:t>
            </a:r>
            <a:endParaRPr lang="en-US" sz="1200" dirty="0"/>
          </a:p>
        </p:txBody>
      </p:sp>
      <p:sp>
        <p:nvSpPr>
          <p:cNvPr id="21" name="Shape 19"/>
          <p:cNvSpPr/>
          <p:nvPr/>
        </p:nvSpPr>
        <p:spPr>
          <a:xfrm>
            <a:off x="7952537" y="5349240"/>
            <a:ext cx="384048" cy="384048"/>
          </a:xfrm>
          <a:prstGeom prst="ellipse">
            <a:avLst/>
          </a:prstGeom>
          <a:solidFill>
            <a:srgbClr val="C6D6EA"/>
          </a:solidFill>
          <a:ln/>
        </p:spPr>
      </p:sp>
      <p:sp>
        <p:nvSpPr>
          <p:cNvPr id="22" name="Text 20"/>
          <p:cNvSpPr txBox="1"/>
          <p:nvPr/>
        </p:nvSpPr>
        <p:spPr>
          <a:xfrm>
            <a:off x="7952537"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8</a:t>
            </a:r>
            <a:endParaRPr lang="en-US" sz="1200" dirty="0"/>
          </a:p>
        </p:txBody>
      </p:sp>
      <p:sp>
        <p:nvSpPr>
          <p:cNvPr id="23" name="Shape 21"/>
          <p:cNvSpPr/>
          <p:nvPr/>
        </p:nvSpPr>
        <p:spPr>
          <a:xfrm>
            <a:off x="8977579" y="5349240"/>
            <a:ext cx="384048" cy="384048"/>
          </a:xfrm>
          <a:prstGeom prst="ellipse">
            <a:avLst/>
          </a:prstGeom>
          <a:solidFill>
            <a:srgbClr val="C6D6EA"/>
          </a:solidFill>
          <a:ln/>
        </p:spPr>
      </p:sp>
      <p:sp>
        <p:nvSpPr>
          <p:cNvPr id="24" name="Text 22"/>
          <p:cNvSpPr txBox="1"/>
          <p:nvPr/>
        </p:nvSpPr>
        <p:spPr>
          <a:xfrm>
            <a:off x="8977579"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9</a:t>
            </a:r>
            <a:endParaRPr lang="en-US" sz="1200" dirty="0"/>
          </a:p>
        </p:txBody>
      </p:sp>
      <p:sp>
        <p:nvSpPr>
          <p:cNvPr id="25" name="Shape 23"/>
          <p:cNvSpPr/>
          <p:nvPr/>
        </p:nvSpPr>
        <p:spPr>
          <a:xfrm>
            <a:off x="10002622" y="5349240"/>
            <a:ext cx="384048" cy="384048"/>
          </a:xfrm>
          <a:prstGeom prst="ellipse">
            <a:avLst/>
          </a:prstGeom>
          <a:solidFill>
            <a:srgbClr val="C6D6EA"/>
          </a:solidFill>
          <a:ln/>
        </p:spPr>
      </p:sp>
      <p:sp>
        <p:nvSpPr>
          <p:cNvPr id="26" name="Text 24"/>
          <p:cNvSpPr txBox="1"/>
          <p:nvPr/>
        </p:nvSpPr>
        <p:spPr>
          <a:xfrm>
            <a:off x="10002622"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10</a:t>
            </a:r>
            <a:endParaRPr lang="en-US" sz="1200" dirty="0"/>
          </a:p>
        </p:txBody>
      </p:sp>
      <p:sp>
        <p:nvSpPr>
          <p:cNvPr id="27" name="Shape 25"/>
          <p:cNvSpPr/>
          <p:nvPr/>
        </p:nvSpPr>
        <p:spPr>
          <a:xfrm>
            <a:off x="11027664" y="5349240"/>
            <a:ext cx="384048" cy="384048"/>
          </a:xfrm>
          <a:prstGeom prst="ellipse">
            <a:avLst/>
          </a:prstGeom>
          <a:solidFill>
            <a:srgbClr val="1A5FB4"/>
          </a:solidFill>
          <a:ln/>
        </p:spPr>
      </p:sp>
      <p:sp>
        <p:nvSpPr>
          <p:cNvPr id="28" name="Text 26"/>
          <p:cNvSpPr txBox="1"/>
          <p:nvPr/>
        </p:nvSpPr>
        <p:spPr>
          <a:xfrm>
            <a:off x="11027664" y="53492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11</a:t>
            </a:r>
            <a:endParaRPr lang="en-US" sz="1200" dirty="0"/>
          </a:p>
        </p:txBody>
      </p:sp>
      <p:sp>
        <p:nvSpPr>
          <p:cNvPr id="29" name="Text 27"/>
          <p:cNvSpPr txBox="1"/>
          <p:nvPr/>
        </p:nvSpPr>
        <p:spPr>
          <a:xfrm>
            <a:off x="777240" y="5852160"/>
            <a:ext cx="10634472" cy="274320"/>
          </a:xfrm>
          <a:prstGeom prst="rect">
            <a:avLst/>
          </a:prstGeom>
          <a:noFill/>
          <a:ln/>
        </p:spPr>
        <p:txBody>
          <a:bodyPr wrap="square" lIns="0" tIns="0" rIns="0" bIns="0" rtlCol="0" anchor="t"/>
          <a:lstStyle/>
          <a:p>
            <a:pPr algn="l" indent="0" marL="0">
              <a:buNone/>
            </a:pPr>
            <a:r>
              <a:rPr lang="en-US" sz="1100" b="1" spc="200" kern="0" dirty="0">
                <a:solidFill>
                  <a:srgbClr val="9AA7B5"/>
                </a:solidFill>
                <a:latin typeface="Arial" pitchFamily="34" charset="0"/>
                <a:ea typeface="Arial" pitchFamily="34" charset="-122"/>
                <a:cs typeface="Arial" pitchFamily="34" charset="-120"/>
              </a:rPr>
              <a:t>THE ELEVEN STAGES</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10634472" cy="310896"/>
          </a:xfrm>
          <a:prstGeom prst="rect">
            <a:avLst/>
          </a:prstGeom>
          <a:noFill/>
          <a:ln/>
        </p:spPr>
        <p:txBody>
          <a:bodyPr wrap="square" lIns="0" tIns="0" rIns="0" bIns="0" rtlCol="0" anchor="t"/>
          <a:lstStyle/>
          <a:p>
            <a:pPr algn="l" indent="0" marL="0">
              <a:buNone/>
            </a:pPr>
            <a:r>
              <a:rPr lang="en-US" sz="1300" b="1" spc="200" kern="0" dirty="0">
                <a:solidFill>
                  <a:srgbClr val="1A5FB4"/>
                </a:solidFill>
                <a:latin typeface="Arial" pitchFamily="34" charset="0"/>
                <a:ea typeface="Arial" pitchFamily="34" charset="-122"/>
                <a:cs typeface="Arial" pitchFamily="34" charset="-120"/>
              </a:rPr>
              <a:t>THE LINE THAT DECIDES EVERYTHING</a:t>
            </a:r>
            <a:endParaRPr lang="en-US" sz="1300" dirty="0"/>
          </a:p>
        </p:txBody>
      </p:sp>
      <p:sp>
        <p:nvSpPr>
          <p:cNvPr id="3" name="Text 1"/>
          <p:cNvSpPr txBox="1"/>
          <p:nvPr/>
        </p:nvSpPr>
        <p:spPr>
          <a:xfrm>
            <a:off x="777240" y="960120"/>
            <a:ext cx="10634472" cy="813816"/>
          </a:xfrm>
          <a:prstGeom prst="rect">
            <a:avLst/>
          </a:prstGeom>
          <a:noFill/>
          <a:ln/>
        </p:spPr>
        <p:txBody>
          <a:bodyPr wrap="square" lIns="0" tIns="0" rIns="0" bIns="0" rtlCol="0" anchor="t"/>
          <a:lstStyle/>
          <a:p>
            <a:pPr algn="l" indent="0" marL="0">
              <a:buNone/>
            </a:pPr>
            <a:r>
              <a:rPr lang="en-US" sz="4400" b="1" dirty="0">
                <a:solidFill>
                  <a:srgbClr val="10243A"/>
                </a:solidFill>
                <a:latin typeface="Arial" pitchFamily="34" charset="0"/>
                <a:ea typeface="Arial" pitchFamily="34" charset="-122"/>
                <a:cs typeface="Arial" pitchFamily="34" charset="-120"/>
              </a:rPr>
              <a:t>Misdemeanor or felony?</a:t>
            </a:r>
            <a:endParaRPr lang="en-US" sz="4400" dirty="0"/>
          </a:p>
        </p:txBody>
      </p:sp>
      <p:sp>
        <p:nvSpPr>
          <p:cNvPr id="4" name="Shape 2"/>
          <p:cNvSpPr/>
          <p:nvPr/>
        </p:nvSpPr>
        <p:spPr>
          <a:xfrm>
            <a:off x="777240" y="2377440"/>
            <a:ext cx="5120640" cy="3017520"/>
          </a:xfrm>
          <a:prstGeom prst="roundRect">
            <a:avLst>
              <a:gd name="adj" fmla="val 2424"/>
            </a:avLst>
          </a:prstGeom>
          <a:solidFill>
            <a:srgbClr val="F2F5F8"/>
          </a:solidFill>
          <a:ln/>
        </p:spPr>
      </p:sp>
      <p:sp>
        <p:nvSpPr>
          <p:cNvPr id="5" name="Shape 3"/>
          <p:cNvSpPr/>
          <p:nvPr/>
        </p:nvSpPr>
        <p:spPr>
          <a:xfrm>
            <a:off x="6291072" y="2377440"/>
            <a:ext cx="5120640" cy="3017520"/>
          </a:xfrm>
          <a:prstGeom prst="roundRect">
            <a:avLst>
              <a:gd name="adj" fmla="val 2424"/>
            </a:avLst>
          </a:prstGeom>
          <a:solidFill>
            <a:srgbClr val="1A5FB4"/>
          </a:solidFill>
          <a:ln/>
        </p:spPr>
      </p:sp>
      <p:sp>
        <p:nvSpPr>
          <p:cNvPr id="6" name="Text 4"/>
          <p:cNvSpPr txBox="1"/>
          <p:nvPr/>
        </p:nvSpPr>
        <p:spPr>
          <a:xfrm>
            <a:off x="1188720" y="2697480"/>
            <a:ext cx="4297680" cy="548640"/>
          </a:xfrm>
          <a:prstGeom prst="rect">
            <a:avLst/>
          </a:prstGeom>
          <a:noFill/>
          <a:ln/>
        </p:spPr>
        <p:txBody>
          <a:bodyPr wrap="square" lIns="0" tIns="0" rIns="0" bIns="0" rtlCol="0" anchor="t"/>
          <a:lstStyle/>
          <a:p>
            <a:pPr algn="l" indent="0" marL="0">
              <a:buNone/>
            </a:pPr>
            <a:r>
              <a:rPr lang="en-US" sz="2800" b="1" dirty="0">
                <a:solidFill>
                  <a:srgbClr val="10243A"/>
                </a:solidFill>
                <a:latin typeface="Arial" pitchFamily="34" charset="0"/>
                <a:ea typeface="Arial" pitchFamily="34" charset="-122"/>
                <a:cs typeface="Arial" pitchFamily="34" charset="-120"/>
              </a:rPr>
              <a:t>Misdemeanor</a:t>
            </a:r>
            <a:endParaRPr lang="en-US" sz="2800" dirty="0"/>
          </a:p>
        </p:txBody>
      </p:sp>
      <p:sp>
        <p:nvSpPr>
          <p:cNvPr id="7" name="Text 5"/>
          <p:cNvSpPr txBox="1"/>
          <p:nvPr/>
        </p:nvSpPr>
        <p:spPr>
          <a:xfrm>
            <a:off x="1188720" y="3383280"/>
            <a:ext cx="4297680" cy="1737360"/>
          </a:xfrm>
          <a:prstGeom prst="rect">
            <a:avLst/>
          </a:prstGeom>
          <a:noFill/>
          <a:ln/>
        </p:spPr>
        <p:txBody>
          <a:bodyPr wrap="square" lIns="0" tIns="0" rIns="0" bIns="0" rtlCol="0" anchor="t"/>
          <a:lstStyle/>
          <a:p>
            <a:pPr algn="l" indent="0" marL="0">
              <a:lnSpc>
                <a:spcPts val="3400"/>
              </a:lnSpc>
              <a:buNone/>
            </a:pPr>
            <a:r>
              <a:rPr lang="en-US" sz="2100" dirty="0">
                <a:solidFill>
                  <a:srgbClr val="1B1B1B"/>
                </a:solidFill>
                <a:latin typeface="Arial" pitchFamily="34" charset="0"/>
                <a:ea typeface="Arial" pitchFamily="34" charset="-122"/>
                <a:cs typeface="Arial" pitchFamily="34" charset="-120"/>
              </a:rPr>
              <a:t>Up to one year</a:t>
            </a:r>
            <a:endParaRPr lang="en-US" sz="2100" dirty="0"/>
          </a:p>
          <a:p>
            <a:pPr algn="l" indent="0" marL="0">
              <a:lnSpc>
                <a:spcPts val="3400"/>
              </a:lnSpc>
              <a:buNone/>
            </a:pPr>
            <a:r>
              <a:rPr lang="en-US" sz="2100" dirty="0">
                <a:solidFill>
                  <a:srgbClr val="1B1B1B"/>
                </a:solidFill>
                <a:latin typeface="Arial" pitchFamily="34" charset="0"/>
                <a:ea typeface="Arial" pitchFamily="34" charset="-122"/>
                <a:cs typeface="Arial" pitchFamily="34" charset="-120"/>
              </a:rPr>
              <a:t>County jail</a:t>
            </a:r>
            <a:endParaRPr lang="en-US" sz="2100" dirty="0"/>
          </a:p>
          <a:p>
            <a:pPr algn="l" indent="0" marL="0">
              <a:lnSpc>
                <a:spcPts val="3400"/>
              </a:lnSpc>
              <a:buNone/>
            </a:pPr>
            <a:r>
              <a:rPr lang="en-US" sz="2100" dirty="0">
                <a:solidFill>
                  <a:srgbClr val="1B1B1B"/>
                </a:solidFill>
                <a:latin typeface="Arial" pitchFamily="34" charset="0"/>
                <a:ea typeface="Arial" pitchFamily="34" charset="-122"/>
                <a:cs typeface="Arial" pitchFamily="34" charset="-120"/>
              </a:rPr>
              <a:t>Heard in county court</a:t>
            </a:r>
            <a:endParaRPr lang="en-US" sz="2100" dirty="0"/>
          </a:p>
        </p:txBody>
      </p:sp>
      <p:sp>
        <p:nvSpPr>
          <p:cNvPr id="8" name="Text 6"/>
          <p:cNvSpPr txBox="1"/>
          <p:nvPr/>
        </p:nvSpPr>
        <p:spPr>
          <a:xfrm>
            <a:off x="6702552" y="2697480"/>
            <a:ext cx="4297680" cy="548640"/>
          </a:xfrm>
          <a:prstGeom prst="rect">
            <a:avLst/>
          </a:prstGeom>
          <a:noFill/>
          <a:ln/>
        </p:spPr>
        <p:txBody>
          <a:bodyPr wrap="square" lIns="0" tIns="0" rIns="0" bIns="0" rtlCol="0" anchor="t"/>
          <a:lstStyle/>
          <a:p>
            <a:pPr algn="l" indent="0" marL="0">
              <a:buNone/>
            </a:pPr>
            <a:r>
              <a:rPr lang="en-US" sz="2800" b="1" dirty="0">
                <a:solidFill>
                  <a:srgbClr val="FFFFFF"/>
                </a:solidFill>
                <a:latin typeface="Arial" pitchFamily="34" charset="0"/>
                <a:ea typeface="Arial" pitchFamily="34" charset="-122"/>
                <a:cs typeface="Arial" pitchFamily="34" charset="-120"/>
              </a:rPr>
              <a:t>Felony</a:t>
            </a:r>
            <a:endParaRPr lang="en-US" sz="2800" dirty="0"/>
          </a:p>
        </p:txBody>
      </p:sp>
      <p:sp>
        <p:nvSpPr>
          <p:cNvPr id="9" name="Text 7"/>
          <p:cNvSpPr txBox="1"/>
          <p:nvPr/>
        </p:nvSpPr>
        <p:spPr>
          <a:xfrm>
            <a:off x="6702552" y="3383280"/>
            <a:ext cx="4297680" cy="1737360"/>
          </a:xfrm>
          <a:prstGeom prst="rect">
            <a:avLst/>
          </a:prstGeom>
          <a:noFill/>
          <a:ln/>
        </p:spPr>
        <p:txBody>
          <a:bodyPr wrap="square" lIns="0" tIns="0" rIns="0" bIns="0" rtlCol="0" anchor="t"/>
          <a:lstStyle/>
          <a:p>
            <a:pPr algn="l" indent="0" marL="0">
              <a:lnSpc>
                <a:spcPts val="3400"/>
              </a:lnSpc>
              <a:buNone/>
            </a:pPr>
            <a:r>
              <a:rPr lang="en-US" sz="2100" dirty="0">
                <a:solidFill>
                  <a:srgbClr val="FFFFFF"/>
                </a:solidFill>
                <a:latin typeface="Arial" pitchFamily="34" charset="0"/>
                <a:ea typeface="Arial" pitchFamily="34" charset="-122"/>
                <a:cs typeface="Arial" pitchFamily="34" charset="-120"/>
              </a:rPr>
              <a:t>More than one year</a:t>
            </a:r>
            <a:endParaRPr lang="en-US" sz="2100" dirty="0"/>
          </a:p>
          <a:p>
            <a:pPr algn="l" indent="0" marL="0">
              <a:lnSpc>
                <a:spcPts val="3400"/>
              </a:lnSpc>
              <a:buNone/>
            </a:pPr>
            <a:r>
              <a:rPr lang="en-US" sz="2100" dirty="0">
                <a:solidFill>
                  <a:srgbClr val="FFFFFF"/>
                </a:solidFill>
                <a:latin typeface="Arial" pitchFamily="34" charset="0"/>
                <a:ea typeface="Arial" pitchFamily="34" charset="-122"/>
                <a:cs typeface="Arial" pitchFamily="34" charset="-120"/>
              </a:rPr>
              <a:t>State prison</a:t>
            </a:r>
            <a:endParaRPr lang="en-US" sz="2100" dirty="0"/>
          </a:p>
          <a:p>
            <a:pPr algn="l" indent="0" marL="0">
              <a:lnSpc>
                <a:spcPts val="3400"/>
              </a:lnSpc>
              <a:buNone/>
            </a:pPr>
            <a:r>
              <a:rPr lang="en-US" sz="2100" dirty="0">
                <a:solidFill>
                  <a:srgbClr val="FFFFFF"/>
                </a:solidFill>
                <a:latin typeface="Arial" pitchFamily="34" charset="0"/>
                <a:ea typeface="Arial" pitchFamily="34" charset="-122"/>
                <a:cs typeface="Arial" pitchFamily="34" charset="-120"/>
              </a:rPr>
              <a:t>Heard in circuit court</a:t>
            </a:r>
            <a:endParaRPr lang="en-US" sz="2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10634472" cy="310896"/>
          </a:xfrm>
          <a:prstGeom prst="rect">
            <a:avLst/>
          </a:prstGeom>
          <a:noFill/>
          <a:ln/>
        </p:spPr>
        <p:txBody>
          <a:bodyPr wrap="square" lIns="0" tIns="0" rIns="0" bIns="0" rtlCol="0" anchor="t"/>
          <a:lstStyle/>
          <a:p>
            <a:pPr algn="l" indent="0" marL="0">
              <a:buNone/>
            </a:pPr>
            <a:r>
              <a:rPr lang="en-US" sz="1300" b="1" spc="200" kern="0" dirty="0">
                <a:solidFill>
                  <a:srgbClr val="1A5FB4"/>
                </a:solidFill>
                <a:latin typeface="Arial" pitchFamily="34" charset="0"/>
                <a:ea typeface="Arial" pitchFamily="34" charset="-122"/>
                <a:cs typeface="Arial" pitchFamily="34" charset="-120"/>
              </a:rPr>
              <a:t>EVERYONE VOTES</a:t>
            </a:r>
            <a:endParaRPr lang="en-US" sz="1300" dirty="0"/>
          </a:p>
        </p:txBody>
      </p:sp>
      <p:sp>
        <p:nvSpPr>
          <p:cNvPr id="3" name="Text 1"/>
          <p:cNvSpPr txBox="1"/>
          <p:nvPr/>
        </p:nvSpPr>
        <p:spPr>
          <a:xfrm>
            <a:off x="777240" y="1143000"/>
            <a:ext cx="10634472" cy="1426464"/>
          </a:xfrm>
          <a:prstGeom prst="rect">
            <a:avLst/>
          </a:prstGeom>
          <a:noFill/>
          <a:ln/>
        </p:spPr>
        <p:txBody>
          <a:bodyPr wrap="square" lIns="0" tIns="0" rIns="0" bIns="0" rtlCol="0" anchor="t"/>
          <a:lstStyle/>
          <a:p>
            <a:pPr algn="l" indent="0" marL="0">
              <a:buNone/>
            </a:pPr>
            <a:r>
              <a:rPr lang="en-US" sz="4200" b="1" dirty="0">
                <a:solidFill>
                  <a:srgbClr val="10243A"/>
                </a:solidFill>
                <a:latin typeface="Arial" pitchFamily="34" charset="0"/>
                <a:ea typeface="Arial" pitchFamily="34" charset="-122"/>
                <a:cs typeface="Arial" pitchFamily="34" charset="-120"/>
              </a:rPr>
              <a:t>A $640 power washer is stolen.</a:t>
            </a:r>
            <a:endParaRPr lang="en-US" sz="4200" dirty="0"/>
          </a:p>
          <a:p>
            <a:pPr algn="l" indent="0" marL="0">
              <a:buNone/>
            </a:pPr>
            <a:r>
              <a:rPr lang="en-US" sz="4200" b="1" dirty="0">
                <a:solidFill>
                  <a:srgbClr val="10243A"/>
                </a:solidFill>
                <a:latin typeface="Arial" pitchFamily="34" charset="0"/>
                <a:ea typeface="Arial" pitchFamily="34" charset="-122"/>
                <a:cs typeface="Arial" pitchFamily="34" charset="-120"/>
              </a:rPr>
              <a:t>Misdemeanor or felony?</a:t>
            </a:r>
            <a:endParaRPr lang="en-US" sz="4200" dirty="0"/>
          </a:p>
        </p:txBody>
      </p:sp>
      <p:sp>
        <p:nvSpPr>
          <p:cNvPr id="4" name="Text 2"/>
          <p:cNvSpPr txBox="1"/>
          <p:nvPr/>
        </p:nvSpPr>
        <p:spPr>
          <a:xfrm>
            <a:off x="777240" y="3200400"/>
            <a:ext cx="10634472" cy="621792"/>
          </a:xfrm>
          <a:prstGeom prst="rect">
            <a:avLst/>
          </a:prstGeom>
          <a:noFill/>
          <a:ln/>
        </p:spPr>
        <p:txBody>
          <a:bodyPr wrap="square" lIns="0" tIns="0" rIns="0" bIns="0" rtlCol="0" anchor="t"/>
          <a:lstStyle/>
          <a:p>
            <a:pPr algn="l" indent="0" marL="0">
              <a:lnSpc>
                <a:spcPts val="3500"/>
              </a:lnSpc>
              <a:buNone/>
            </a:pPr>
            <a:r>
              <a:rPr lang="en-US" sz="2400" dirty="0">
                <a:solidFill>
                  <a:srgbClr val="1B1B1B"/>
                </a:solidFill>
                <a:latin typeface="Arial" pitchFamily="34" charset="0"/>
                <a:ea typeface="Arial" pitchFamily="34" charset="-122"/>
                <a:cs typeface="Arial" pitchFamily="34" charset="-120"/>
              </a:rPr>
              <a:t>No talking. Vote first.</a:t>
            </a:r>
            <a:endParaRPr lang="en-US" sz="2400" dirty="0"/>
          </a:p>
        </p:txBody>
      </p:sp>
      <p:sp>
        <p:nvSpPr>
          <p:cNvPr id="5" name="Text 3"/>
          <p:cNvSpPr txBox="1"/>
          <p:nvPr/>
        </p:nvSpPr>
        <p:spPr>
          <a:xfrm>
            <a:off x="777240" y="6144768"/>
            <a:ext cx="10634472" cy="310896"/>
          </a:xfrm>
          <a:prstGeom prst="rect">
            <a:avLst/>
          </a:prstGeom>
          <a:noFill/>
          <a:ln/>
        </p:spPr>
        <p:txBody>
          <a:bodyPr wrap="square" lIns="0" tIns="0" rIns="0" bIns="0" rtlCol="0" anchor="t"/>
          <a:lstStyle/>
          <a:p>
            <a:pPr algn="l" indent="0" marL="0">
              <a:buNone/>
            </a:pPr>
            <a:r>
              <a:rPr lang="en-US" sz="1200" dirty="0">
                <a:solidFill>
                  <a:srgbClr val="5F6B79"/>
                </a:solidFill>
                <a:latin typeface="Arial" pitchFamily="34" charset="0"/>
                <a:ea typeface="Arial" pitchFamily="34" charset="-122"/>
                <a:cs typeface="Arial" pitchFamily="34" charset="-120"/>
              </a:rPr>
              <a:t>Poll · two options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10634472" cy="310896"/>
          </a:xfrm>
          <a:prstGeom prst="rect">
            <a:avLst/>
          </a:prstGeom>
          <a:noFill/>
          <a:ln/>
        </p:spPr>
        <p:txBody>
          <a:bodyPr wrap="square" lIns="0" tIns="0" rIns="0" bIns="0" rtlCol="0" anchor="t"/>
          <a:lstStyle/>
          <a:p>
            <a:pPr algn="l" indent="0" marL="0">
              <a:buNone/>
            </a:pPr>
            <a:r>
              <a:rPr lang="en-US" sz="1300" b="1" spc="200" kern="0" dirty="0">
                <a:solidFill>
                  <a:srgbClr val="1A5FB4"/>
                </a:solidFill>
                <a:latin typeface="Arial" pitchFamily="34" charset="0"/>
                <a:ea typeface="Arial" pitchFamily="34" charset="-122"/>
                <a:cs typeface="Arial" pitchFamily="34" charset="-120"/>
              </a:rPr>
              <a:t>ONE FLORIDA CASE · 1961</a:t>
            </a:r>
            <a:endParaRPr lang="en-US" sz="1300" dirty="0"/>
          </a:p>
        </p:txBody>
      </p:sp>
      <p:sp>
        <p:nvSpPr>
          <p:cNvPr id="3" name="Text 1"/>
          <p:cNvSpPr txBox="1"/>
          <p:nvPr/>
        </p:nvSpPr>
        <p:spPr>
          <a:xfrm>
            <a:off x="777240" y="1051560"/>
            <a:ext cx="10634472" cy="1490472"/>
          </a:xfrm>
          <a:prstGeom prst="rect">
            <a:avLst/>
          </a:prstGeom>
          <a:noFill/>
          <a:ln/>
        </p:spPr>
        <p:txBody>
          <a:bodyPr wrap="square" lIns="0" tIns="0" rIns="0" bIns="0" rtlCol="0" anchor="t"/>
          <a:lstStyle/>
          <a:p>
            <a:pPr algn="l" indent="0" marL="0">
              <a:buNone/>
            </a:pPr>
            <a:r>
              <a:rPr lang="en-US" sz="4400" b="1" dirty="0">
                <a:solidFill>
                  <a:srgbClr val="10243A"/>
                </a:solidFill>
                <a:latin typeface="Arial" pitchFamily="34" charset="0"/>
                <a:ea typeface="Arial" pitchFamily="34" charset="-122"/>
                <a:cs typeface="Arial" pitchFamily="34" charset="-120"/>
              </a:rPr>
              <a:t>He asked for a lawyer.</a:t>
            </a:r>
            <a:endParaRPr lang="en-US" sz="4400" dirty="0"/>
          </a:p>
          <a:p>
            <a:pPr algn="l" indent="0" marL="0">
              <a:buNone/>
            </a:pPr>
            <a:r>
              <a:rPr lang="en-US" sz="4400" b="1" dirty="0">
                <a:solidFill>
                  <a:srgbClr val="10243A"/>
                </a:solidFill>
                <a:latin typeface="Arial" pitchFamily="34" charset="0"/>
                <a:ea typeface="Arial" pitchFamily="34" charset="-122"/>
                <a:cs typeface="Arial" pitchFamily="34" charset="-120"/>
              </a:rPr>
              <a:t>Florida said no.</a:t>
            </a:r>
            <a:endParaRPr lang="en-US" sz="4400" dirty="0"/>
          </a:p>
        </p:txBody>
      </p:sp>
      <p:sp>
        <p:nvSpPr>
          <p:cNvPr id="4" name="Text 2"/>
          <p:cNvSpPr txBox="1"/>
          <p:nvPr/>
        </p:nvSpPr>
        <p:spPr>
          <a:xfrm>
            <a:off x="777240" y="3063240"/>
            <a:ext cx="10634472" cy="2633472"/>
          </a:xfrm>
          <a:prstGeom prst="rect">
            <a:avLst/>
          </a:prstGeom>
          <a:noFill/>
          <a:ln/>
        </p:spPr>
        <p:txBody>
          <a:bodyPr wrap="square" lIns="0" tIns="0" rIns="0" bIns="0" rtlCol="0" anchor="t"/>
          <a:lstStyle/>
          <a:p>
            <a:pPr algn="l" indent="0" marL="0">
              <a:lnSpc>
                <a:spcPts val="2800"/>
              </a:lnSpc>
              <a:buNone/>
            </a:pPr>
            <a:r>
              <a:rPr lang="en-US" sz="1900" dirty="0">
                <a:solidFill>
                  <a:srgbClr val="1B1B1B"/>
                </a:solidFill>
                <a:latin typeface="Arial" pitchFamily="34" charset="0"/>
                <a:ea typeface="Arial" pitchFamily="34" charset="-122"/>
                <a:cs typeface="Arial" pitchFamily="34" charset="-120"/>
              </a:rPr>
              <a:t>Charged with breaking into a Panama City pool hall. He could not afford a lawyer, and Florida said it did not have to give him one. He defended himself, lost, and went to prison.</a:t>
            </a:r>
            <a:endParaRPr lang="en-US" sz="1900" dirty="0"/>
          </a:p>
          <a:p>
            <a:pPr algn="l" indent="0" marL="0">
              <a:lnSpc>
                <a:spcPts val="2800"/>
              </a:lnSpc>
              <a:buNone/>
            </a:pPr>
            <a:endParaRPr lang="en-US" sz="1900" dirty="0"/>
          </a:p>
          <a:p>
            <a:pPr algn="l" indent="0" marL="0">
              <a:lnSpc>
                <a:spcPts val="2800"/>
              </a:lnSpc>
              <a:buNone/>
            </a:pPr>
            <a:r>
              <a:rPr lang="en-US" sz="1900" dirty="0">
                <a:solidFill>
                  <a:srgbClr val="1B1B1B"/>
                </a:solidFill>
                <a:latin typeface="Arial" pitchFamily="34" charset="0"/>
                <a:ea typeface="Arial" pitchFamily="34" charset="-122"/>
                <a:cs typeface="Arial" pitchFamily="34" charset="-120"/>
              </a:rPr>
              <a:t>From his cell he wrote to the U.S. Supreme Court in pencil. In 1963 the Court ruled that anyone facing serious charges has the right to a lawyer — paid for by the state if they cannot afford one.</a:t>
            </a:r>
            <a:endParaRPr lang="en-US" sz="1900" dirty="0"/>
          </a:p>
          <a:p>
            <a:pPr algn="l" indent="0" marL="0">
              <a:lnSpc>
                <a:spcPts val="2800"/>
              </a:lnSpc>
              <a:buNone/>
            </a:pPr>
            <a:endParaRPr lang="en-US" sz="1900" dirty="0"/>
          </a:p>
          <a:p>
            <a:pPr algn="l" indent="0" marL="0">
              <a:lnSpc>
                <a:spcPts val="2800"/>
              </a:lnSpc>
              <a:buNone/>
            </a:pPr>
            <a:r>
              <a:rPr lang="en-US" sz="1900" dirty="0">
                <a:solidFill>
                  <a:srgbClr val="1B1B1B"/>
                </a:solidFill>
                <a:latin typeface="Arial" pitchFamily="34" charset="0"/>
                <a:ea typeface="Arial" pitchFamily="34" charset="-122"/>
                <a:cs typeface="Arial" pitchFamily="34" charset="-120"/>
              </a:rPr>
              <a:t>Retried with a lawyer, Gideon was acquitted.</a:t>
            </a:r>
            <a:endParaRPr lang="en-US" sz="1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10634472" cy="310896"/>
          </a:xfrm>
          <a:prstGeom prst="rect">
            <a:avLst/>
          </a:prstGeom>
          <a:noFill/>
          <a:ln/>
        </p:spPr>
        <p:txBody>
          <a:bodyPr wrap="square" lIns="0" tIns="0" rIns="0" bIns="0" rtlCol="0" anchor="t"/>
          <a:lstStyle/>
          <a:p>
            <a:pPr algn="l" indent="0" marL="0">
              <a:buNone/>
            </a:pPr>
            <a:r>
              <a:rPr lang="en-US" sz="1300" b="1" spc="200" kern="0" dirty="0">
                <a:solidFill>
                  <a:srgbClr val="1A5FB4"/>
                </a:solidFill>
                <a:latin typeface="Arial" pitchFamily="34" charset="0"/>
                <a:ea typeface="Arial" pitchFamily="34" charset="-122"/>
                <a:cs typeface="Arial" pitchFamily="34" charset="-120"/>
              </a:rPr>
              <a:t>NOW WATCH IT HAPPEN</a:t>
            </a:r>
            <a:endParaRPr lang="en-US" sz="1300" dirty="0"/>
          </a:p>
        </p:txBody>
      </p:sp>
      <p:sp>
        <p:nvSpPr>
          <p:cNvPr id="3" name="Text 1"/>
          <p:cNvSpPr txBox="1"/>
          <p:nvPr/>
        </p:nvSpPr>
        <p:spPr>
          <a:xfrm>
            <a:off x="777240" y="960120"/>
            <a:ext cx="10634472" cy="841248"/>
          </a:xfrm>
          <a:prstGeom prst="rect">
            <a:avLst/>
          </a:prstGeom>
          <a:noFill/>
          <a:ln/>
        </p:spPr>
        <p:txBody>
          <a:bodyPr wrap="square" lIns="0" tIns="0" rIns="0" bIns="0" rtlCol="0" anchor="t"/>
          <a:lstStyle/>
          <a:p>
            <a:pPr algn="l" indent="0" marL="0">
              <a:buNone/>
            </a:pPr>
            <a:r>
              <a:rPr lang="en-US" sz="4600" b="1" dirty="0">
                <a:solidFill>
                  <a:srgbClr val="10243A"/>
                </a:solidFill>
                <a:latin typeface="Arial" pitchFamily="34" charset="0"/>
                <a:ea typeface="Arial" pitchFamily="34" charset="-122"/>
                <a:cs typeface="Arial" pitchFamily="34" charset="-120"/>
              </a:rPr>
              <a:t>State of Florida v. Ramirez</a:t>
            </a:r>
            <a:endParaRPr lang="en-US" sz="4600" dirty="0"/>
          </a:p>
        </p:txBody>
      </p:sp>
      <p:sp>
        <p:nvSpPr>
          <p:cNvPr id="4" name="Text 2"/>
          <p:cNvSpPr txBox="1"/>
          <p:nvPr/>
        </p:nvSpPr>
        <p:spPr>
          <a:xfrm>
            <a:off x="777240" y="2377440"/>
            <a:ext cx="10634472" cy="658368"/>
          </a:xfrm>
          <a:prstGeom prst="rect">
            <a:avLst/>
          </a:prstGeom>
          <a:noFill/>
          <a:ln/>
        </p:spPr>
        <p:txBody>
          <a:bodyPr wrap="square" lIns="0" tIns="0" rIns="0" bIns="0" rtlCol="0" anchor="t"/>
          <a:lstStyle/>
          <a:p>
            <a:pPr algn="l" indent="0" marL="0">
              <a:lnSpc>
                <a:spcPts val="3800"/>
              </a:lnSpc>
              <a:buNone/>
            </a:pPr>
            <a:r>
              <a:rPr lang="en-US" sz="2600" dirty="0">
                <a:solidFill>
                  <a:srgbClr val="1B1B1B"/>
                </a:solidFill>
                <a:latin typeface="Arial" pitchFamily="34" charset="0"/>
                <a:ea typeface="Arial" pitchFamily="34" charset="-122"/>
                <a:cs typeface="Arial" pitchFamily="34" charset="-120"/>
              </a:rPr>
              <a:t>Eleven paragraphs. After each one, you call the stage.</a:t>
            </a:r>
            <a:endParaRPr lang="en-US" sz="2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10634472" cy="310896"/>
          </a:xfrm>
          <a:prstGeom prst="rect">
            <a:avLst/>
          </a:prstGeom>
          <a:noFill/>
          <a:ln/>
        </p:spPr>
        <p:txBody>
          <a:bodyPr wrap="square" lIns="0" tIns="0" rIns="0" bIns="0" rtlCol="0" anchor="t"/>
          <a:lstStyle/>
          <a:p>
            <a:pPr algn="l" indent="0" marL="0">
              <a:buNone/>
            </a:pPr>
            <a:r>
              <a:rPr lang="en-US" sz="1300" b="1" spc="200" kern="0" dirty="0">
                <a:solidFill>
                  <a:srgbClr val="1A5FB4"/>
                </a:solidFill>
                <a:latin typeface="Arial" pitchFamily="34" charset="0"/>
                <a:ea typeface="Arial" pitchFamily="34" charset="-122"/>
                <a:cs typeface="Arial" pitchFamily="34" charset="-120"/>
              </a:rPr>
              <a:t>THE CASE · 1 OF 11</a:t>
            </a:r>
            <a:endParaRPr lang="en-US" sz="1300" dirty="0"/>
          </a:p>
        </p:txBody>
      </p:sp>
      <p:sp>
        <p:nvSpPr>
          <p:cNvPr id="3" name="Text 1"/>
          <p:cNvSpPr txBox="1"/>
          <p:nvPr/>
        </p:nvSpPr>
        <p:spPr>
          <a:xfrm>
            <a:off x="777240" y="1325880"/>
            <a:ext cx="10634472" cy="3200400"/>
          </a:xfrm>
          <a:prstGeom prst="rect">
            <a:avLst/>
          </a:prstGeom>
          <a:noFill/>
          <a:ln/>
        </p:spPr>
        <p:txBody>
          <a:bodyPr wrap="square" lIns="0" tIns="0" rIns="0" bIns="0" rtlCol="0" anchor="t"/>
          <a:lstStyle/>
          <a:p>
            <a:pPr algn="l" indent="0" marL="0">
              <a:lnSpc>
                <a:spcPts val="3900"/>
              </a:lnSpc>
              <a:buNone/>
            </a:pPr>
            <a:r>
              <a:rPr lang="en-US" sz="2700" dirty="0">
                <a:solidFill>
                  <a:srgbClr val="1B1B1B"/>
                </a:solidFill>
                <a:latin typeface="Arial" pitchFamily="34" charset="0"/>
                <a:ea typeface="Arial" pitchFamily="34" charset="-122"/>
                <a:cs typeface="Arial" pitchFamily="34" charset="-120"/>
              </a:rPr>
              <a:t>At 7:42 p.m. on a Tuesday, a hardware store owner in Ocala calls 911. He says a man just walked out with a power washer without paying and drove off in a grey pickup.</a:t>
            </a:r>
            <a:endParaRPr lang="en-US" sz="2700" dirty="0"/>
          </a:p>
        </p:txBody>
      </p:sp>
      <p:sp>
        <p:nvSpPr>
          <p:cNvPr id="4" name="Text 2"/>
          <p:cNvSpPr txBox="1"/>
          <p:nvPr/>
        </p:nvSpPr>
        <p:spPr>
          <a:xfrm>
            <a:off x="777240" y="4663440"/>
            <a:ext cx="10634472" cy="548640"/>
          </a:xfrm>
          <a:prstGeom prst="rect">
            <a:avLst/>
          </a:prstGeom>
          <a:noFill/>
          <a:ln/>
        </p:spPr>
        <p:txBody>
          <a:bodyPr wrap="square" lIns="0" tIns="0" rIns="0" bIns="0" rtlCol="0" anchor="t"/>
          <a:lstStyle/>
          <a:p>
            <a:pPr algn="l" indent="0" marL="0">
              <a:buNone/>
            </a:pPr>
            <a:r>
              <a:rPr lang="en-US" sz="2600" b="1" dirty="0">
                <a:solidFill>
                  <a:srgbClr val="1A5FB4"/>
                </a:solidFill>
                <a:latin typeface="Arial" pitchFamily="34" charset="0"/>
                <a:ea typeface="Arial" pitchFamily="34" charset="-122"/>
                <a:cs typeface="Arial" pitchFamily="34" charset="-120"/>
              </a:rPr>
              <a:t>Which stage is this?</a:t>
            </a:r>
            <a:endParaRPr lang="en-US" sz="2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10634472" cy="310896"/>
          </a:xfrm>
          <a:prstGeom prst="rect">
            <a:avLst/>
          </a:prstGeom>
          <a:noFill/>
          <a:ln/>
        </p:spPr>
        <p:txBody>
          <a:bodyPr wrap="square" lIns="0" tIns="0" rIns="0" bIns="0" rtlCol="0" anchor="t"/>
          <a:lstStyle/>
          <a:p>
            <a:pPr algn="l" indent="0" marL="0">
              <a:buNone/>
            </a:pPr>
            <a:r>
              <a:rPr lang="en-US" sz="1300" b="1" spc="200" kern="0" dirty="0">
                <a:solidFill>
                  <a:srgbClr val="1A5FB4"/>
                </a:solidFill>
                <a:latin typeface="Arial" pitchFamily="34" charset="0"/>
                <a:ea typeface="Arial" pitchFamily="34" charset="-122"/>
                <a:cs typeface="Arial" pitchFamily="34" charset="-120"/>
              </a:rPr>
              <a:t>ANSWER</a:t>
            </a:r>
            <a:endParaRPr lang="en-US" sz="1300" dirty="0"/>
          </a:p>
        </p:txBody>
      </p:sp>
      <p:sp>
        <p:nvSpPr>
          <p:cNvPr id="3" name="Shape 1"/>
          <p:cNvSpPr/>
          <p:nvPr/>
        </p:nvSpPr>
        <p:spPr>
          <a:xfrm>
            <a:off x="777240" y="2103120"/>
            <a:ext cx="1051560" cy="1051560"/>
          </a:xfrm>
          <a:prstGeom prst="ellipse">
            <a:avLst/>
          </a:prstGeom>
          <a:solidFill>
            <a:srgbClr val="1A5FB4"/>
          </a:solidFill>
          <a:ln/>
        </p:spPr>
      </p:sp>
      <p:sp>
        <p:nvSpPr>
          <p:cNvPr id="4" name="Text 2"/>
          <p:cNvSpPr txBox="1"/>
          <p:nvPr/>
        </p:nvSpPr>
        <p:spPr>
          <a:xfrm>
            <a:off x="777240" y="2103120"/>
            <a:ext cx="1051560" cy="105156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a:t>
            </a:r>
            <a:endParaRPr lang="en-US" sz="3000" dirty="0"/>
          </a:p>
        </p:txBody>
      </p:sp>
      <p:sp>
        <p:nvSpPr>
          <p:cNvPr id="5" name="Text 3"/>
          <p:cNvSpPr txBox="1"/>
          <p:nvPr/>
        </p:nvSpPr>
        <p:spPr>
          <a:xfrm>
            <a:off x="2148840" y="2103120"/>
            <a:ext cx="9262872" cy="822960"/>
          </a:xfrm>
          <a:prstGeom prst="rect">
            <a:avLst/>
          </a:prstGeom>
          <a:noFill/>
          <a:ln/>
        </p:spPr>
        <p:txBody>
          <a:bodyPr wrap="square" lIns="0" tIns="0" rIns="0" bIns="0" rtlCol="0" anchor="t"/>
          <a:lstStyle/>
          <a:p>
            <a:pPr algn="l" indent="0" marL="0">
              <a:buNone/>
            </a:pPr>
            <a:r>
              <a:rPr lang="en-US" sz="4000" b="1" dirty="0">
                <a:solidFill>
                  <a:srgbClr val="10243A"/>
                </a:solidFill>
                <a:latin typeface="Arial" pitchFamily="34" charset="0"/>
                <a:ea typeface="Arial" pitchFamily="34" charset="-122"/>
                <a:cs typeface="Arial" pitchFamily="34" charset="-120"/>
              </a:rPr>
              <a:t>Report or call for service</a:t>
            </a:r>
            <a:endParaRPr lang="en-US" sz="4000" dirty="0"/>
          </a:p>
        </p:txBody>
      </p:sp>
      <p:sp>
        <p:nvSpPr>
          <p:cNvPr id="6" name="Text 4"/>
          <p:cNvSpPr txBox="1"/>
          <p:nvPr/>
        </p:nvSpPr>
        <p:spPr>
          <a:xfrm>
            <a:off x="2148840" y="3063240"/>
            <a:ext cx="9262872" cy="1280160"/>
          </a:xfrm>
          <a:prstGeom prst="rect">
            <a:avLst/>
          </a:prstGeom>
          <a:noFill/>
          <a:ln/>
        </p:spPr>
        <p:txBody>
          <a:bodyPr wrap="square" lIns="0" tIns="0" rIns="0" bIns="0" rtlCol="0" anchor="t"/>
          <a:lstStyle/>
          <a:p>
            <a:pPr algn="l" indent="0" marL="0">
              <a:lnSpc>
                <a:spcPts val="3200"/>
              </a:lnSpc>
              <a:buNone/>
            </a:pPr>
            <a:r>
              <a:rPr lang="en-US" sz="2200" dirty="0">
                <a:solidFill>
                  <a:srgbClr val="5F6B79"/>
                </a:solidFill>
                <a:latin typeface="Arial" pitchFamily="34" charset="0"/>
                <a:ea typeface="Arial" pitchFamily="34" charset="-122"/>
                <a:cs typeface="Arial" pitchFamily="34" charset="-120"/>
              </a:rPr>
              <a:t>A civilian starts the case. Dispatch assigns it.</a:t>
            </a:r>
            <a:endParaRPr lang="en-US" sz="2200" dirty="0"/>
          </a:p>
        </p:txBody>
      </p:sp>
      <p:sp>
        <p:nvSpPr>
          <p:cNvPr id="7" name="Shape 5"/>
          <p:cNvSpPr/>
          <p:nvPr/>
        </p:nvSpPr>
        <p:spPr>
          <a:xfrm>
            <a:off x="777240" y="5349240"/>
            <a:ext cx="384048" cy="384048"/>
          </a:xfrm>
          <a:prstGeom prst="ellipse">
            <a:avLst/>
          </a:prstGeom>
          <a:solidFill>
            <a:srgbClr val="1A5FB4"/>
          </a:solidFill>
          <a:ln/>
        </p:spPr>
      </p:sp>
      <p:sp>
        <p:nvSpPr>
          <p:cNvPr id="8" name="Text 6"/>
          <p:cNvSpPr txBox="1"/>
          <p:nvPr/>
        </p:nvSpPr>
        <p:spPr>
          <a:xfrm>
            <a:off x="777240" y="53492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9" name="Shape 7"/>
          <p:cNvSpPr/>
          <p:nvPr/>
        </p:nvSpPr>
        <p:spPr>
          <a:xfrm>
            <a:off x="1802282" y="5349240"/>
            <a:ext cx="384048" cy="384048"/>
          </a:xfrm>
          <a:prstGeom prst="ellipse">
            <a:avLst/>
          </a:prstGeom>
          <a:solidFill>
            <a:srgbClr val="E8EDF3"/>
          </a:solidFill>
          <a:ln/>
        </p:spPr>
      </p:sp>
      <p:sp>
        <p:nvSpPr>
          <p:cNvPr id="10" name="Text 8"/>
          <p:cNvSpPr txBox="1"/>
          <p:nvPr/>
        </p:nvSpPr>
        <p:spPr>
          <a:xfrm>
            <a:off x="1802282"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2</a:t>
            </a:r>
            <a:endParaRPr lang="en-US" sz="1200" dirty="0"/>
          </a:p>
        </p:txBody>
      </p:sp>
      <p:sp>
        <p:nvSpPr>
          <p:cNvPr id="11" name="Shape 9"/>
          <p:cNvSpPr/>
          <p:nvPr/>
        </p:nvSpPr>
        <p:spPr>
          <a:xfrm>
            <a:off x="2827325" y="5349240"/>
            <a:ext cx="384048" cy="384048"/>
          </a:xfrm>
          <a:prstGeom prst="ellipse">
            <a:avLst/>
          </a:prstGeom>
          <a:solidFill>
            <a:srgbClr val="E8EDF3"/>
          </a:solidFill>
          <a:ln/>
        </p:spPr>
      </p:sp>
      <p:sp>
        <p:nvSpPr>
          <p:cNvPr id="12" name="Text 10"/>
          <p:cNvSpPr txBox="1"/>
          <p:nvPr/>
        </p:nvSpPr>
        <p:spPr>
          <a:xfrm>
            <a:off x="2827325"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3</a:t>
            </a:r>
            <a:endParaRPr lang="en-US" sz="1200" dirty="0"/>
          </a:p>
        </p:txBody>
      </p:sp>
      <p:sp>
        <p:nvSpPr>
          <p:cNvPr id="13" name="Shape 11"/>
          <p:cNvSpPr/>
          <p:nvPr/>
        </p:nvSpPr>
        <p:spPr>
          <a:xfrm>
            <a:off x="3852367" y="5349240"/>
            <a:ext cx="384048" cy="384048"/>
          </a:xfrm>
          <a:prstGeom prst="ellipse">
            <a:avLst/>
          </a:prstGeom>
          <a:solidFill>
            <a:srgbClr val="E8EDF3"/>
          </a:solidFill>
          <a:ln/>
        </p:spPr>
      </p:sp>
      <p:sp>
        <p:nvSpPr>
          <p:cNvPr id="14" name="Text 12"/>
          <p:cNvSpPr txBox="1"/>
          <p:nvPr/>
        </p:nvSpPr>
        <p:spPr>
          <a:xfrm>
            <a:off x="3852367"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4</a:t>
            </a:r>
            <a:endParaRPr lang="en-US" sz="1200" dirty="0"/>
          </a:p>
        </p:txBody>
      </p:sp>
      <p:sp>
        <p:nvSpPr>
          <p:cNvPr id="15" name="Shape 13"/>
          <p:cNvSpPr/>
          <p:nvPr/>
        </p:nvSpPr>
        <p:spPr>
          <a:xfrm>
            <a:off x="4877410" y="5349240"/>
            <a:ext cx="384048" cy="384048"/>
          </a:xfrm>
          <a:prstGeom prst="ellipse">
            <a:avLst/>
          </a:prstGeom>
          <a:solidFill>
            <a:srgbClr val="E8EDF3"/>
          </a:solidFill>
          <a:ln/>
        </p:spPr>
      </p:sp>
      <p:sp>
        <p:nvSpPr>
          <p:cNvPr id="16" name="Text 14"/>
          <p:cNvSpPr txBox="1"/>
          <p:nvPr/>
        </p:nvSpPr>
        <p:spPr>
          <a:xfrm>
            <a:off x="4877410"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5</a:t>
            </a:r>
            <a:endParaRPr lang="en-US" sz="1200" dirty="0"/>
          </a:p>
        </p:txBody>
      </p:sp>
      <p:sp>
        <p:nvSpPr>
          <p:cNvPr id="17" name="Shape 15"/>
          <p:cNvSpPr/>
          <p:nvPr/>
        </p:nvSpPr>
        <p:spPr>
          <a:xfrm>
            <a:off x="5902452" y="5349240"/>
            <a:ext cx="384048" cy="384048"/>
          </a:xfrm>
          <a:prstGeom prst="ellipse">
            <a:avLst/>
          </a:prstGeom>
          <a:solidFill>
            <a:srgbClr val="E8EDF3"/>
          </a:solidFill>
          <a:ln/>
        </p:spPr>
      </p:sp>
      <p:sp>
        <p:nvSpPr>
          <p:cNvPr id="18" name="Text 16"/>
          <p:cNvSpPr txBox="1"/>
          <p:nvPr/>
        </p:nvSpPr>
        <p:spPr>
          <a:xfrm>
            <a:off x="5902452"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6</a:t>
            </a:r>
            <a:endParaRPr lang="en-US" sz="1200" dirty="0"/>
          </a:p>
        </p:txBody>
      </p:sp>
      <p:sp>
        <p:nvSpPr>
          <p:cNvPr id="19" name="Shape 17"/>
          <p:cNvSpPr/>
          <p:nvPr/>
        </p:nvSpPr>
        <p:spPr>
          <a:xfrm>
            <a:off x="6927494" y="5349240"/>
            <a:ext cx="384048" cy="384048"/>
          </a:xfrm>
          <a:prstGeom prst="ellipse">
            <a:avLst/>
          </a:prstGeom>
          <a:solidFill>
            <a:srgbClr val="E8EDF3"/>
          </a:solidFill>
          <a:ln/>
        </p:spPr>
      </p:sp>
      <p:sp>
        <p:nvSpPr>
          <p:cNvPr id="20" name="Text 18"/>
          <p:cNvSpPr txBox="1"/>
          <p:nvPr/>
        </p:nvSpPr>
        <p:spPr>
          <a:xfrm>
            <a:off x="6927494"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7</a:t>
            </a:r>
            <a:endParaRPr lang="en-US" sz="1200" dirty="0"/>
          </a:p>
        </p:txBody>
      </p:sp>
      <p:sp>
        <p:nvSpPr>
          <p:cNvPr id="21" name="Shape 19"/>
          <p:cNvSpPr/>
          <p:nvPr/>
        </p:nvSpPr>
        <p:spPr>
          <a:xfrm>
            <a:off x="7952537" y="5349240"/>
            <a:ext cx="384048" cy="384048"/>
          </a:xfrm>
          <a:prstGeom prst="ellipse">
            <a:avLst/>
          </a:prstGeom>
          <a:solidFill>
            <a:srgbClr val="E8EDF3"/>
          </a:solidFill>
          <a:ln/>
        </p:spPr>
      </p:sp>
      <p:sp>
        <p:nvSpPr>
          <p:cNvPr id="22" name="Text 20"/>
          <p:cNvSpPr txBox="1"/>
          <p:nvPr/>
        </p:nvSpPr>
        <p:spPr>
          <a:xfrm>
            <a:off x="7952537"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8</a:t>
            </a:r>
            <a:endParaRPr lang="en-US" sz="1200" dirty="0"/>
          </a:p>
        </p:txBody>
      </p:sp>
      <p:sp>
        <p:nvSpPr>
          <p:cNvPr id="23" name="Shape 21"/>
          <p:cNvSpPr/>
          <p:nvPr/>
        </p:nvSpPr>
        <p:spPr>
          <a:xfrm>
            <a:off x="8977579" y="5349240"/>
            <a:ext cx="384048" cy="384048"/>
          </a:xfrm>
          <a:prstGeom prst="ellipse">
            <a:avLst/>
          </a:prstGeom>
          <a:solidFill>
            <a:srgbClr val="E8EDF3"/>
          </a:solidFill>
          <a:ln/>
        </p:spPr>
      </p:sp>
      <p:sp>
        <p:nvSpPr>
          <p:cNvPr id="24" name="Text 22"/>
          <p:cNvSpPr txBox="1"/>
          <p:nvPr/>
        </p:nvSpPr>
        <p:spPr>
          <a:xfrm>
            <a:off x="8977579"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9</a:t>
            </a:r>
            <a:endParaRPr lang="en-US" sz="1200" dirty="0"/>
          </a:p>
        </p:txBody>
      </p:sp>
      <p:sp>
        <p:nvSpPr>
          <p:cNvPr id="25" name="Shape 23"/>
          <p:cNvSpPr/>
          <p:nvPr/>
        </p:nvSpPr>
        <p:spPr>
          <a:xfrm>
            <a:off x="10002622" y="5349240"/>
            <a:ext cx="384048" cy="384048"/>
          </a:xfrm>
          <a:prstGeom prst="ellipse">
            <a:avLst/>
          </a:prstGeom>
          <a:solidFill>
            <a:srgbClr val="E8EDF3"/>
          </a:solidFill>
          <a:ln/>
        </p:spPr>
      </p:sp>
      <p:sp>
        <p:nvSpPr>
          <p:cNvPr id="26" name="Text 24"/>
          <p:cNvSpPr txBox="1"/>
          <p:nvPr/>
        </p:nvSpPr>
        <p:spPr>
          <a:xfrm>
            <a:off x="10002622"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10</a:t>
            </a:r>
            <a:endParaRPr lang="en-US" sz="1200" dirty="0"/>
          </a:p>
        </p:txBody>
      </p:sp>
      <p:sp>
        <p:nvSpPr>
          <p:cNvPr id="27" name="Shape 25"/>
          <p:cNvSpPr/>
          <p:nvPr/>
        </p:nvSpPr>
        <p:spPr>
          <a:xfrm>
            <a:off x="11027664" y="5349240"/>
            <a:ext cx="384048" cy="384048"/>
          </a:xfrm>
          <a:prstGeom prst="ellipse">
            <a:avLst/>
          </a:prstGeom>
          <a:solidFill>
            <a:srgbClr val="E8EDF3"/>
          </a:solidFill>
          <a:ln/>
        </p:spPr>
      </p:sp>
      <p:sp>
        <p:nvSpPr>
          <p:cNvPr id="28" name="Text 26"/>
          <p:cNvSpPr txBox="1"/>
          <p:nvPr/>
        </p:nvSpPr>
        <p:spPr>
          <a:xfrm>
            <a:off x="11027664"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11</a:t>
            </a:r>
            <a:endParaRPr lang="en-US" sz="1200" dirty="0"/>
          </a:p>
        </p:txBody>
      </p:sp>
      <p:sp>
        <p:nvSpPr>
          <p:cNvPr id="29" name="Text 27"/>
          <p:cNvSpPr txBox="1"/>
          <p:nvPr/>
        </p:nvSpPr>
        <p:spPr>
          <a:xfrm>
            <a:off x="777240" y="5852160"/>
            <a:ext cx="10634472" cy="274320"/>
          </a:xfrm>
          <a:prstGeom prst="rect">
            <a:avLst/>
          </a:prstGeom>
          <a:noFill/>
          <a:ln/>
        </p:spPr>
        <p:txBody>
          <a:bodyPr wrap="square" lIns="0" tIns="0" rIns="0" bIns="0" rtlCol="0" anchor="t"/>
          <a:lstStyle/>
          <a:p>
            <a:pPr algn="l" indent="0" marL="0">
              <a:buNone/>
            </a:pPr>
            <a:r>
              <a:rPr lang="en-US" sz="1100" b="1" spc="200" kern="0" dirty="0">
                <a:solidFill>
                  <a:srgbClr val="9AA7B5"/>
                </a:solidFill>
                <a:latin typeface="Arial" pitchFamily="34" charset="0"/>
                <a:ea typeface="Arial" pitchFamily="34" charset="-122"/>
                <a:cs typeface="Arial" pitchFamily="34" charset="-120"/>
              </a:rPr>
              <a:t>THE ELEVEN STAGES</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10634472" cy="310896"/>
          </a:xfrm>
          <a:prstGeom prst="rect">
            <a:avLst/>
          </a:prstGeom>
          <a:noFill/>
          <a:ln/>
        </p:spPr>
        <p:txBody>
          <a:bodyPr wrap="square" lIns="0" tIns="0" rIns="0" bIns="0" rtlCol="0" anchor="t"/>
          <a:lstStyle/>
          <a:p>
            <a:pPr algn="l" indent="0" marL="0">
              <a:buNone/>
            </a:pPr>
            <a:r>
              <a:rPr lang="en-US" sz="1300" b="1" spc="200" kern="0" dirty="0">
                <a:solidFill>
                  <a:srgbClr val="1A5FB4"/>
                </a:solidFill>
                <a:latin typeface="Arial" pitchFamily="34" charset="0"/>
                <a:ea typeface="Arial" pitchFamily="34" charset="-122"/>
                <a:cs typeface="Arial" pitchFamily="34" charset="-120"/>
              </a:rPr>
              <a:t>THE CASE · 2 OF 11</a:t>
            </a:r>
            <a:endParaRPr lang="en-US" sz="1300" dirty="0"/>
          </a:p>
        </p:txBody>
      </p:sp>
      <p:sp>
        <p:nvSpPr>
          <p:cNvPr id="3" name="Text 1"/>
          <p:cNvSpPr txBox="1"/>
          <p:nvPr/>
        </p:nvSpPr>
        <p:spPr>
          <a:xfrm>
            <a:off x="777240" y="1325880"/>
            <a:ext cx="10634472" cy="3200400"/>
          </a:xfrm>
          <a:prstGeom prst="rect">
            <a:avLst/>
          </a:prstGeom>
          <a:noFill/>
          <a:ln/>
        </p:spPr>
        <p:txBody>
          <a:bodyPr wrap="square" lIns="0" tIns="0" rIns="0" bIns="0" rtlCol="0" anchor="t"/>
          <a:lstStyle/>
          <a:p>
            <a:pPr algn="l" indent="0" marL="0">
              <a:lnSpc>
                <a:spcPts val="3900"/>
              </a:lnSpc>
              <a:buNone/>
            </a:pPr>
            <a:r>
              <a:rPr lang="en-US" sz="2700" dirty="0">
                <a:solidFill>
                  <a:srgbClr val="1B1B1B"/>
                </a:solidFill>
                <a:latin typeface="Arial" pitchFamily="34" charset="0"/>
                <a:ea typeface="Arial" pitchFamily="34" charset="-122"/>
                <a:cs typeface="Arial" pitchFamily="34" charset="-120"/>
              </a:rPr>
              <a:t>Deputy Ellis arrives six minutes later. She interviews the owner, watches the store camera footage, photographs the empty display stand, writes down two witnesses, and writes her report.</a:t>
            </a:r>
            <a:endParaRPr lang="en-US" sz="2700" dirty="0"/>
          </a:p>
        </p:txBody>
      </p:sp>
      <p:sp>
        <p:nvSpPr>
          <p:cNvPr id="4" name="Text 2"/>
          <p:cNvSpPr txBox="1"/>
          <p:nvPr/>
        </p:nvSpPr>
        <p:spPr>
          <a:xfrm>
            <a:off x="777240" y="4663440"/>
            <a:ext cx="10634472" cy="548640"/>
          </a:xfrm>
          <a:prstGeom prst="rect">
            <a:avLst/>
          </a:prstGeom>
          <a:noFill/>
          <a:ln/>
        </p:spPr>
        <p:txBody>
          <a:bodyPr wrap="square" lIns="0" tIns="0" rIns="0" bIns="0" rtlCol="0" anchor="t"/>
          <a:lstStyle/>
          <a:p>
            <a:pPr algn="l" indent="0" marL="0">
              <a:buNone/>
            </a:pPr>
            <a:r>
              <a:rPr lang="en-US" sz="2600" b="1" dirty="0">
                <a:solidFill>
                  <a:srgbClr val="1A5FB4"/>
                </a:solidFill>
                <a:latin typeface="Arial" pitchFamily="34" charset="0"/>
                <a:ea typeface="Arial" pitchFamily="34" charset="-122"/>
                <a:cs typeface="Arial" pitchFamily="34" charset="-120"/>
              </a:rPr>
              <a:t>Which stage is this?</a:t>
            </a:r>
            <a:endParaRPr lang="en-US" sz="2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10634472" cy="310896"/>
          </a:xfrm>
          <a:prstGeom prst="rect">
            <a:avLst/>
          </a:prstGeom>
          <a:noFill/>
          <a:ln/>
        </p:spPr>
        <p:txBody>
          <a:bodyPr wrap="square" lIns="0" tIns="0" rIns="0" bIns="0" rtlCol="0" anchor="t"/>
          <a:lstStyle/>
          <a:p>
            <a:pPr algn="l" indent="0" marL="0">
              <a:buNone/>
            </a:pPr>
            <a:r>
              <a:rPr lang="en-US" sz="1300" b="1" spc="200" kern="0" dirty="0">
                <a:solidFill>
                  <a:srgbClr val="1A5FB4"/>
                </a:solidFill>
                <a:latin typeface="Arial" pitchFamily="34" charset="0"/>
                <a:ea typeface="Arial" pitchFamily="34" charset="-122"/>
                <a:cs typeface="Arial" pitchFamily="34" charset="-120"/>
              </a:rPr>
              <a:t>ANSWER</a:t>
            </a:r>
            <a:endParaRPr lang="en-US" sz="1300" dirty="0"/>
          </a:p>
        </p:txBody>
      </p:sp>
      <p:sp>
        <p:nvSpPr>
          <p:cNvPr id="3" name="Shape 1"/>
          <p:cNvSpPr/>
          <p:nvPr/>
        </p:nvSpPr>
        <p:spPr>
          <a:xfrm>
            <a:off x="777240" y="2103120"/>
            <a:ext cx="1051560" cy="1051560"/>
          </a:xfrm>
          <a:prstGeom prst="ellipse">
            <a:avLst/>
          </a:prstGeom>
          <a:solidFill>
            <a:srgbClr val="1A5FB4"/>
          </a:solidFill>
          <a:ln/>
        </p:spPr>
      </p:sp>
      <p:sp>
        <p:nvSpPr>
          <p:cNvPr id="4" name="Text 2"/>
          <p:cNvSpPr txBox="1"/>
          <p:nvPr/>
        </p:nvSpPr>
        <p:spPr>
          <a:xfrm>
            <a:off x="777240" y="2103120"/>
            <a:ext cx="1051560" cy="105156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2</a:t>
            </a:r>
            <a:endParaRPr lang="en-US" sz="3000" dirty="0"/>
          </a:p>
        </p:txBody>
      </p:sp>
      <p:sp>
        <p:nvSpPr>
          <p:cNvPr id="5" name="Text 3"/>
          <p:cNvSpPr txBox="1"/>
          <p:nvPr/>
        </p:nvSpPr>
        <p:spPr>
          <a:xfrm>
            <a:off x="2148840" y="2103120"/>
            <a:ext cx="9262872" cy="822960"/>
          </a:xfrm>
          <a:prstGeom prst="rect">
            <a:avLst/>
          </a:prstGeom>
          <a:noFill/>
          <a:ln/>
        </p:spPr>
        <p:txBody>
          <a:bodyPr wrap="square" lIns="0" tIns="0" rIns="0" bIns="0" rtlCol="0" anchor="t"/>
          <a:lstStyle/>
          <a:p>
            <a:pPr algn="l" indent="0" marL="0">
              <a:buNone/>
            </a:pPr>
            <a:r>
              <a:rPr lang="en-US" sz="4000" b="1" dirty="0">
                <a:solidFill>
                  <a:srgbClr val="10243A"/>
                </a:solidFill>
                <a:latin typeface="Arial" pitchFamily="34" charset="0"/>
                <a:ea typeface="Arial" pitchFamily="34" charset="-122"/>
                <a:cs typeface="Arial" pitchFamily="34" charset="-120"/>
              </a:rPr>
              <a:t>Patrol response</a:t>
            </a:r>
            <a:endParaRPr lang="en-US" sz="4000" dirty="0"/>
          </a:p>
        </p:txBody>
      </p:sp>
      <p:sp>
        <p:nvSpPr>
          <p:cNvPr id="6" name="Text 4"/>
          <p:cNvSpPr txBox="1"/>
          <p:nvPr/>
        </p:nvSpPr>
        <p:spPr>
          <a:xfrm>
            <a:off x="2148840" y="3063240"/>
            <a:ext cx="9262872" cy="1280160"/>
          </a:xfrm>
          <a:prstGeom prst="rect">
            <a:avLst/>
          </a:prstGeom>
          <a:noFill/>
          <a:ln/>
        </p:spPr>
        <p:txBody>
          <a:bodyPr wrap="square" lIns="0" tIns="0" rIns="0" bIns="0" rtlCol="0" anchor="t"/>
          <a:lstStyle/>
          <a:p>
            <a:pPr algn="l" indent="0" marL="0">
              <a:lnSpc>
                <a:spcPts val="3200"/>
              </a:lnSpc>
              <a:buNone/>
            </a:pPr>
            <a:r>
              <a:rPr lang="en-US" sz="2200" dirty="0">
                <a:solidFill>
                  <a:srgbClr val="5F6B79"/>
                </a:solidFill>
                <a:latin typeface="Arial" pitchFamily="34" charset="0"/>
                <a:ea typeface="Arial" pitchFamily="34" charset="-122"/>
                <a:cs typeface="Arial" pitchFamily="34" charset="-120"/>
              </a:rPr>
              <a:t>Everything after this is built on what she wrote down.</a:t>
            </a:r>
            <a:endParaRPr lang="en-US" sz="2200" dirty="0"/>
          </a:p>
        </p:txBody>
      </p:sp>
      <p:sp>
        <p:nvSpPr>
          <p:cNvPr id="7" name="Shape 5"/>
          <p:cNvSpPr/>
          <p:nvPr/>
        </p:nvSpPr>
        <p:spPr>
          <a:xfrm>
            <a:off x="777240" y="5349240"/>
            <a:ext cx="384048" cy="384048"/>
          </a:xfrm>
          <a:prstGeom prst="ellipse">
            <a:avLst/>
          </a:prstGeom>
          <a:solidFill>
            <a:srgbClr val="C6D6EA"/>
          </a:solidFill>
          <a:ln/>
        </p:spPr>
      </p:sp>
      <p:sp>
        <p:nvSpPr>
          <p:cNvPr id="8" name="Text 6"/>
          <p:cNvSpPr txBox="1"/>
          <p:nvPr/>
        </p:nvSpPr>
        <p:spPr>
          <a:xfrm>
            <a:off x="777240"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1</a:t>
            </a:r>
            <a:endParaRPr lang="en-US" sz="1200" dirty="0"/>
          </a:p>
        </p:txBody>
      </p:sp>
      <p:sp>
        <p:nvSpPr>
          <p:cNvPr id="9" name="Shape 7"/>
          <p:cNvSpPr/>
          <p:nvPr/>
        </p:nvSpPr>
        <p:spPr>
          <a:xfrm>
            <a:off x="1802282" y="5349240"/>
            <a:ext cx="384048" cy="384048"/>
          </a:xfrm>
          <a:prstGeom prst="ellipse">
            <a:avLst/>
          </a:prstGeom>
          <a:solidFill>
            <a:srgbClr val="1A5FB4"/>
          </a:solidFill>
          <a:ln/>
        </p:spPr>
      </p:sp>
      <p:sp>
        <p:nvSpPr>
          <p:cNvPr id="10" name="Text 8"/>
          <p:cNvSpPr txBox="1"/>
          <p:nvPr/>
        </p:nvSpPr>
        <p:spPr>
          <a:xfrm>
            <a:off x="1802282" y="53492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1" name="Shape 9"/>
          <p:cNvSpPr/>
          <p:nvPr/>
        </p:nvSpPr>
        <p:spPr>
          <a:xfrm>
            <a:off x="2827325" y="5349240"/>
            <a:ext cx="384048" cy="384048"/>
          </a:xfrm>
          <a:prstGeom prst="ellipse">
            <a:avLst/>
          </a:prstGeom>
          <a:solidFill>
            <a:srgbClr val="E8EDF3"/>
          </a:solidFill>
          <a:ln/>
        </p:spPr>
      </p:sp>
      <p:sp>
        <p:nvSpPr>
          <p:cNvPr id="12" name="Text 10"/>
          <p:cNvSpPr txBox="1"/>
          <p:nvPr/>
        </p:nvSpPr>
        <p:spPr>
          <a:xfrm>
            <a:off x="2827325"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3</a:t>
            </a:r>
            <a:endParaRPr lang="en-US" sz="1200" dirty="0"/>
          </a:p>
        </p:txBody>
      </p:sp>
      <p:sp>
        <p:nvSpPr>
          <p:cNvPr id="13" name="Shape 11"/>
          <p:cNvSpPr/>
          <p:nvPr/>
        </p:nvSpPr>
        <p:spPr>
          <a:xfrm>
            <a:off x="3852367" y="5349240"/>
            <a:ext cx="384048" cy="384048"/>
          </a:xfrm>
          <a:prstGeom prst="ellipse">
            <a:avLst/>
          </a:prstGeom>
          <a:solidFill>
            <a:srgbClr val="E8EDF3"/>
          </a:solidFill>
          <a:ln/>
        </p:spPr>
      </p:sp>
      <p:sp>
        <p:nvSpPr>
          <p:cNvPr id="14" name="Text 12"/>
          <p:cNvSpPr txBox="1"/>
          <p:nvPr/>
        </p:nvSpPr>
        <p:spPr>
          <a:xfrm>
            <a:off x="3852367"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4</a:t>
            </a:r>
            <a:endParaRPr lang="en-US" sz="1200" dirty="0"/>
          </a:p>
        </p:txBody>
      </p:sp>
      <p:sp>
        <p:nvSpPr>
          <p:cNvPr id="15" name="Shape 13"/>
          <p:cNvSpPr/>
          <p:nvPr/>
        </p:nvSpPr>
        <p:spPr>
          <a:xfrm>
            <a:off x="4877410" y="5349240"/>
            <a:ext cx="384048" cy="384048"/>
          </a:xfrm>
          <a:prstGeom prst="ellipse">
            <a:avLst/>
          </a:prstGeom>
          <a:solidFill>
            <a:srgbClr val="E8EDF3"/>
          </a:solidFill>
          <a:ln/>
        </p:spPr>
      </p:sp>
      <p:sp>
        <p:nvSpPr>
          <p:cNvPr id="16" name="Text 14"/>
          <p:cNvSpPr txBox="1"/>
          <p:nvPr/>
        </p:nvSpPr>
        <p:spPr>
          <a:xfrm>
            <a:off x="4877410"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5</a:t>
            </a:r>
            <a:endParaRPr lang="en-US" sz="1200" dirty="0"/>
          </a:p>
        </p:txBody>
      </p:sp>
      <p:sp>
        <p:nvSpPr>
          <p:cNvPr id="17" name="Shape 15"/>
          <p:cNvSpPr/>
          <p:nvPr/>
        </p:nvSpPr>
        <p:spPr>
          <a:xfrm>
            <a:off x="5902452" y="5349240"/>
            <a:ext cx="384048" cy="384048"/>
          </a:xfrm>
          <a:prstGeom prst="ellipse">
            <a:avLst/>
          </a:prstGeom>
          <a:solidFill>
            <a:srgbClr val="E8EDF3"/>
          </a:solidFill>
          <a:ln/>
        </p:spPr>
      </p:sp>
      <p:sp>
        <p:nvSpPr>
          <p:cNvPr id="18" name="Text 16"/>
          <p:cNvSpPr txBox="1"/>
          <p:nvPr/>
        </p:nvSpPr>
        <p:spPr>
          <a:xfrm>
            <a:off x="5902452"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6</a:t>
            </a:r>
            <a:endParaRPr lang="en-US" sz="1200" dirty="0"/>
          </a:p>
        </p:txBody>
      </p:sp>
      <p:sp>
        <p:nvSpPr>
          <p:cNvPr id="19" name="Shape 17"/>
          <p:cNvSpPr/>
          <p:nvPr/>
        </p:nvSpPr>
        <p:spPr>
          <a:xfrm>
            <a:off x="6927494" y="5349240"/>
            <a:ext cx="384048" cy="384048"/>
          </a:xfrm>
          <a:prstGeom prst="ellipse">
            <a:avLst/>
          </a:prstGeom>
          <a:solidFill>
            <a:srgbClr val="E8EDF3"/>
          </a:solidFill>
          <a:ln/>
        </p:spPr>
      </p:sp>
      <p:sp>
        <p:nvSpPr>
          <p:cNvPr id="20" name="Text 18"/>
          <p:cNvSpPr txBox="1"/>
          <p:nvPr/>
        </p:nvSpPr>
        <p:spPr>
          <a:xfrm>
            <a:off x="6927494"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7</a:t>
            </a:r>
            <a:endParaRPr lang="en-US" sz="1200" dirty="0"/>
          </a:p>
        </p:txBody>
      </p:sp>
      <p:sp>
        <p:nvSpPr>
          <p:cNvPr id="21" name="Shape 19"/>
          <p:cNvSpPr/>
          <p:nvPr/>
        </p:nvSpPr>
        <p:spPr>
          <a:xfrm>
            <a:off x="7952537" y="5349240"/>
            <a:ext cx="384048" cy="384048"/>
          </a:xfrm>
          <a:prstGeom prst="ellipse">
            <a:avLst/>
          </a:prstGeom>
          <a:solidFill>
            <a:srgbClr val="E8EDF3"/>
          </a:solidFill>
          <a:ln/>
        </p:spPr>
      </p:sp>
      <p:sp>
        <p:nvSpPr>
          <p:cNvPr id="22" name="Text 20"/>
          <p:cNvSpPr txBox="1"/>
          <p:nvPr/>
        </p:nvSpPr>
        <p:spPr>
          <a:xfrm>
            <a:off x="7952537"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8</a:t>
            </a:r>
            <a:endParaRPr lang="en-US" sz="1200" dirty="0"/>
          </a:p>
        </p:txBody>
      </p:sp>
      <p:sp>
        <p:nvSpPr>
          <p:cNvPr id="23" name="Shape 21"/>
          <p:cNvSpPr/>
          <p:nvPr/>
        </p:nvSpPr>
        <p:spPr>
          <a:xfrm>
            <a:off x="8977579" y="5349240"/>
            <a:ext cx="384048" cy="384048"/>
          </a:xfrm>
          <a:prstGeom prst="ellipse">
            <a:avLst/>
          </a:prstGeom>
          <a:solidFill>
            <a:srgbClr val="E8EDF3"/>
          </a:solidFill>
          <a:ln/>
        </p:spPr>
      </p:sp>
      <p:sp>
        <p:nvSpPr>
          <p:cNvPr id="24" name="Text 22"/>
          <p:cNvSpPr txBox="1"/>
          <p:nvPr/>
        </p:nvSpPr>
        <p:spPr>
          <a:xfrm>
            <a:off x="8977579"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9</a:t>
            </a:r>
            <a:endParaRPr lang="en-US" sz="1200" dirty="0"/>
          </a:p>
        </p:txBody>
      </p:sp>
      <p:sp>
        <p:nvSpPr>
          <p:cNvPr id="25" name="Shape 23"/>
          <p:cNvSpPr/>
          <p:nvPr/>
        </p:nvSpPr>
        <p:spPr>
          <a:xfrm>
            <a:off x="10002622" y="5349240"/>
            <a:ext cx="384048" cy="384048"/>
          </a:xfrm>
          <a:prstGeom prst="ellipse">
            <a:avLst/>
          </a:prstGeom>
          <a:solidFill>
            <a:srgbClr val="E8EDF3"/>
          </a:solidFill>
          <a:ln/>
        </p:spPr>
      </p:sp>
      <p:sp>
        <p:nvSpPr>
          <p:cNvPr id="26" name="Text 24"/>
          <p:cNvSpPr txBox="1"/>
          <p:nvPr/>
        </p:nvSpPr>
        <p:spPr>
          <a:xfrm>
            <a:off x="10002622"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10</a:t>
            </a:r>
            <a:endParaRPr lang="en-US" sz="1200" dirty="0"/>
          </a:p>
        </p:txBody>
      </p:sp>
      <p:sp>
        <p:nvSpPr>
          <p:cNvPr id="27" name="Shape 25"/>
          <p:cNvSpPr/>
          <p:nvPr/>
        </p:nvSpPr>
        <p:spPr>
          <a:xfrm>
            <a:off x="11027664" y="5349240"/>
            <a:ext cx="384048" cy="384048"/>
          </a:xfrm>
          <a:prstGeom prst="ellipse">
            <a:avLst/>
          </a:prstGeom>
          <a:solidFill>
            <a:srgbClr val="E8EDF3"/>
          </a:solidFill>
          <a:ln/>
        </p:spPr>
      </p:sp>
      <p:sp>
        <p:nvSpPr>
          <p:cNvPr id="28" name="Text 26"/>
          <p:cNvSpPr txBox="1"/>
          <p:nvPr/>
        </p:nvSpPr>
        <p:spPr>
          <a:xfrm>
            <a:off x="11027664"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11</a:t>
            </a:r>
            <a:endParaRPr lang="en-US" sz="1200" dirty="0"/>
          </a:p>
        </p:txBody>
      </p:sp>
      <p:sp>
        <p:nvSpPr>
          <p:cNvPr id="29" name="Text 27"/>
          <p:cNvSpPr txBox="1"/>
          <p:nvPr/>
        </p:nvSpPr>
        <p:spPr>
          <a:xfrm>
            <a:off x="777240" y="5852160"/>
            <a:ext cx="10634472" cy="274320"/>
          </a:xfrm>
          <a:prstGeom prst="rect">
            <a:avLst/>
          </a:prstGeom>
          <a:noFill/>
          <a:ln/>
        </p:spPr>
        <p:txBody>
          <a:bodyPr wrap="square" lIns="0" tIns="0" rIns="0" bIns="0" rtlCol="0" anchor="t"/>
          <a:lstStyle/>
          <a:p>
            <a:pPr algn="l" indent="0" marL="0">
              <a:buNone/>
            </a:pPr>
            <a:r>
              <a:rPr lang="en-US" sz="1100" b="1" spc="200" kern="0" dirty="0">
                <a:solidFill>
                  <a:srgbClr val="9AA7B5"/>
                </a:solidFill>
                <a:latin typeface="Arial" pitchFamily="34" charset="0"/>
                <a:ea typeface="Arial" pitchFamily="34" charset="-122"/>
                <a:cs typeface="Arial" pitchFamily="34" charset="-120"/>
              </a:rPr>
              <a:t>THE ELEVEN STAGES</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10634472" cy="310896"/>
          </a:xfrm>
          <a:prstGeom prst="rect">
            <a:avLst/>
          </a:prstGeom>
          <a:noFill/>
          <a:ln/>
        </p:spPr>
        <p:txBody>
          <a:bodyPr wrap="square" lIns="0" tIns="0" rIns="0" bIns="0" rtlCol="0" anchor="t"/>
          <a:lstStyle/>
          <a:p>
            <a:pPr algn="l" indent="0" marL="0">
              <a:buNone/>
            </a:pPr>
            <a:r>
              <a:rPr lang="en-US" sz="1300" b="1" spc="200" kern="0" dirty="0">
                <a:solidFill>
                  <a:srgbClr val="1A5FB4"/>
                </a:solidFill>
                <a:latin typeface="Arial" pitchFamily="34" charset="0"/>
                <a:ea typeface="Arial" pitchFamily="34" charset="-122"/>
                <a:cs typeface="Arial" pitchFamily="34" charset="-120"/>
              </a:rPr>
              <a:t>THE CASE · 3 OF 11</a:t>
            </a:r>
            <a:endParaRPr lang="en-US" sz="1300" dirty="0"/>
          </a:p>
        </p:txBody>
      </p:sp>
      <p:sp>
        <p:nvSpPr>
          <p:cNvPr id="3" name="Text 1"/>
          <p:cNvSpPr txBox="1"/>
          <p:nvPr/>
        </p:nvSpPr>
        <p:spPr>
          <a:xfrm>
            <a:off x="777240" y="1325880"/>
            <a:ext cx="10634472" cy="3200400"/>
          </a:xfrm>
          <a:prstGeom prst="rect">
            <a:avLst/>
          </a:prstGeom>
          <a:noFill/>
          <a:ln/>
        </p:spPr>
        <p:txBody>
          <a:bodyPr wrap="square" lIns="0" tIns="0" rIns="0" bIns="0" rtlCol="0" anchor="t"/>
          <a:lstStyle/>
          <a:p>
            <a:pPr algn="l" indent="0" marL="0">
              <a:lnSpc>
                <a:spcPts val="3900"/>
              </a:lnSpc>
              <a:buNone/>
            </a:pPr>
            <a:r>
              <a:rPr lang="en-US" sz="2700" dirty="0">
                <a:solidFill>
                  <a:srgbClr val="1B1B1B"/>
                </a:solidFill>
                <a:latin typeface="Arial" pitchFamily="34" charset="0"/>
                <a:ea typeface="Arial" pitchFamily="34" charset="-122"/>
                <a:cs typeface="Arial" pitchFamily="34" charset="-120"/>
              </a:rPr>
              <a:t>Twenty minutes later another deputy stops a grey pickup two miles away. The power washer is in the bed, still tagged. The driver, Marco Ramirez, is arrested.</a:t>
            </a:r>
            <a:endParaRPr lang="en-US" sz="2700" dirty="0"/>
          </a:p>
        </p:txBody>
      </p:sp>
      <p:sp>
        <p:nvSpPr>
          <p:cNvPr id="4" name="Text 2"/>
          <p:cNvSpPr txBox="1"/>
          <p:nvPr/>
        </p:nvSpPr>
        <p:spPr>
          <a:xfrm>
            <a:off x="777240" y="4663440"/>
            <a:ext cx="10634472" cy="548640"/>
          </a:xfrm>
          <a:prstGeom prst="rect">
            <a:avLst/>
          </a:prstGeom>
          <a:noFill/>
          <a:ln/>
        </p:spPr>
        <p:txBody>
          <a:bodyPr wrap="square" lIns="0" tIns="0" rIns="0" bIns="0" rtlCol="0" anchor="t"/>
          <a:lstStyle/>
          <a:p>
            <a:pPr algn="l" indent="0" marL="0">
              <a:buNone/>
            </a:pPr>
            <a:r>
              <a:rPr lang="en-US" sz="2600" b="1" dirty="0">
                <a:solidFill>
                  <a:srgbClr val="1A5FB4"/>
                </a:solidFill>
                <a:latin typeface="Arial" pitchFamily="34" charset="0"/>
                <a:ea typeface="Arial" pitchFamily="34" charset="-122"/>
                <a:cs typeface="Arial" pitchFamily="34" charset="-120"/>
              </a:rPr>
              <a:t>Which stage is this?</a:t>
            </a:r>
            <a:endParaRPr lang="en-US" sz="2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10634472" cy="310896"/>
          </a:xfrm>
          <a:prstGeom prst="rect">
            <a:avLst/>
          </a:prstGeom>
          <a:noFill/>
          <a:ln/>
        </p:spPr>
        <p:txBody>
          <a:bodyPr wrap="square" lIns="0" tIns="0" rIns="0" bIns="0" rtlCol="0" anchor="t"/>
          <a:lstStyle/>
          <a:p>
            <a:pPr algn="l" indent="0" marL="0">
              <a:buNone/>
            </a:pPr>
            <a:r>
              <a:rPr lang="en-US" sz="1300" b="1" spc="200" kern="0" dirty="0">
                <a:solidFill>
                  <a:srgbClr val="1A5FB4"/>
                </a:solidFill>
                <a:latin typeface="Arial" pitchFamily="34" charset="0"/>
                <a:ea typeface="Arial" pitchFamily="34" charset="-122"/>
                <a:cs typeface="Arial" pitchFamily="34" charset="-120"/>
              </a:rPr>
              <a:t>ANSWER</a:t>
            </a:r>
            <a:endParaRPr lang="en-US" sz="1300" dirty="0"/>
          </a:p>
        </p:txBody>
      </p:sp>
      <p:sp>
        <p:nvSpPr>
          <p:cNvPr id="3" name="Shape 1"/>
          <p:cNvSpPr/>
          <p:nvPr/>
        </p:nvSpPr>
        <p:spPr>
          <a:xfrm>
            <a:off x="777240" y="2103120"/>
            <a:ext cx="1051560" cy="1051560"/>
          </a:xfrm>
          <a:prstGeom prst="ellipse">
            <a:avLst/>
          </a:prstGeom>
          <a:solidFill>
            <a:srgbClr val="1A5FB4"/>
          </a:solidFill>
          <a:ln/>
        </p:spPr>
      </p:sp>
      <p:sp>
        <p:nvSpPr>
          <p:cNvPr id="4" name="Text 2"/>
          <p:cNvSpPr txBox="1"/>
          <p:nvPr/>
        </p:nvSpPr>
        <p:spPr>
          <a:xfrm>
            <a:off x="777240" y="2103120"/>
            <a:ext cx="1051560" cy="105156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3</a:t>
            </a:r>
            <a:endParaRPr lang="en-US" sz="3000" dirty="0"/>
          </a:p>
        </p:txBody>
      </p:sp>
      <p:sp>
        <p:nvSpPr>
          <p:cNvPr id="5" name="Text 3"/>
          <p:cNvSpPr txBox="1"/>
          <p:nvPr/>
        </p:nvSpPr>
        <p:spPr>
          <a:xfrm>
            <a:off x="2148840" y="2103120"/>
            <a:ext cx="9262872" cy="822960"/>
          </a:xfrm>
          <a:prstGeom prst="rect">
            <a:avLst/>
          </a:prstGeom>
          <a:noFill/>
          <a:ln/>
        </p:spPr>
        <p:txBody>
          <a:bodyPr wrap="square" lIns="0" tIns="0" rIns="0" bIns="0" rtlCol="0" anchor="t"/>
          <a:lstStyle/>
          <a:p>
            <a:pPr algn="l" indent="0" marL="0">
              <a:buNone/>
            </a:pPr>
            <a:r>
              <a:rPr lang="en-US" sz="4000" b="1" dirty="0">
                <a:solidFill>
                  <a:srgbClr val="10243A"/>
                </a:solidFill>
                <a:latin typeface="Arial" pitchFamily="34" charset="0"/>
                <a:ea typeface="Arial" pitchFamily="34" charset="-122"/>
                <a:cs typeface="Arial" pitchFamily="34" charset="-120"/>
              </a:rPr>
              <a:t>Arrest</a:t>
            </a:r>
            <a:endParaRPr lang="en-US" sz="4000" dirty="0"/>
          </a:p>
        </p:txBody>
      </p:sp>
      <p:sp>
        <p:nvSpPr>
          <p:cNvPr id="6" name="Text 4"/>
          <p:cNvSpPr txBox="1"/>
          <p:nvPr/>
        </p:nvSpPr>
        <p:spPr>
          <a:xfrm>
            <a:off x="2148840" y="3063240"/>
            <a:ext cx="9262872" cy="1280160"/>
          </a:xfrm>
          <a:prstGeom prst="rect">
            <a:avLst/>
          </a:prstGeom>
          <a:noFill/>
          <a:ln/>
        </p:spPr>
        <p:txBody>
          <a:bodyPr wrap="square" lIns="0" tIns="0" rIns="0" bIns="0" rtlCol="0" anchor="t"/>
          <a:lstStyle/>
          <a:p>
            <a:pPr algn="l" indent="0" marL="0">
              <a:lnSpc>
                <a:spcPts val="3200"/>
              </a:lnSpc>
              <a:buNone/>
            </a:pPr>
            <a:r>
              <a:rPr lang="en-US" sz="2200" dirty="0">
                <a:solidFill>
                  <a:srgbClr val="5F6B79"/>
                </a:solidFill>
                <a:latin typeface="Arial" pitchFamily="34" charset="0"/>
                <a:ea typeface="Arial" pitchFamily="34" charset="-122"/>
                <a:cs typeface="Arial" pitchFamily="34" charset="-120"/>
              </a:rPr>
              <a:t>Probable cause: the description, the location, the property in plain view.</a:t>
            </a:r>
            <a:endParaRPr lang="en-US" sz="2200" dirty="0"/>
          </a:p>
        </p:txBody>
      </p:sp>
      <p:sp>
        <p:nvSpPr>
          <p:cNvPr id="7" name="Shape 5"/>
          <p:cNvSpPr/>
          <p:nvPr/>
        </p:nvSpPr>
        <p:spPr>
          <a:xfrm>
            <a:off x="777240" y="5349240"/>
            <a:ext cx="384048" cy="384048"/>
          </a:xfrm>
          <a:prstGeom prst="ellipse">
            <a:avLst/>
          </a:prstGeom>
          <a:solidFill>
            <a:srgbClr val="C6D6EA"/>
          </a:solidFill>
          <a:ln/>
        </p:spPr>
      </p:sp>
      <p:sp>
        <p:nvSpPr>
          <p:cNvPr id="8" name="Text 6"/>
          <p:cNvSpPr txBox="1"/>
          <p:nvPr/>
        </p:nvSpPr>
        <p:spPr>
          <a:xfrm>
            <a:off x="777240"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1</a:t>
            </a:r>
            <a:endParaRPr lang="en-US" sz="1200" dirty="0"/>
          </a:p>
        </p:txBody>
      </p:sp>
      <p:sp>
        <p:nvSpPr>
          <p:cNvPr id="9" name="Shape 7"/>
          <p:cNvSpPr/>
          <p:nvPr/>
        </p:nvSpPr>
        <p:spPr>
          <a:xfrm>
            <a:off x="1802282" y="5349240"/>
            <a:ext cx="384048" cy="384048"/>
          </a:xfrm>
          <a:prstGeom prst="ellipse">
            <a:avLst/>
          </a:prstGeom>
          <a:solidFill>
            <a:srgbClr val="C6D6EA"/>
          </a:solidFill>
          <a:ln/>
        </p:spPr>
      </p:sp>
      <p:sp>
        <p:nvSpPr>
          <p:cNvPr id="10" name="Text 8"/>
          <p:cNvSpPr txBox="1"/>
          <p:nvPr/>
        </p:nvSpPr>
        <p:spPr>
          <a:xfrm>
            <a:off x="1802282"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2</a:t>
            </a:r>
            <a:endParaRPr lang="en-US" sz="1200" dirty="0"/>
          </a:p>
        </p:txBody>
      </p:sp>
      <p:sp>
        <p:nvSpPr>
          <p:cNvPr id="11" name="Shape 9"/>
          <p:cNvSpPr/>
          <p:nvPr/>
        </p:nvSpPr>
        <p:spPr>
          <a:xfrm>
            <a:off x="2827325" y="5349240"/>
            <a:ext cx="384048" cy="384048"/>
          </a:xfrm>
          <a:prstGeom prst="ellipse">
            <a:avLst/>
          </a:prstGeom>
          <a:solidFill>
            <a:srgbClr val="1A5FB4"/>
          </a:solidFill>
          <a:ln/>
        </p:spPr>
      </p:sp>
      <p:sp>
        <p:nvSpPr>
          <p:cNvPr id="12" name="Text 10"/>
          <p:cNvSpPr txBox="1"/>
          <p:nvPr/>
        </p:nvSpPr>
        <p:spPr>
          <a:xfrm>
            <a:off x="2827325" y="53492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3" name="Shape 11"/>
          <p:cNvSpPr/>
          <p:nvPr/>
        </p:nvSpPr>
        <p:spPr>
          <a:xfrm>
            <a:off x="3852367" y="5349240"/>
            <a:ext cx="384048" cy="384048"/>
          </a:xfrm>
          <a:prstGeom prst="ellipse">
            <a:avLst/>
          </a:prstGeom>
          <a:solidFill>
            <a:srgbClr val="E8EDF3"/>
          </a:solidFill>
          <a:ln/>
        </p:spPr>
      </p:sp>
      <p:sp>
        <p:nvSpPr>
          <p:cNvPr id="14" name="Text 12"/>
          <p:cNvSpPr txBox="1"/>
          <p:nvPr/>
        </p:nvSpPr>
        <p:spPr>
          <a:xfrm>
            <a:off x="3852367"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4</a:t>
            </a:r>
            <a:endParaRPr lang="en-US" sz="1200" dirty="0"/>
          </a:p>
        </p:txBody>
      </p:sp>
      <p:sp>
        <p:nvSpPr>
          <p:cNvPr id="15" name="Shape 13"/>
          <p:cNvSpPr/>
          <p:nvPr/>
        </p:nvSpPr>
        <p:spPr>
          <a:xfrm>
            <a:off x="4877410" y="5349240"/>
            <a:ext cx="384048" cy="384048"/>
          </a:xfrm>
          <a:prstGeom prst="ellipse">
            <a:avLst/>
          </a:prstGeom>
          <a:solidFill>
            <a:srgbClr val="E8EDF3"/>
          </a:solidFill>
          <a:ln/>
        </p:spPr>
      </p:sp>
      <p:sp>
        <p:nvSpPr>
          <p:cNvPr id="16" name="Text 14"/>
          <p:cNvSpPr txBox="1"/>
          <p:nvPr/>
        </p:nvSpPr>
        <p:spPr>
          <a:xfrm>
            <a:off x="4877410"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5</a:t>
            </a:r>
            <a:endParaRPr lang="en-US" sz="1200" dirty="0"/>
          </a:p>
        </p:txBody>
      </p:sp>
      <p:sp>
        <p:nvSpPr>
          <p:cNvPr id="17" name="Shape 15"/>
          <p:cNvSpPr/>
          <p:nvPr/>
        </p:nvSpPr>
        <p:spPr>
          <a:xfrm>
            <a:off x="5902452" y="5349240"/>
            <a:ext cx="384048" cy="384048"/>
          </a:xfrm>
          <a:prstGeom prst="ellipse">
            <a:avLst/>
          </a:prstGeom>
          <a:solidFill>
            <a:srgbClr val="E8EDF3"/>
          </a:solidFill>
          <a:ln/>
        </p:spPr>
      </p:sp>
      <p:sp>
        <p:nvSpPr>
          <p:cNvPr id="18" name="Text 16"/>
          <p:cNvSpPr txBox="1"/>
          <p:nvPr/>
        </p:nvSpPr>
        <p:spPr>
          <a:xfrm>
            <a:off x="5902452"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6</a:t>
            </a:r>
            <a:endParaRPr lang="en-US" sz="1200" dirty="0"/>
          </a:p>
        </p:txBody>
      </p:sp>
      <p:sp>
        <p:nvSpPr>
          <p:cNvPr id="19" name="Shape 17"/>
          <p:cNvSpPr/>
          <p:nvPr/>
        </p:nvSpPr>
        <p:spPr>
          <a:xfrm>
            <a:off x="6927494" y="5349240"/>
            <a:ext cx="384048" cy="384048"/>
          </a:xfrm>
          <a:prstGeom prst="ellipse">
            <a:avLst/>
          </a:prstGeom>
          <a:solidFill>
            <a:srgbClr val="E8EDF3"/>
          </a:solidFill>
          <a:ln/>
        </p:spPr>
      </p:sp>
      <p:sp>
        <p:nvSpPr>
          <p:cNvPr id="20" name="Text 18"/>
          <p:cNvSpPr txBox="1"/>
          <p:nvPr/>
        </p:nvSpPr>
        <p:spPr>
          <a:xfrm>
            <a:off x="6927494"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7</a:t>
            </a:r>
            <a:endParaRPr lang="en-US" sz="1200" dirty="0"/>
          </a:p>
        </p:txBody>
      </p:sp>
      <p:sp>
        <p:nvSpPr>
          <p:cNvPr id="21" name="Shape 19"/>
          <p:cNvSpPr/>
          <p:nvPr/>
        </p:nvSpPr>
        <p:spPr>
          <a:xfrm>
            <a:off x="7952537" y="5349240"/>
            <a:ext cx="384048" cy="384048"/>
          </a:xfrm>
          <a:prstGeom prst="ellipse">
            <a:avLst/>
          </a:prstGeom>
          <a:solidFill>
            <a:srgbClr val="E8EDF3"/>
          </a:solidFill>
          <a:ln/>
        </p:spPr>
      </p:sp>
      <p:sp>
        <p:nvSpPr>
          <p:cNvPr id="22" name="Text 20"/>
          <p:cNvSpPr txBox="1"/>
          <p:nvPr/>
        </p:nvSpPr>
        <p:spPr>
          <a:xfrm>
            <a:off x="7952537"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8</a:t>
            </a:r>
            <a:endParaRPr lang="en-US" sz="1200" dirty="0"/>
          </a:p>
        </p:txBody>
      </p:sp>
      <p:sp>
        <p:nvSpPr>
          <p:cNvPr id="23" name="Shape 21"/>
          <p:cNvSpPr/>
          <p:nvPr/>
        </p:nvSpPr>
        <p:spPr>
          <a:xfrm>
            <a:off x="8977579" y="5349240"/>
            <a:ext cx="384048" cy="384048"/>
          </a:xfrm>
          <a:prstGeom prst="ellipse">
            <a:avLst/>
          </a:prstGeom>
          <a:solidFill>
            <a:srgbClr val="E8EDF3"/>
          </a:solidFill>
          <a:ln/>
        </p:spPr>
      </p:sp>
      <p:sp>
        <p:nvSpPr>
          <p:cNvPr id="24" name="Text 22"/>
          <p:cNvSpPr txBox="1"/>
          <p:nvPr/>
        </p:nvSpPr>
        <p:spPr>
          <a:xfrm>
            <a:off x="8977579"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9</a:t>
            </a:r>
            <a:endParaRPr lang="en-US" sz="1200" dirty="0"/>
          </a:p>
        </p:txBody>
      </p:sp>
      <p:sp>
        <p:nvSpPr>
          <p:cNvPr id="25" name="Shape 23"/>
          <p:cNvSpPr/>
          <p:nvPr/>
        </p:nvSpPr>
        <p:spPr>
          <a:xfrm>
            <a:off x="10002622" y="5349240"/>
            <a:ext cx="384048" cy="384048"/>
          </a:xfrm>
          <a:prstGeom prst="ellipse">
            <a:avLst/>
          </a:prstGeom>
          <a:solidFill>
            <a:srgbClr val="E8EDF3"/>
          </a:solidFill>
          <a:ln/>
        </p:spPr>
      </p:sp>
      <p:sp>
        <p:nvSpPr>
          <p:cNvPr id="26" name="Text 24"/>
          <p:cNvSpPr txBox="1"/>
          <p:nvPr/>
        </p:nvSpPr>
        <p:spPr>
          <a:xfrm>
            <a:off x="10002622"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10</a:t>
            </a:r>
            <a:endParaRPr lang="en-US" sz="1200" dirty="0"/>
          </a:p>
        </p:txBody>
      </p:sp>
      <p:sp>
        <p:nvSpPr>
          <p:cNvPr id="27" name="Shape 25"/>
          <p:cNvSpPr/>
          <p:nvPr/>
        </p:nvSpPr>
        <p:spPr>
          <a:xfrm>
            <a:off x="11027664" y="5349240"/>
            <a:ext cx="384048" cy="384048"/>
          </a:xfrm>
          <a:prstGeom prst="ellipse">
            <a:avLst/>
          </a:prstGeom>
          <a:solidFill>
            <a:srgbClr val="E8EDF3"/>
          </a:solidFill>
          <a:ln/>
        </p:spPr>
      </p:sp>
      <p:sp>
        <p:nvSpPr>
          <p:cNvPr id="28" name="Text 26"/>
          <p:cNvSpPr txBox="1"/>
          <p:nvPr/>
        </p:nvSpPr>
        <p:spPr>
          <a:xfrm>
            <a:off x="11027664"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11</a:t>
            </a:r>
            <a:endParaRPr lang="en-US" sz="1200" dirty="0"/>
          </a:p>
        </p:txBody>
      </p:sp>
      <p:sp>
        <p:nvSpPr>
          <p:cNvPr id="29" name="Text 27"/>
          <p:cNvSpPr txBox="1"/>
          <p:nvPr/>
        </p:nvSpPr>
        <p:spPr>
          <a:xfrm>
            <a:off x="777240" y="5852160"/>
            <a:ext cx="10634472" cy="274320"/>
          </a:xfrm>
          <a:prstGeom prst="rect">
            <a:avLst/>
          </a:prstGeom>
          <a:noFill/>
          <a:ln/>
        </p:spPr>
        <p:txBody>
          <a:bodyPr wrap="square" lIns="0" tIns="0" rIns="0" bIns="0" rtlCol="0" anchor="t"/>
          <a:lstStyle/>
          <a:p>
            <a:pPr algn="l" indent="0" marL="0">
              <a:buNone/>
            </a:pPr>
            <a:r>
              <a:rPr lang="en-US" sz="1100" b="1" spc="200" kern="0" dirty="0">
                <a:solidFill>
                  <a:srgbClr val="9AA7B5"/>
                </a:solidFill>
                <a:latin typeface="Arial" pitchFamily="34" charset="0"/>
                <a:ea typeface="Arial" pitchFamily="34" charset="-122"/>
                <a:cs typeface="Arial" pitchFamily="34" charset="-120"/>
              </a:rPr>
              <a:t>THE ELEVEN STAGES</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10634472" cy="310896"/>
          </a:xfrm>
          <a:prstGeom prst="rect">
            <a:avLst/>
          </a:prstGeom>
          <a:noFill/>
          <a:ln/>
        </p:spPr>
        <p:txBody>
          <a:bodyPr wrap="square" lIns="0" tIns="0" rIns="0" bIns="0" rtlCol="0" anchor="t"/>
          <a:lstStyle/>
          <a:p>
            <a:pPr algn="l" indent="0" marL="0">
              <a:buNone/>
            </a:pPr>
            <a:r>
              <a:rPr lang="en-US" sz="1300" b="1" spc="200" kern="0" dirty="0">
                <a:solidFill>
                  <a:srgbClr val="1A5FB4"/>
                </a:solidFill>
                <a:latin typeface="Arial" pitchFamily="34" charset="0"/>
                <a:ea typeface="Arial" pitchFamily="34" charset="-122"/>
                <a:cs typeface="Arial" pitchFamily="34" charset="-120"/>
              </a:rPr>
              <a:t>THE CASE · 4 OF 11</a:t>
            </a:r>
            <a:endParaRPr lang="en-US" sz="1300" dirty="0"/>
          </a:p>
        </p:txBody>
      </p:sp>
      <p:sp>
        <p:nvSpPr>
          <p:cNvPr id="3" name="Text 1"/>
          <p:cNvSpPr txBox="1"/>
          <p:nvPr/>
        </p:nvSpPr>
        <p:spPr>
          <a:xfrm>
            <a:off x="777240" y="1325880"/>
            <a:ext cx="10634472" cy="3200400"/>
          </a:xfrm>
          <a:prstGeom prst="rect">
            <a:avLst/>
          </a:prstGeom>
          <a:noFill/>
          <a:ln/>
        </p:spPr>
        <p:txBody>
          <a:bodyPr wrap="square" lIns="0" tIns="0" rIns="0" bIns="0" rtlCol="0" anchor="t"/>
          <a:lstStyle/>
          <a:p>
            <a:pPr algn="l" indent="0" marL="0">
              <a:lnSpc>
                <a:spcPts val="3900"/>
              </a:lnSpc>
              <a:buNone/>
            </a:pPr>
            <a:r>
              <a:rPr lang="en-US" sz="2700" dirty="0">
                <a:solidFill>
                  <a:srgbClr val="1B1B1B"/>
                </a:solidFill>
                <a:latin typeface="Arial" pitchFamily="34" charset="0"/>
                <a:ea typeface="Arial" pitchFamily="34" charset="-122"/>
                <a:cs typeface="Arial" pitchFamily="34" charset="-120"/>
              </a:rPr>
              <a:t>At the county jail Ramirez is photographed and fingerprinted, his property is inventoried, and he is screened by medical staff.</a:t>
            </a:r>
            <a:endParaRPr lang="en-US" sz="2700" dirty="0"/>
          </a:p>
        </p:txBody>
      </p:sp>
      <p:sp>
        <p:nvSpPr>
          <p:cNvPr id="4" name="Text 2"/>
          <p:cNvSpPr txBox="1"/>
          <p:nvPr/>
        </p:nvSpPr>
        <p:spPr>
          <a:xfrm>
            <a:off x="777240" y="4663440"/>
            <a:ext cx="10634472" cy="548640"/>
          </a:xfrm>
          <a:prstGeom prst="rect">
            <a:avLst/>
          </a:prstGeom>
          <a:noFill/>
          <a:ln/>
        </p:spPr>
        <p:txBody>
          <a:bodyPr wrap="square" lIns="0" tIns="0" rIns="0" bIns="0" rtlCol="0" anchor="t"/>
          <a:lstStyle/>
          <a:p>
            <a:pPr algn="l" indent="0" marL="0">
              <a:buNone/>
            </a:pPr>
            <a:r>
              <a:rPr lang="en-US" sz="2600" b="1" dirty="0">
                <a:solidFill>
                  <a:srgbClr val="1A5FB4"/>
                </a:solidFill>
                <a:latin typeface="Arial" pitchFamily="34" charset="0"/>
                <a:ea typeface="Arial" pitchFamily="34" charset="-122"/>
                <a:cs typeface="Arial" pitchFamily="34" charset="-120"/>
              </a:rPr>
              <a:t>Which stage is this?</a:t>
            </a:r>
            <a:endParaRPr lang="en-US" sz="2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10634472" cy="310896"/>
          </a:xfrm>
          <a:prstGeom prst="rect">
            <a:avLst/>
          </a:prstGeom>
          <a:noFill/>
          <a:ln/>
        </p:spPr>
        <p:txBody>
          <a:bodyPr wrap="square" lIns="0" tIns="0" rIns="0" bIns="0" rtlCol="0" anchor="t"/>
          <a:lstStyle/>
          <a:p>
            <a:pPr algn="l" indent="0" marL="0">
              <a:buNone/>
            </a:pPr>
            <a:r>
              <a:rPr lang="en-US" sz="1300" b="1" spc="200" kern="0" dirty="0">
                <a:solidFill>
                  <a:srgbClr val="1A5FB4"/>
                </a:solidFill>
                <a:latin typeface="Arial" pitchFamily="34" charset="0"/>
                <a:ea typeface="Arial" pitchFamily="34" charset="-122"/>
                <a:cs typeface="Arial" pitchFamily="34" charset="-120"/>
              </a:rPr>
              <a:t>ANSWER</a:t>
            </a:r>
            <a:endParaRPr lang="en-US" sz="1300" dirty="0"/>
          </a:p>
        </p:txBody>
      </p:sp>
      <p:sp>
        <p:nvSpPr>
          <p:cNvPr id="3" name="Shape 1"/>
          <p:cNvSpPr/>
          <p:nvPr/>
        </p:nvSpPr>
        <p:spPr>
          <a:xfrm>
            <a:off x="777240" y="2103120"/>
            <a:ext cx="1051560" cy="1051560"/>
          </a:xfrm>
          <a:prstGeom prst="ellipse">
            <a:avLst/>
          </a:prstGeom>
          <a:solidFill>
            <a:srgbClr val="1A5FB4"/>
          </a:solidFill>
          <a:ln/>
        </p:spPr>
      </p:sp>
      <p:sp>
        <p:nvSpPr>
          <p:cNvPr id="4" name="Text 2"/>
          <p:cNvSpPr txBox="1"/>
          <p:nvPr/>
        </p:nvSpPr>
        <p:spPr>
          <a:xfrm>
            <a:off x="777240" y="2103120"/>
            <a:ext cx="1051560" cy="105156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4</a:t>
            </a:r>
            <a:endParaRPr lang="en-US" sz="3000" dirty="0"/>
          </a:p>
        </p:txBody>
      </p:sp>
      <p:sp>
        <p:nvSpPr>
          <p:cNvPr id="5" name="Text 3"/>
          <p:cNvSpPr txBox="1"/>
          <p:nvPr/>
        </p:nvSpPr>
        <p:spPr>
          <a:xfrm>
            <a:off x="2148840" y="2103120"/>
            <a:ext cx="9262872" cy="822960"/>
          </a:xfrm>
          <a:prstGeom prst="rect">
            <a:avLst/>
          </a:prstGeom>
          <a:noFill/>
          <a:ln/>
        </p:spPr>
        <p:txBody>
          <a:bodyPr wrap="square" lIns="0" tIns="0" rIns="0" bIns="0" rtlCol="0" anchor="t"/>
          <a:lstStyle/>
          <a:p>
            <a:pPr algn="l" indent="0" marL="0">
              <a:buNone/>
            </a:pPr>
            <a:r>
              <a:rPr lang="en-US" sz="4000" b="1" dirty="0">
                <a:solidFill>
                  <a:srgbClr val="10243A"/>
                </a:solidFill>
                <a:latin typeface="Arial" pitchFamily="34" charset="0"/>
                <a:ea typeface="Arial" pitchFamily="34" charset="-122"/>
                <a:cs typeface="Arial" pitchFamily="34" charset="-120"/>
              </a:rPr>
              <a:t>Booking</a:t>
            </a:r>
            <a:endParaRPr lang="en-US" sz="4000" dirty="0"/>
          </a:p>
        </p:txBody>
      </p:sp>
      <p:sp>
        <p:nvSpPr>
          <p:cNvPr id="6" name="Text 4"/>
          <p:cNvSpPr txBox="1"/>
          <p:nvPr/>
        </p:nvSpPr>
        <p:spPr>
          <a:xfrm>
            <a:off x="2148840" y="3063240"/>
            <a:ext cx="9262872" cy="1280160"/>
          </a:xfrm>
          <a:prstGeom prst="rect">
            <a:avLst/>
          </a:prstGeom>
          <a:noFill/>
          <a:ln/>
        </p:spPr>
        <p:txBody>
          <a:bodyPr wrap="square" lIns="0" tIns="0" rIns="0" bIns="0" rtlCol="0" anchor="t"/>
          <a:lstStyle/>
          <a:p>
            <a:pPr algn="l" indent="0" marL="0">
              <a:lnSpc>
                <a:spcPts val="3200"/>
              </a:lnSpc>
              <a:buNone/>
            </a:pPr>
            <a:r>
              <a:rPr lang="en-US" sz="2200" dirty="0">
                <a:solidFill>
                  <a:srgbClr val="5F6B79"/>
                </a:solidFill>
                <a:latin typeface="Arial" pitchFamily="34" charset="0"/>
                <a:ea typeface="Arial" pitchFamily="34" charset="-122"/>
                <a:cs typeface="Arial" pitchFamily="34" charset="-120"/>
              </a:rPr>
              <a:t>Routine - and it creates records that follow the case.</a:t>
            </a:r>
            <a:endParaRPr lang="en-US" sz="2200" dirty="0"/>
          </a:p>
        </p:txBody>
      </p:sp>
      <p:sp>
        <p:nvSpPr>
          <p:cNvPr id="7" name="Shape 5"/>
          <p:cNvSpPr/>
          <p:nvPr/>
        </p:nvSpPr>
        <p:spPr>
          <a:xfrm>
            <a:off x="777240" y="5349240"/>
            <a:ext cx="384048" cy="384048"/>
          </a:xfrm>
          <a:prstGeom prst="ellipse">
            <a:avLst/>
          </a:prstGeom>
          <a:solidFill>
            <a:srgbClr val="C6D6EA"/>
          </a:solidFill>
          <a:ln/>
        </p:spPr>
      </p:sp>
      <p:sp>
        <p:nvSpPr>
          <p:cNvPr id="8" name="Text 6"/>
          <p:cNvSpPr txBox="1"/>
          <p:nvPr/>
        </p:nvSpPr>
        <p:spPr>
          <a:xfrm>
            <a:off x="777240"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1</a:t>
            </a:r>
            <a:endParaRPr lang="en-US" sz="1200" dirty="0"/>
          </a:p>
        </p:txBody>
      </p:sp>
      <p:sp>
        <p:nvSpPr>
          <p:cNvPr id="9" name="Shape 7"/>
          <p:cNvSpPr/>
          <p:nvPr/>
        </p:nvSpPr>
        <p:spPr>
          <a:xfrm>
            <a:off x="1802282" y="5349240"/>
            <a:ext cx="384048" cy="384048"/>
          </a:xfrm>
          <a:prstGeom prst="ellipse">
            <a:avLst/>
          </a:prstGeom>
          <a:solidFill>
            <a:srgbClr val="C6D6EA"/>
          </a:solidFill>
          <a:ln/>
        </p:spPr>
      </p:sp>
      <p:sp>
        <p:nvSpPr>
          <p:cNvPr id="10" name="Text 8"/>
          <p:cNvSpPr txBox="1"/>
          <p:nvPr/>
        </p:nvSpPr>
        <p:spPr>
          <a:xfrm>
            <a:off x="1802282"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2</a:t>
            </a:r>
            <a:endParaRPr lang="en-US" sz="1200" dirty="0"/>
          </a:p>
        </p:txBody>
      </p:sp>
      <p:sp>
        <p:nvSpPr>
          <p:cNvPr id="11" name="Shape 9"/>
          <p:cNvSpPr/>
          <p:nvPr/>
        </p:nvSpPr>
        <p:spPr>
          <a:xfrm>
            <a:off x="2827325" y="5349240"/>
            <a:ext cx="384048" cy="384048"/>
          </a:xfrm>
          <a:prstGeom prst="ellipse">
            <a:avLst/>
          </a:prstGeom>
          <a:solidFill>
            <a:srgbClr val="C6D6EA"/>
          </a:solidFill>
          <a:ln/>
        </p:spPr>
      </p:sp>
      <p:sp>
        <p:nvSpPr>
          <p:cNvPr id="12" name="Text 10"/>
          <p:cNvSpPr txBox="1"/>
          <p:nvPr/>
        </p:nvSpPr>
        <p:spPr>
          <a:xfrm>
            <a:off x="2827325"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3</a:t>
            </a:r>
            <a:endParaRPr lang="en-US" sz="1200" dirty="0"/>
          </a:p>
        </p:txBody>
      </p:sp>
      <p:sp>
        <p:nvSpPr>
          <p:cNvPr id="13" name="Shape 11"/>
          <p:cNvSpPr/>
          <p:nvPr/>
        </p:nvSpPr>
        <p:spPr>
          <a:xfrm>
            <a:off x="3852367" y="5349240"/>
            <a:ext cx="384048" cy="384048"/>
          </a:xfrm>
          <a:prstGeom prst="ellipse">
            <a:avLst/>
          </a:prstGeom>
          <a:solidFill>
            <a:srgbClr val="1A5FB4"/>
          </a:solidFill>
          <a:ln/>
        </p:spPr>
      </p:sp>
      <p:sp>
        <p:nvSpPr>
          <p:cNvPr id="14" name="Text 12"/>
          <p:cNvSpPr txBox="1"/>
          <p:nvPr/>
        </p:nvSpPr>
        <p:spPr>
          <a:xfrm>
            <a:off x="3852367" y="53492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15" name="Shape 13"/>
          <p:cNvSpPr/>
          <p:nvPr/>
        </p:nvSpPr>
        <p:spPr>
          <a:xfrm>
            <a:off x="4877410" y="5349240"/>
            <a:ext cx="384048" cy="384048"/>
          </a:xfrm>
          <a:prstGeom prst="ellipse">
            <a:avLst/>
          </a:prstGeom>
          <a:solidFill>
            <a:srgbClr val="E8EDF3"/>
          </a:solidFill>
          <a:ln/>
        </p:spPr>
      </p:sp>
      <p:sp>
        <p:nvSpPr>
          <p:cNvPr id="16" name="Text 14"/>
          <p:cNvSpPr txBox="1"/>
          <p:nvPr/>
        </p:nvSpPr>
        <p:spPr>
          <a:xfrm>
            <a:off x="4877410"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5</a:t>
            </a:r>
            <a:endParaRPr lang="en-US" sz="1200" dirty="0"/>
          </a:p>
        </p:txBody>
      </p:sp>
      <p:sp>
        <p:nvSpPr>
          <p:cNvPr id="17" name="Shape 15"/>
          <p:cNvSpPr/>
          <p:nvPr/>
        </p:nvSpPr>
        <p:spPr>
          <a:xfrm>
            <a:off x="5902452" y="5349240"/>
            <a:ext cx="384048" cy="384048"/>
          </a:xfrm>
          <a:prstGeom prst="ellipse">
            <a:avLst/>
          </a:prstGeom>
          <a:solidFill>
            <a:srgbClr val="E8EDF3"/>
          </a:solidFill>
          <a:ln/>
        </p:spPr>
      </p:sp>
      <p:sp>
        <p:nvSpPr>
          <p:cNvPr id="18" name="Text 16"/>
          <p:cNvSpPr txBox="1"/>
          <p:nvPr/>
        </p:nvSpPr>
        <p:spPr>
          <a:xfrm>
            <a:off x="5902452"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6</a:t>
            </a:r>
            <a:endParaRPr lang="en-US" sz="1200" dirty="0"/>
          </a:p>
        </p:txBody>
      </p:sp>
      <p:sp>
        <p:nvSpPr>
          <p:cNvPr id="19" name="Shape 17"/>
          <p:cNvSpPr/>
          <p:nvPr/>
        </p:nvSpPr>
        <p:spPr>
          <a:xfrm>
            <a:off x="6927494" y="5349240"/>
            <a:ext cx="384048" cy="384048"/>
          </a:xfrm>
          <a:prstGeom prst="ellipse">
            <a:avLst/>
          </a:prstGeom>
          <a:solidFill>
            <a:srgbClr val="E8EDF3"/>
          </a:solidFill>
          <a:ln/>
        </p:spPr>
      </p:sp>
      <p:sp>
        <p:nvSpPr>
          <p:cNvPr id="20" name="Text 18"/>
          <p:cNvSpPr txBox="1"/>
          <p:nvPr/>
        </p:nvSpPr>
        <p:spPr>
          <a:xfrm>
            <a:off x="6927494"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7</a:t>
            </a:r>
            <a:endParaRPr lang="en-US" sz="1200" dirty="0"/>
          </a:p>
        </p:txBody>
      </p:sp>
      <p:sp>
        <p:nvSpPr>
          <p:cNvPr id="21" name="Shape 19"/>
          <p:cNvSpPr/>
          <p:nvPr/>
        </p:nvSpPr>
        <p:spPr>
          <a:xfrm>
            <a:off x="7952537" y="5349240"/>
            <a:ext cx="384048" cy="384048"/>
          </a:xfrm>
          <a:prstGeom prst="ellipse">
            <a:avLst/>
          </a:prstGeom>
          <a:solidFill>
            <a:srgbClr val="E8EDF3"/>
          </a:solidFill>
          <a:ln/>
        </p:spPr>
      </p:sp>
      <p:sp>
        <p:nvSpPr>
          <p:cNvPr id="22" name="Text 20"/>
          <p:cNvSpPr txBox="1"/>
          <p:nvPr/>
        </p:nvSpPr>
        <p:spPr>
          <a:xfrm>
            <a:off x="7952537"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8</a:t>
            </a:r>
            <a:endParaRPr lang="en-US" sz="1200" dirty="0"/>
          </a:p>
        </p:txBody>
      </p:sp>
      <p:sp>
        <p:nvSpPr>
          <p:cNvPr id="23" name="Shape 21"/>
          <p:cNvSpPr/>
          <p:nvPr/>
        </p:nvSpPr>
        <p:spPr>
          <a:xfrm>
            <a:off x="8977579" y="5349240"/>
            <a:ext cx="384048" cy="384048"/>
          </a:xfrm>
          <a:prstGeom prst="ellipse">
            <a:avLst/>
          </a:prstGeom>
          <a:solidFill>
            <a:srgbClr val="E8EDF3"/>
          </a:solidFill>
          <a:ln/>
        </p:spPr>
      </p:sp>
      <p:sp>
        <p:nvSpPr>
          <p:cNvPr id="24" name="Text 22"/>
          <p:cNvSpPr txBox="1"/>
          <p:nvPr/>
        </p:nvSpPr>
        <p:spPr>
          <a:xfrm>
            <a:off x="8977579"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9</a:t>
            </a:r>
            <a:endParaRPr lang="en-US" sz="1200" dirty="0"/>
          </a:p>
        </p:txBody>
      </p:sp>
      <p:sp>
        <p:nvSpPr>
          <p:cNvPr id="25" name="Shape 23"/>
          <p:cNvSpPr/>
          <p:nvPr/>
        </p:nvSpPr>
        <p:spPr>
          <a:xfrm>
            <a:off x="10002622" y="5349240"/>
            <a:ext cx="384048" cy="384048"/>
          </a:xfrm>
          <a:prstGeom prst="ellipse">
            <a:avLst/>
          </a:prstGeom>
          <a:solidFill>
            <a:srgbClr val="E8EDF3"/>
          </a:solidFill>
          <a:ln/>
        </p:spPr>
      </p:sp>
      <p:sp>
        <p:nvSpPr>
          <p:cNvPr id="26" name="Text 24"/>
          <p:cNvSpPr txBox="1"/>
          <p:nvPr/>
        </p:nvSpPr>
        <p:spPr>
          <a:xfrm>
            <a:off x="10002622"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10</a:t>
            </a:r>
            <a:endParaRPr lang="en-US" sz="1200" dirty="0"/>
          </a:p>
        </p:txBody>
      </p:sp>
      <p:sp>
        <p:nvSpPr>
          <p:cNvPr id="27" name="Shape 25"/>
          <p:cNvSpPr/>
          <p:nvPr/>
        </p:nvSpPr>
        <p:spPr>
          <a:xfrm>
            <a:off x="11027664" y="5349240"/>
            <a:ext cx="384048" cy="384048"/>
          </a:xfrm>
          <a:prstGeom prst="ellipse">
            <a:avLst/>
          </a:prstGeom>
          <a:solidFill>
            <a:srgbClr val="E8EDF3"/>
          </a:solidFill>
          <a:ln/>
        </p:spPr>
      </p:sp>
      <p:sp>
        <p:nvSpPr>
          <p:cNvPr id="28" name="Text 26"/>
          <p:cNvSpPr txBox="1"/>
          <p:nvPr/>
        </p:nvSpPr>
        <p:spPr>
          <a:xfrm>
            <a:off x="11027664"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11</a:t>
            </a:r>
            <a:endParaRPr lang="en-US" sz="1200" dirty="0"/>
          </a:p>
        </p:txBody>
      </p:sp>
      <p:sp>
        <p:nvSpPr>
          <p:cNvPr id="29" name="Text 27"/>
          <p:cNvSpPr txBox="1"/>
          <p:nvPr/>
        </p:nvSpPr>
        <p:spPr>
          <a:xfrm>
            <a:off x="777240" y="5852160"/>
            <a:ext cx="10634472" cy="274320"/>
          </a:xfrm>
          <a:prstGeom prst="rect">
            <a:avLst/>
          </a:prstGeom>
          <a:noFill/>
          <a:ln/>
        </p:spPr>
        <p:txBody>
          <a:bodyPr wrap="square" lIns="0" tIns="0" rIns="0" bIns="0" rtlCol="0" anchor="t"/>
          <a:lstStyle/>
          <a:p>
            <a:pPr algn="l" indent="0" marL="0">
              <a:buNone/>
            </a:pPr>
            <a:r>
              <a:rPr lang="en-US" sz="1100" b="1" spc="200" kern="0" dirty="0">
                <a:solidFill>
                  <a:srgbClr val="9AA7B5"/>
                </a:solidFill>
                <a:latin typeface="Arial" pitchFamily="34" charset="0"/>
                <a:ea typeface="Arial" pitchFamily="34" charset="-122"/>
                <a:cs typeface="Arial" pitchFamily="34" charset="-120"/>
              </a:rPr>
              <a:t>THE ELEVEN STAGES</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10634472" cy="310896"/>
          </a:xfrm>
          <a:prstGeom prst="rect">
            <a:avLst/>
          </a:prstGeom>
          <a:noFill/>
          <a:ln/>
        </p:spPr>
        <p:txBody>
          <a:bodyPr wrap="square" lIns="0" tIns="0" rIns="0" bIns="0" rtlCol="0" anchor="t"/>
          <a:lstStyle/>
          <a:p>
            <a:pPr algn="l" indent="0" marL="0">
              <a:buNone/>
            </a:pPr>
            <a:r>
              <a:rPr lang="en-US" sz="1300" b="1" spc="200" kern="0" dirty="0">
                <a:solidFill>
                  <a:srgbClr val="1A5FB4"/>
                </a:solidFill>
                <a:latin typeface="Arial" pitchFamily="34" charset="0"/>
                <a:ea typeface="Arial" pitchFamily="34" charset="-122"/>
                <a:cs typeface="Arial" pitchFamily="34" charset="-120"/>
              </a:rPr>
              <a:t>THE CASE · 5 OF 11</a:t>
            </a:r>
            <a:endParaRPr lang="en-US" sz="1300" dirty="0"/>
          </a:p>
        </p:txBody>
      </p:sp>
      <p:sp>
        <p:nvSpPr>
          <p:cNvPr id="3" name="Text 1"/>
          <p:cNvSpPr txBox="1"/>
          <p:nvPr/>
        </p:nvSpPr>
        <p:spPr>
          <a:xfrm>
            <a:off x="777240" y="1325880"/>
            <a:ext cx="10634472" cy="3200400"/>
          </a:xfrm>
          <a:prstGeom prst="rect">
            <a:avLst/>
          </a:prstGeom>
          <a:noFill/>
          <a:ln/>
        </p:spPr>
        <p:txBody>
          <a:bodyPr wrap="square" lIns="0" tIns="0" rIns="0" bIns="0" rtlCol="0" anchor="t"/>
          <a:lstStyle/>
          <a:p>
            <a:pPr algn="l" indent="0" marL="0">
              <a:lnSpc>
                <a:spcPts val="3900"/>
              </a:lnSpc>
              <a:buNone/>
            </a:pPr>
            <a:r>
              <a:rPr lang="en-US" sz="2700" dirty="0">
                <a:solidFill>
                  <a:srgbClr val="1B1B1B"/>
                </a:solidFill>
                <a:latin typeface="Arial" pitchFamily="34" charset="0"/>
                <a:ea typeface="Arial" pitchFamily="34" charset="-122"/>
                <a:cs typeface="Arial" pitchFamily="34" charset="-120"/>
              </a:rPr>
              <a:t>The next morning Ramirez stands before a judge by video from the jail. The judge finds probable cause, states the charge, advises him of his right to a lawyer, and sets bond at $2,500.</a:t>
            </a:r>
            <a:endParaRPr lang="en-US" sz="2700" dirty="0"/>
          </a:p>
        </p:txBody>
      </p:sp>
      <p:sp>
        <p:nvSpPr>
          <p:cNvPr id="4" name="Text 2"/>
          <p:cNvSpPr txBox="1"/>
          <p:nvPr/>
        </p:nvSpPr>
        <p:spPr>
          <a:xfrm>
            <a:off x="777240" y="4663440"/>
            <a:ext cx="10634472" cy="548640"/>
          </a:xfrm>
          <a:prstGeom prst="rect">
            <a:avLst/>
          </a:prstGeom>
          <a:noFill/>
          <a:ln/>
        </p:spPr>
        <p:txBody>
          <a:bodyPr wrap="square" lIns="0" tIns="0" rIns="0" bIns="0" rtlCol="0" anchor="t"/>
          <a:lstStyle/>
          <a:p>
            <a:pPr algn="l" indent="0" marL="0">
              <a:buNone/>
            </a:pPr>
            <a:r>
              <a:rPr lang="en-US" sz="2600" b="1" dirty="0">
                <a:solidFill>
                  <a:srgbClr val="1A5FB4"/>
                </a:solidFill>
                <a:latin typeface="Arial" pitchFamily="34" charset="0"/>
                <a:ea typeface="Arial" pitchFamily="34" charset="-122"/>
                <a:cs typeface="Arial" pitchFamily="34" charset="-120"/>
              </a:rPr>
              <a:t>Which stage is this?</a:t>
            </a:r>
            <a:endParaRPr lang="en-US" sz="2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10634472" cy="310896"/>
          </a:xfrm>
          <a:prstGeom prst="rect">
            <a:avLst/>
          </a:prstGeom>
          <a:noFill/>
          <a:ln/>
        </p:spPr>
        <p:txBody>
          <a:bodyPr wrap="square" lIns="0" tIns="0" rIns="0" bIns="0" rtlCol="0" anchor="t"/>
          <a:lstStyle/>
          <a:p>
            <a:pPr algn="l" indent="0" marL="0">
              <a:buNone/>
            </a:pPr>
            <a:r>
              <a:rPr lang="en-US" sz="1300" b="1" spc="200" kern="0" dirty="0">
                <a:solidFill>
                  <a:srgbClr val="1A5FB4"/>
                </a:solidFill>
                <a:latin typeface="Arial" pitchFamily="34" charset="0"/>
                <a:ea typeface="Arial" pitchFamily="34" charset="-122"/>
                <a:cs typeface="Arial" pitchFamily="34" charset="-120"/>
              </a:rPr>
              <a:t>ANSWER</a:t>
            </a:r>
            <a:endParaRPr lang="en-US" sz="1300" dirty="0"/>
          </a:p>
        </p:txBody>
      </p:sp>
      <p:sp>
        <p:nvSpPr>
          <p:cNvPr id="3" name="Shape 1"/>
          <p:cNvSpPr/>
          <p:nvPr/>
        </p:nvSpPr>
        <p:spPr>
          <a:xfrm>
            <a:off x="777240" y="2103120"/>
            <a:ext cx="1051560" cy="1051560"/>
          </a:xfrm>
          <a:prstGeom prst="ellipse">
            <a:avLst/>
          </a:prstGeom>
          <a:solidFill>
            <a:srgbClr val="1A5FB4"/>
          </a:solidFill>
          <a:ln/>
        </p:spPr>
      </p:sp>
      <p:sp>
        <p:nvSpPr>
          <p:cNvPr id="4" name="Text 2"/>
          <p:cNvSpPr txBox="1"/>
          <p:nvPr/>
        </p:nvSpPr>
        <p:spPr>
          <a:xfrm>
            <a:off x="777240" y="2103120"/>
            <a:ext cx="1051560" cy="105156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5</a:t>
            </a:r>
            <a:endParaRPr lang="en-US" sz="3000" dirty="0"/>
          </a:p>
        </p:txBody>
      </p:sp>
      <p:sp>
        <p:nvSpPr>
          <p:cNvPr id="5" name="Text 3"/>
          <p:cNvSpPr txBox="1"/>
          <p:nvPr/>
        </p:nvSpPr>
        <p:spPr>
          <a:xfrm>
            <a:off x="2148840" y="2103120"/>
            <a:ext cx="9262872" cy="822960"/>
          </a:xfrm>
          <a:prstGeom prst="rect">
            <a:avLst/>
          </a:prstGeom>
          <a:noFill/>
          <a:ln/>
        </p:spPr>
        <p:txBody>
          <a:bodyPr wrap="square" lIns="0" tIns="0" rIns="0" bIns="0" rtlCol="0" anchor="t"/>
          <a:lstStyle/>
          <a:p>
            <a:pPr algn="l" indent="0" marL="0">
              <a:buNone/>
            </a:pPr>
            <a:r>
              <a:rPr lang="en-US" sz="4000" b="1" dirty="0">
                <a:solidFill>
                  <a:srgbClr val="10243A"/>
                </a:solidFill>
                <a:latin typeface="Arial" pitchFamily="34" charset="0"/>
                <a:ea typeface="Arial" pitchFamily="34" charset="-122"/>
                <a:cs typeface="Arial" pitchFamily="34" charset="-120"/>
              </a:rPr>
              <a:t>First appearance</a:t>
            </a:r>
            <a:endParaRPr lang="en-US" sz="4000" dirty="0"/>
          </a:p>
        </p:txBody>
      </p:sp>
      <p:sp>
        <p:nvSpPr>
          <p:cNvPr id="6" name="Text 4"/>
          <p:cNvSpPr txBox="1"/>
          <p:nvPr/>
        </p:nvSpPr>
        <p:spPr>
          <a:xfrm>
            <a:off x="2148840" y="3063240"/>
            <a:ext cx="9262872" cy="1280160"/>
          </a:xfrm>
          <a:prstGeom prst="rect">
            <a:avLst/>
          </a:prstGeom>
          <a:noFill/>
          <a:ln/>
        </p:spPr>
        <p:txBody>
          <a:bodyPr wrap="square" lIns="0" tIns="0" rIns="0" bIns="0" rtlCol="0" anchor="t"/>
          <a:lstStyle/>
          <a:p>
            <a:pPr algn="l" indent="0" marL="0">
              <a:lnSpc>
                <a:spcPts val="3200"/>
              </a:lnSpc>
              <a:buNone/>
            </a:pPr>
            <a:r>
              <a:rPr lang="en-US" sz="2200" dirty="0">
                <a:solidFill>
                  <a:srgbClr val="5F6B79"/>
                </a:solidFill>
                <a:latin typeface="Arial" pitchFamily="34" charset="0"/>
                <a:ea typeface="Arial" pitchFamily="34" charset="-122"/>
                <a:cs typeface="Arial" pitchFamily="34" charset="-120"/>
              </a:rPr>
              <a:t>Less than twenty-four hours after arrest, exactly as required.</a:t>
            </a:r>
            <a:endParaRPr lang="en-US" sz="2200" dirty="0"/>
          </a:p>
        </p:txBody>
      </p:sp>
      <p:sp>
        <p:nvSpPr>
          <p:cNvPr id="7" name="Shape 5"/>
          <p:cNvSpPr/>
          <p:nvPr/>
        </p:nvSpPr>
        <p:spPr>
          <a:xfrm>
            <a:off x="777240" y="5349240"/>
            <a:ext cx="384048" cy="384048"/>
          </a:xfrm>
          <a:prstGeom prst="ellipse">
            <a:avLst/>
          </a:prstGeom>
          <a:solidFill>
            <a:srgbClr val="C6D6EA"/>
          </a:solidFill>
          <a:ln/>
        </p:spPr>
      </p:sp>
      <p:sp>
        <p:nvSpPr>
          <p:cNvPr id="8" name="Text 6"/>
          <p:cNvSpPr txBox="1"/>
          <p:nvPr/>
        </p:nvSpPr>
        <p:spPr>
          <a:xfrm>
            <a:off x="777240"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1</a:t>
            </a:r>
            <a:endParaRPr lang="en-US" sz="1200" dirty="0"/>
          </a:p>
        </p:txBody>
      </p:sp>
      <p:sp>
        <p:nvSpPr>
          <p:cNvPr id="9" name="Shape 7"/>
          <p:cNvSpPr/>
          <p:nvPr/>
        </p:nvSpPr>
        <p:spPr>
          <a:xfrm>
            <a:off x="1802282" y="5349240"/>
            <a:ext cx="384048" cy="384048"/>
          </a:xfrm>
          <a:prstGeom prst="ellipse">
            <a:avLst/>
          </a:prstGeom>
          <a:solidFill>
            <a:srgbClr val="C6D6EA"/>
          </a:solidFill>
          <a:ln/>
        </p:spPr>
      </p:sp>
      <p:sp>
        <p:nvSpPr>
          <p:cNvPr id="10" name="Text 8"/>
          <p:cNvSpPr txBox="1"/>
          <p:nvPr/>
        </p:nvSpPr>
        <p:spPr>
          <a:xfrm>
            <a:off x="1802282"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2</a:t>
            </a:r>
            <a:endParaRPr lang="en-US" sz="1200" dirty="0"/>
          </a:p>
        </p:txBody>
      </p:sp>
      <p:sp>
        <p:nvSpPr>
          <p:cNvPr id="11" name="Shape 9"/>
          <p:cNvSpPr/>
          <p:nvPr/>
        </p:nvSpPr>
        <p:spPr>
          <a:xfrm>
            <a:off x="2827325" y="5349240"/>
            <a:ext cx="384048" cy="384048"/>
          </a:xfrm>
          <a:prstGeom prst="ellipse">
            <a:avLst/>
          </a:prstGeom>
          <a:solidFill>
            <a:srgbClr val="C6D6EA"/>
          </a:solidFill>
          <a:ln/>
        </p:spPr>
      </p:sp>
      <p:sp>
        <p:nvSpPr>
          <p:cNvPr id="12" name="Text 10"/>
          <p:cNvSpPr txBox="1"/>
          <p:nvPr/>
        </p:nvSpPr>
        <p:spPr>
          <a:xfrm>
            <a:off x="2827325"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3</a:t>
            </a:r>
            <a:endParaRPr lang="en-US" sz="1200" dirty="0"/>
          </a:p>
        </p:txBody>
      </p:sp>
      <p:sp>
        <p:nvSpPr>
          <p:cNvPr id="13" name="Shape 11"/>
          <p:cNvSpPr/>
          <p:nvPr/>
        </p:nvSpPr>
        <p:spPr>
          <a:xfrm>
            <a:off x="3852367" y="5349240"/>
            <a:ext cx="384048" cy="384048"/>
          </a:xfrm>
          <a:prstGeom prst="ellipse">
            <a:avLst/>
          </a:prstGeom>
          <a:solidFill>
            <a:srgbClr val="C6D6EA"/>
          </a:solidFill>
          <a:ln/>
        </p:spPr>
      </p:sp>
      <p:sp>
        <p:nvSpPr>
          <p:cNvPr id="14" name="Text 12"/>
          <p:cNvSpPr txBox="1"/>
          <p:nvPr/>
        </p:nvSpPr>
        <p:spPr>
          <a:xfrm>
            <a:off x="3852367"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4</a:t>
            </a:r>
            <a:endParaRPr lang="en-US" sz="1200" dirty="0"/>
          </a:p>
        </p:txBody>
      </p:sp>
      <p:sp>
        <p:nvSpPr>
          <p:cNvPr id="15" name="Shape 13"/>
          <p:cNvSpPr/>
          <p:nvPr/>
        </p:nvSpPr>
        <p:spPr>
          <a:xfrm>
            <a:off x="4877410" y="5349240"/>
            <a:ext cx="384048" cy="384048"/>
          </a:xfrm>
          <a:prstGeom prst="ellipse">
            <a:avLst/>
          </a:prstGeom>
          <a:solidFill>
            <a:srgbClr val="1A5FB4"/>
          </a:solidFill>
          <a:ln/>
        </p:spPr>
      </p:sp>
      <p:sp>
        <p:nvSpPr>
          <p:cNvPr id="16" name="Text 14"/>
          <p:cNvSpPr txBox="1"/>
          <p:nvPr/>
        </p:nvSpPr>
        <p:spPr>
          <a:xfrm>
            <a:off x="4877410" y="53492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17" name="Shape 15"/>
          <p:cNvSpPr/>
          <p:nvPr/>
        </p:nvSpPr>
        <p:spPr>
          <a:xfrm>
            <a:off x="5902452" y="5349240"/>
            <a:ext cx="384048" cy="384048"/>
          </a:xfrm>
          <a:prstGeom prst="ellipse">
            <a:avLst/>
          </a:prstGeom>
          <a:solidFill>
            <a:srgbClr val="E8EDF3"/>
          </a:solidFill>
          <a:ln/>
        </p:spPr>
      </p:sp>
      <p:sp>
        <p:nvSpPr>
          <p:cNvPr id="18" name="Text 16"/>
          <p:cNvSpPr txBox="1"/>
          <p:nvPr/>
        </p:nvSpPr>
        <p:spPr>
          <a:xfrm>
            <a:off x="5902452"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6</a:t>
            </a:r>
            <a:endParaRPr lang="en-US" sz="1200" dirty="0"/>
          </a:p>
        </p:txBody>
      </p:sp>
      <p:sp>
        <p:nvSpPr>
          <p:cNvPr id="19" name="Shape 17"/>
          <p:cNvSpPr/>
          <p:nvPr/>
        </p:nvSpPr>
        <p:spPr>
          <a:xfrm>
            <a:off x="6927494" y="5349240"/>
            <a:ext cx="384048" cy="384048"/>
          </a:xfrm>
          <a:prstGeom prst="ellipse">
            <a:avLst/>
          </a:prstGeom>
          <a:solidFill>
            <a:srgbClr val="E8EDF3"/>
          </a:solidFill>
          <a:ln/>
        </p:spPr>
      </p:sp>
      <p:sp>
        <p:nvSpPr>
          <p:cNvPr id="20" name="Text 18"/>
          <p:cNvSpPr txBox="1"/>
          <p:nvPr/>
        </p:nvSpPr>
        <p:spPr>
          <a:xfrm>
            <a:off x="6927494"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7</a:t>
            </a:r>
            <a:endParaRPr lang="en-US" sz="1200" dirty="0"/>
          </a:p>
        </p:txBody>
      </p:sp>
      <p:sp>
        <p:nvSpPr>
          <p:cNvPr id="21" name="Shape 19"/>
          <p:cNvSpPr/>
          <p:nvPr/>
        </p:nvSpPr>
        <p:spPr>
          <a:xfrm>
            <a:off x="7952537" y="5349240"/>
            <a:ext cx="384048" cy="384048"/>
          </a:xfrm>
          <a:prstGeom prst="ellipse">
            <a:avLst/>
          </a:prstGeom>
          <a:solidFill>
            <a:srgbClr val="E8EDF3"/>
          </a:solidFill>
          <a:ln/>
        </p:spPr>
      </p:sp>
      <p:sp>
        <p:nvSpPr>
          <p:cNvPr id="22" name="Text 20"/>
          <p:cNvSpPr txBox="1"/>
          <p:nvPr/>
        </p:nvSpPr>
        <p:spPr>
          <a:xfrm>
            <a:off x="7952537"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8</a:t>
            </a:r>
            <a:endParaRPr lang="en-US" sz="1200" dirty="0"/>
          </a:p>
        </p:txBody>
      </p:sp>
      <p:sp>
        <p:nvSpPr>
          <p:cNvPr id="23" name="Shape 21"/>
          <p:cNvSpPr/>
          <p:nvPr/>
        </p:nvSpPr>
        <p:spPr>
          <a:xfrm>
            <a:off x="8977579" y="5349240"/>
            <a:ext cx="384048" cy="384048"/>
          </a:xfrm>
          <a:prstGeom prst="ellipse">
            <a:avLst/>
          </a:prstGeom>
          <a:solidFill>
            <a:srgbClr val="E8EDF3"/>
          </a:solidFill>
          <a:ln/>
        </p:spPr>
      </p:sp>
      <p:sp>
        <p:nvSpPr>
          <p:cNvPr id="24" name="Text 22"/>
          <p:cNvSpPr txBox="1"/>
          <p:nvPr/>
        </p:nvSpPr>
        <p:spPr>
          <a:xfrm>
            <a:off x="8977579"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9</a:t>
            </a:r>
            <a:endParaRPr lang="en-US" sz="1200" dirty="0"/>
          </a:p>
        </p:txBody>
      </p:sp>
      <p:sp>
        <p:nvSpPr>
          <p:cNvPr id="25" name="Shape 23"/>
          <p:cNvSpPr/>
          <p:nvPr/>
        </p:nvSpPr>
        <p:spPr>
          <a:xfrm>
            <a:off x="10002622" y="5349240"/>
            <a:ext cx="384048" cy="384048"/>
          </a:xfrm>
          <a:prstGeom prst="ellipse">
            <a:avLst/>
          </a:prstGeom>
          <a:solidFill>
            <a:srgbClr val="E8EDF3"/>
          </a:solidFill>
          <a:ln/>
        </p:spPr>
      </p:sp>
      <p:sp>
        <p:nvSpPr>
          <p:cNvPr id="26" name="Text 24"/>
          <p:cNvSpPr txBox="1"/>
          <p:nvPr/>
        </p:nvSpPr>
        <p:spPr>
          <a:xfrm>
            <a:off x="10002622"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10</a:t>
            </a:r>
            <a:endParaRPr lang="en-US" sz="1200" dirty="0"/>
          </a:p>
        </p:txBody>
      </p:sp>
      <p:sp>
        <p:nvSpPr>
          <p:cNvPr id="27" name="Shape 25"/>
          <p:cNvSpPr/>
          <p:nvPr/>
        </p:nvSpPr>
        <p:spPr>
          <a:xfrm>
            <a:off x="11027664" y="5349240"/>
            <a:ext cx="384048" cy="384048"/>
          </a:xfrm>
          <a:prstGeom prst="ellipse">
            <a:avLst/>
          </a:prstGeom>
          <a:solidFill>
            <a:srgbClr val="E8EDF3"/>
          </a:solidFill>
          <a:ln/>
        </p:spPr>
      </p:sp>
      <p:sp>
        <p:nvSpPr>
          <p:cNvPr id="28" name="Text 26"/>
          <p:cNvSpPr txBox="1"/>
          <p:nvPr/>
        </p:nvSpPr>
        <p:spPr>
          <a:xfrm>
            <a:off x="11027664"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11</a:t>
            </a:r>
            <a:endParaRPr lang="en-US" sz="1200" dirty="0"/>
          </a:p>
        </p:txBody>
      </p:sp>
      <p:sp>
        <p:nvSpPr>
          <p:cNvPr id="29" name="Text 27"/>
          <p:cNvSpPr txBox="1"/>
          <p:nvPr/>
        </p:nvSpPr>
        <p:spPr>
          <a:xfrm>
            <a:off x="777240" y="5852160"/>
            <a:ext cx="10634472" cy="274320"/>
          </a:xfrm>
          <a:prstGeom prst="rect">
            <a:avLst/>
          </a:prstGeom>
          <a:noFill/>
          <a:ln/>
        </p:spPr>
        <p:txBody>
          <a:bodyPr wrap="square" lIns="0" tIns="0" rIns="0" bIns="0" rtlCol="0" anchor="t"/>
          <a:lstStyle/>
          <a:p>
            <a:pPr algn="l" indent="0" marL="0">
              <a:buNone/>
            </a:pPr>
            <a:r>
              <a:rPr lang="en-US" sz="1100" b="1" spc="200" kern="0" dirty="0">
                <a:solidFill>
                  <a:srgbClr val="9AA7B5"/>
                </a:solidFill>
                <a:latin typeface="Arial" pitchFamily="34" charset="0"/>
                <a:ea typeface="Arial" pitchFamily="34" charset="-122"/>
                <a:cs typeface="Arial" pitchFamily="34" charset="-120"/>
              </a:rPr>
              <a:t>THE ELEVEN STAGES</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10634472" cy="310896"/>
          </a:xfrm>
          <a:prstGeom prst="rect">
            <a:avLst/>
          </a:prstGeom>
          <a:noFill/>
          <a:ln/>
        </p:spPr>
        <p:txBody>
          <a:bodyPr wrap="square" lIns="0" tIns="0" rIns="0" bIns="0" rtlCol="0" anchor="t"/>
          <a:lstStyle/>
          <a:p>
            <a:pPr algn="l" indent="0" marL="0">
              <a:buNone/>
            </a:pPr>
            <a:r>
              <a:rPr lang="en-US" sz="1300" b="1" spc="200" kern="0" dirty="0">
                <a:solidFill>
                  <a:srgbClr val="1A5FB4"/>
                </a:solidFill>
                <a:latin typeface="Arial" pitchFamily="34" charset="0"/>
                <a:ea typeface="Arial" pitchFamily="34" charset="-122"/>
                <a:cs typeface="Arial" pitchFamily="34" charset="-120"/>
              </a:rPr>
              <a:t>THE CASE · 6 OF 11</a:t>
            </a:r>
            <a:endParaRPr lang="en-US" sz="1300" dirty="0"/>
          </a:p>
        </p:txBody>
      </p:sp>
      <p:sp>
        <p:nvSpPr>
          <p:cNvPr id="3" name="Text 1"/>
          <p:cNvSpPr txBox="1"/>
          <p:nvPr/>
        </p:nvSpPr>
        <p:spPr>
          <a:xfrm>
            <a:off x="777240" y="1325880"/>
            <a:ext cx="10634472" cy="3200400"/>
          </a:xfrm>
          <a:prstGeom prst="rect">
            <a:avLst/>
          </a:prstGeom>
          <a:noFill/>
          <a:ln/>
        </p:spPr>
        <p:txBody>
          <a:bodyPr wrap="square" lIns="0" tIns="0" rIns="0" bIns="0" rtlCol="0" anchor="t"/>
          <a:lstStyle/>
          <a:p>
            <a:pPr algn="l" indent="0" marL="0">
              <a:lnSpc>
                <a:spcPts val="3900"/>
              </a:lnSpc>
              <a:buNone/>
            </a:pPr>
            <a:r>
              <a:rPr lang="en-US" sz="2700" dirty="0">
                <a:solidFill>
                  <a:srgbClr val="1B1B1B"/>
                </a:solidFill>
                <a:latin typeface="Arial" pitchFamily="34" charset="0"/>
                <a:ea typeface="Arial" pitchFamily="34" charset="-122"/>
                <a:cs typeface="Arial" pitchFamily="34" charset="-120"/>
              </a:rPr>
              <a:t>An assistant state attorney reads the report, notes the power washer is worth $640, and files an information charging grand theft in the third degree.</a:t>
            </a:r>
            <a:endParaRPr lang="en-US" sz="2700" dirty="0"/>
          </a:p>
        </p:txBody>
      </p:sp>
      <p:sp>
        <p:nvSpPr>
          <p:cNvPr id="4" name="Text 2"/>
          <p:cNvSpPr txBox="1"/>
          <p:nvPr/>
        </p:nvSpPr>
        <p:spPr>
          <a:xfrm>
            <a:off x="777240" y="4663440"/>
            <a:ext cx="10634472" cy="548640"/>
          </a:xfrm>
          <a:prstGeom prst="rect">
            <a:avLst/>
          </a:prstGeom>
          <a:noFill/>
          <a:ln/>
        </p:spPr>
        <p:txBody>
          <a:bodyPr wrap="square" lIns="0" tIns="0" rIns="0" bIns="0" rtlCol="0" anchor="t"/>
          <a:lstStyle/>
          <a:p>
            <a:pPr algn="l" indent="0" marL="0">
              <a:buNone/>
            </a:pPr>
            <a:r>
              <a:rPr lang="en-US" sz="2600" b="1" dirty="0">
                <a:solidFill>
                  <a:srgbClr val="1A5FB4"/>
                </a:solidFill>
                <a:latin typeface="Arial" pitchFamily="34" charset="0"/>
                <a:ea typeface="Arial" pitchFamily="34" charset="-122"/>
                <a:cs typeface="Arial" pitchFamily="34" charset="-120"/>
              </a:rPr>
              <a:t>Which stage is this?</a:t>
            </a:r>
            <a:endParaRPr lang="en-US" sz="2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10634472" cy="310896"/>
          </a:xfrm>
          <a:prstGeom prst="rect">
            <a:avLst/>
          </a:prstGeom>
          <a:noFill/>
          <a:ln/>
        </p:spPr>
        <p:txBody>
          <a:bodyPr wrap="square" lIns="0" tIns="0" rIns="0" bIns="0" rtlCol="0" anchor="t"/>
          <a:lstStyle/>
          <a:p>
            <a:pPr algn="l" indent="0" marL="0">
              <a:buNone/>
            </a:pPr>
            <a:r>
              <a:rPr lang="en-US" sz="1300" b="1" spc="200" kern="0" dirty="0">
                <a:solidFill>
                  <a:srgbClr val="1A5FB4"/>
                </a:solidFill>
                <a:latin typeface="Arial" pitchFamily="34" charset="0"/>
                <a:ea typeface="Arial" pitchFamily="34" charset="-122"/>
                <a:cs typeface="Arial" pitchFamily="34" charset="-120"/>
              </a:rPr>
              <a:t>ANSWER</a:t>
            </a:r>
            <a:endParaRPr lang="en-US" sz="1300" dirty="0"/>
          </a:p>
        </p:txBody>
      </p:sp>
      <p:sp>
        <p:nvSpPr>
          <p:cNvPr id="3" name="Shape 1"/>
          <p:cNvSpPr/>
          <p:nvPr/>
        </p:nvSpPr>
        <p:spPr>
          <a:xfrm>
            <a:off x="777240" y="2103120"/>
            <a:ext cx="1051560" cy="1051560"/>
          </a:xfrm>
          <a:prstGeom prst="ellipse">
            <a:avLst/>
          </a:prstGeom>
          <a:solidFill>
            <a:srgbClr val="1A5FB4"/>
          </a:solidFill>
          <a:ln/>
        </p:spPr>
      </p:sp>
      <p:sp>
        <p:nvSpPr>
          <p:cNvPr id="4" name="Text 2"/>
          <p:cNvSpPr txBox="1"/>
          <p:nvPr/>
        </p:nvSpPr>
        <p:spPr>
          <a:xfrm>
            <a:off x="777240" y="2103120"/>
            <a:ext cx="1051560" cy="105156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6</a:t>
            </a:r>
            <a:endParaRPr lang="en-US" sz="3000" dirty="0"/>
          </a:p>
        </p:txBody>
      </p:sp>
      <p:sp>
        <p:nvSpPr>
          <p:cNvPr id="5" name="Text 3"/>
          <p:cNvSpPr txBox="1"/>
          <p:nvPr/>
        </p:nvSpPr>
        <p:spPr>
          <a:xfrm>
            <a:off x="2148840" y="2103120"/>
            <a:ext cx="9262872" cy="822960"/>
          </a:xfrm>
          <a:prstGeom prst="rect">
            <a:avLst/>
          </a:prstGeom>
          <a:noFill/>
          <a:ln/>
        </p:spPr>
        <p:txBody>
          <a:bodyPr wrap="square" lIns="0" tIns="0" rIns="0" bIns="0" rtlCol="0" anchor="t"/>
          <a:lstStyle/>
          <a:p>
            <a:pPr algn="l" indent="0" marL="0">
              <a:buNone/>
            </a:pPr>
            <a:r>
              <a:rPr lang="en-US" sz="4000" b="1" dirty="0">
                <a:solidFill>
                  <a:srgbClr val="10243A"/>
                </a:solidFill>
                <a:latin typeface="Arial" pitchFamily="34" charset="0"/>
                <a:ea typeface="Arial" pitchFamily="34" charset="-122"/>
                <a:cs typeface="Arial" pitchFamily="34" charset="-120"/>
              </a:rPr>
              <a:t>The charging decision</a:t>
            </a:r>
            <a:endParaRPr lang="en-US" sz="4000" dirty="0"/>
          </a:p>
        </p:txBody>
      </p:sp>
      <p:sp>
        <p:nvSpPr>
          <p:cNvPr id="6" name="Text 4"/>
          <p:cNvSpPr txBox="1"/>
          <p:nvPr/>
        </p:nvSpPr>
        <p:spPr>
          <a:xfrm>
            <a:off x="2148840" y="3063240"/>
            <a:ext cx="9262872" cy="1280160"/>
          </a:xfrm>
          <a:prstGeom prst="rect">
            <a:avLst/>
          </a:prstGeom>
          <a:noFill/>
          <a:ln/>
        </p:spPr>
        <p:txBody>
          <a:bodyPr wrap="square" lIns="0" tIns="0" rIns="0" bIns="0" rtlCol="0" anchor="t"/>
          <a:lstStyle/>
          <a:p>
            <a:pPr algn="l" indent="0" marL="0">
              <a:lnSpc>
                <a:spcPts val="3200"/>
              </a:lnSpc>
              <a:buNone/>
            </a:pPr>
            <a:r>
              <a:rPr lang="en-US" sz="2200" dirty="0">
                <a:solidFill>
                  <a:srgbClr val="5F6B79"/>
                </a:solidFill>
                <a:latin typeface="Arial" pitchFamily="34" charset="0"/>
                <a:ea typeface="Arial" pitchFamily="34" charset="-122"/>
                <a:cs typeface="Arial" pitchFamily="34" charset="-120"/>
              </a:rPr>
              <a:t>The State Attorney chose the charge. Not the deputy, and not the store owner.</a:t>
            </a:r>
            <a:endParaRPr lang="en-US" sz="2200" dirty="0"/>
          </a:p>
        </p:txBody>
      </p:sp>
      <p:sp>
        <p:nvSpPr>
          <p:cNvPr id="7" name="Shape 5"/>
          <p:cNvSpPr/>
          <p:nvPr/>
        </p:nvSpPr>
        <p:spPr>
          <a:xfrm>
            <a:off x="777240" y="5349240"/>
            <a:ext cx="384048" cy="384048"/>
          </a:xfrm>
          <a:prstGeom prst="ellipse">
            <a:avLst/>
          </a:prstGeom>
          <a:solidFill>
            <a:srgbClr val="C6D6EA"/>
          </a:solidFill>
          <a:ln/>
        </p:spPr>
      </p:sp>
      <p:sp>
        <p:nvSpPr>
          <p:cNvPr id="8" name="Text 6"/>
          <p:cNvSpPr txBox="1"/>
          <p:nvPr/>
        </p:nvSpPr>
        <p:spPr>
          <a:xfrm>
            <a:off x="777240"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1</a:t>
            </a:r>
            <a:endParaRPr lang="en-US" sz="1200" dirty="0"/>
          </a:p>
        </p:txBody>
      </p:sp>
      <p:sp>
        <p:nvSpPr>
          <p:cNvPr id="9" name="Shape 7"/>
          <p:cNvSpPr/>
          <p:nvPr/>
        </p:nvSpPr>
        <p:spPr>
          <a:xfrm>
            <a:off x="1802282" y="5349240"/>
            <a:ext cx="384048" cy="384048"/>
          </a:xfrm>
          <a:prstGeom prst="ellipse">
            <a:avLst/>
          </a:prstGeom>
          <a:solidFill>
            <a:srgbClr val="C6D6EA"/>
          </a:solidFill>
          <a:ln/>
        </p:spPr>
      </p:sp>
      <p:sp>
        <p:nvSpPr>
          <p:cNvPr id="10" name="Text 8"/>
          <p:cNvSpPr txBox="1"/>
          <p:nvPr/>
        </p:nvSpPr>
        <p:spPr>
          <a:xfrm>
            <a:off x="1802282"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2</a:t>
            </a:r>
            <a:endParaRPr lang="en-US" sz="1200" dirty="0"/>
          </a:p>
        </p:txBody>
      </p:sp>
      <p:sp>
        <p:nvSpPr>
          <p:cNvPr id="11" name="Shape 9"/>
          <p:cNvSpPr/>
          <p:nvPr/>
        </p:nvSpPr>
        <p:spPr>
          <a:xfrm>
            <a:off x="2827325" y="5349240"/>
            <a:ext cx="384048" cy="384048"/>
          </a:xfrm>
          <a:prstGeom prst="ellipse">
            <a:avLst/>
          </a:prstGeom>
          <a:solidFill>
            <a:srgbClr val="C6D6EA"/>
          </a:solidFill>
          <a:ln/>
        </p:spPr>
      </p:sp>
      <p:sp>
        <p:nvSpPr>
          <p:cNvPr id="12" name="Text 10"/>
          <p:cNvSpPr txBox="1"/>
          <p:nvPr/>
        </p:nvSpPr>
        <p:spPr>
          <a:xfrm>
            <a:off x="2827325"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3</a:t>
            </a:r>
            <a:endParaRPr lang="en-US" sz="1200" dirty="0"/>
          </a:p>
        </p:txBody>
      </p:sp>
      <p:sp>
        <p:nvSpPr>
          <p:cNvPr id="13" name="Shape 11"/>
          <p:cNvSpPr/>
          <p:nvPr/>
        </p:nvSpPr>
        <p:spPr>
          <a:xfrm>
            <a:off x="3852367" y="5349240"/>
            <a:ext cx="384048" cy="384048"/>
          </a:xfrm>
          <a:prstGeom prst="ellipse">
            <a:avLst/>
          </a:prstGeom>
          <a:solidFill>
            <a:srgbClr val="C6D6EA"/>
          </a:solidFill>
          <a:ln/>
        </p:spPr>
      </p:sp>
      <p:sp>
        <p:nvSpPr>
          <p:cNvPr id="14" name="Text 12"/>
          <p:cNvSpPr txBox="1"/>
          <p:nvPr/>
        </p:nvSpPr>
        <p:spPr>
          <a:xfrm>
            <a:off x="3852367"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4</a:t>
            </a:r>
            <a:endParaRPr lang="en-US" sz="1200" dirty="0"/>
          </a:p>
        </p:txBody>
      </p:sp>
      <p:sp>
        <p:nvSpPr>
          <p:cNvPr id="15" name="Shape 13"/>
          <p:cNvSpPr/>
          <p:nvPr/>
        </p:nvSpPr>
        <p:spPr>
          <a:xfrm>
            <a:off x="4877410" y="5349240"/>
            <a:ext cx="384048" cy="384048"/>
          </a:xfrm>
          <a:prstGeom prst="ellipse">
            <a:avLst/>
          </a:prstGeom>
          <a:solidFill>
            <a:srgbClr val="C6D6EA"/>
          </a:solidFill>
          <a:ln/>
        </p:spPr>
      </p:sp>
      <p:sp>
        <p:nvSpPr>
          <p:cNvPr id="16" name="Text 14"/>
          <p:cNvSpPr txBox="1"/>
          <p:nvPr/>
        </p:nvSpPr>
        <p:spPr>
          <a:xfrm>
            <a:off x="4877410"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5</a:t>
            </a:r>
            <a:endParaRPr lang="en-US" sz="1200" dirty="0"/>
          </a:p>
        </p:txBody>
      </p:sp>
      <p:sp>
        <p:nvSpPr>
          <p:cNvPr id="17" name="Shape 15"/>
          <p:cNvSpPr/>
          <p:nvPr/>
        </p:nvSpPr>
        <p:spPr>
          <a:xfrm>
            <a:off x="5902452" y="5349240"/>
            <a:ext cx="384048" cy="384048"/>
          </a:xfrm>
          <a:prstGeom prst="ellipse">
            <a:avLst/>
          </a:prstGeom>
          <a:solidFill>
            <a:srgbClr val="1A5FB4"/>
          </a:solidFill>
          <a:ln/>
        </p:spPr>
      </p:sp>
      <p:sp>
        <p:nvSpPr>
          <p:cNvPr id="18" name="Text 16"/>
          <p:cNvSpPr txBox="1"/>
          <p:nvPr/>
        </p:nvSpPr>
        <p:spPr>
          <a:xfrm>
            <a:off x="5902452" y="53492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19" name="Shape 17"/>
          <p:cNvSpPr/>
          <p:nvPr/>
        </p:nvSpPr>
        <p:spPr>
          <a:xfrm>
            <a:off x="6927494" y="5349240"/>
            <a:ext cx="384048" cy="384048"/>
          </a:xfrm>
          <a:prstGeom prst="ellipse">
            <a:avLst/>
          </a:prstGeom>
          <a:solidFill>
            <a:srgbClr val="E8EDF3"/>
          </a:solidFill>
          <a:ln/>
        </p:spPr>
      </p:sp>
      <p:sp>
        <p:nvSpPr>
          <p:cNvPr id="20" name="Text 18"/>
          <p:cNvSpPr txBox="1"/>
          <p:nvPr/>
        </p:nvSpPr>
        <p:spPr>
          <a:xfrm>
            <a:off x="6927494"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7</a:t>
            </a:r>
            <a:endParaRPr lang="en-US" sz="1200" dirty="0"/>
          </a:p>
        </p:txBody>
      </p:sp>
      <p:sp>
        <p:nvSpPr>
          <p:cNvPr id="21" name="Shape 19"/>
          <p:cNvSpPr/>
          <p:nvPr/>
        </p:nvSpPr>
        <p:spPr>
          <a:xfrm>
            <a:off x="7952537" y="5349240"/>
            <a:ext cx="384048" cy="384048"/>
          </a:xfrm>
          <a:prstGeom prst="ellipse">
            <a:avLst/>
          </a:prstGeom>
          <a:solidFill>
            <a:srgbClr val="E8EDF3"/>
          </a:solidFill>
          <a:ln/>
        </p:spPr>
      </p:sp>
      <p:sp>
        <p:nvSpPr>
          <p:cNvPr id="22" name="Text 20"/>
          <p:cNvSpPr txBox="1"/>
          <p:nvPr/>
        </p:nvSpPr>
        <p:spPr>
          <a:xfrm>
            <a:off x="7952537"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8</a:t>
            </a:r>
            <a:endParaRPr lang="en-US" sz="1200" dirty="0"/>
          </a:p>
        </p:txBody>
      </p:sp>
      <p:sp>
        <p:nvSpPr>
          <p:cNvPr id="23" name="Shape 21"/>
          <p:cNvSpPr/>
          <p:nvPr/>
        </p:nvSpPr>
        <p:spPr>
          <a:xfrm>
            <a:off x="8977579" y="5349240"/>
            <a:ext cx="384048" cy="384048"/>
          </a:xfrm>
          <a:prstGeom prst="ellipse">
            <a:avLst/>
          </a:prstGeom>
          <a:solidFill>
            <a:srgbClr val="E8EDF3"/>
          </a:solidFill>
          <a:ln/>
        </p:spPr>
      </p:sp>
      <p:sp>
        <p:nvSpPr>
          <p:cNvPr id="24" name="Text 22"/>
          <p:cNvSpPr txBox="1"/>
          <p:nvPr/>
        </p:nvSpPr>
        <p:spPr>
          <a:xfrm>
            <a:off x="8977579"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9</a:t>
            </a:r>
            <a:endParaRPr lang="en-US" sz="1200" dirty="0"/>
          </a:p>
        </p:txBody>
      </p:sp>
      <p:sp>
        <p:nvSpPr>
          <p:cNvPr id="25" name="Shape 23"/>
          <p:cNvSpPr/>
          <p:nvPr/>
        </p:nvSpPr>
        <p:spPr>
          <a:xfrm>
            <a:off x="10002622" y="5349240"/>
            <a:ext cx="384048" cy="384048"/>
          </a:xfrm>
          <a:prstGeom prst="ellipse">
            <a:avLst/>
          </a:prstGeom>
          <a:solidFill>
            <a:srgbClr val="E8EDF3"/>
          </a:solidFill>
          <a:ln/>
        </p:spPr>
      </p:sp>
      <p:sp>
        <p:nvSpPr>
          <p:cNvPr id="26" name="Text 24"/>
          <p:cNvSpPr txBox="1"/>
          <p:nvPr/>
        </p:nvSpPr>
        <p:spPr>
          <a:xfrm>
            <a:off x="10002622"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10</a:t>
            </a:r>
            <a:endParaRPr lang="en-US" sz="1200" dirty="0"/>
          </a:p>
        </p:txBody>
      </p:sp>
      <p:sp>
        <p:nvSpPr>
          <p:cNvPr id="27" name="Shape 25"/>
          <p:cNvSpPr/>
          <p:nvPr/>
        </p:nvSpPr>
        <p:spPr>
          <a:xfrm>
            <a:off x="11027664" y="5349240"/>
            <a:ext cx="384048" cy="384048"/>
          </a:xfrm>
          <a:prstGeom prst="ellipse">
            <a:avLst/>
          </a:prstGeom>
          <a:solidFill>
            <a:srgbClr val="E8EDF3"/>
          </a:solidFill>
          <a:ln/>
        </p:spPr>
      </p:sp>
      <p:sp>
        <p:nvSpPr>
          <p:cNvPr id="28" name="Text 26"/>
          <p:cNvSpPr txBox="1"/>
          <p:nvPr/>
        </p:nvSpPr>
        <p:spPr>
          <a:xfrm>
            <a:off x="11027664"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11</a:t>
            </a:r>
            <a:endParaRPr lang="en-US" sz="1200" dirty="0"/>
          </a:p>
        </p:txBody>
      </p:sp>
      <p:sp>
        <p:nvSpPr>
          <p:cNvPr id="29" name="Text 27"/>
          <p:cNvSpPr txBox="1"/>
          <p:nvPr/>
        </p:nvSpPr>
        <p:spPr>
          <a:xfrm>
            <a:off x="777240" y="5852160"/>
            <a:ext cx="10634472" cy="274320"/>
          </a:xfrm>
          <a:prstGeom prst="rect">
            <a:avLst/>
          </a:prstGeom>
          <a:noFill/>
          <a:ln/>
        </p:spPr>
        <p:txBody>
          <a:bodyPr wrap="square" lIns="0" tIns="0" rIns="0" bIns="0" rtlCol="0" anchor="t"/>
          <a:lstStyle/>
          <a:p>
            <a:pPr algn="l" indent="0" marL="0">
              <a:buNone/>
            </a:pPr>
            <a:r>
              <a:rPr lang="en-US" sz="1100" b="1" spc="200" kern="0" dirty="0">
                <a:solidFill>
                  <a:srgbClr val="9AA7B5"/>
                </a:solidFill>
                <a:latin typeface="Arial" pitchFamily="34" charset="0"/>
                <a:ea typeface="Arial" pitchFamily="34" charset="-122"/>
                <a:cs typeface="Arial" pitchFamily="34" charset="-120"/>
              </a:rPr>
              <a:t>THE ELEVEN STAGES</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10634472" cy="310896"/>
          </a:xfrm>
          <a:prstGeom prst="rect">
            <a:avLst/>
          </a:prstGeom>
          <a:noFill/>
          <a:ln/>
        </p:spPr>
        <p:txBody>
          <a:bodyPr wrap="square" lIns="0" tIns="0" rIns="0" bIns="0" rtlCol="0" anchor="t"/>
          <a:lstStyle/>
          <a:p>
            <a:pPr algn="l" indent="0" marL="0">
              <a:buNone/>
            </a:pPr>
            <a:r>
              <a:rPr lang="en-US" sz="1300" b="1" spc="200" kern="0" dirty="0">
                <a:solidFill>
                  <a:srgbClr val="1A5FB4"/>
                </a:solidFill>
                <a:latin typeface="Arial" pitchFamily="34" charset="0"/>
                <a:ea typeface="Arial" pitchFamily="34" charset="-122"/>
                <a:cs typeface="Arial" pitchFamily="34" charset="-120"/>
              </a:rPr>
              <a:t>THE CASE · 7 OF 11</a:t>
            </a:r>
            <a:endParaRPr lang="en-US" sz="1300" dirty="0"/>
          </a:p>
        </p:txBody>
      </p:sp>
      <p:sp>
        <p:nvSpPr>
          <p:cNvPr id="3" name="Text 1"/>
          <p:cNvSpPr txBox="1"/>
          <p:nvPr/>
        </p:nvSpPr>
        <p:spPr>
          <a:xfrm>
            <a:off x="777240" y="1325880"/>
            <a:ext cx="10634472" cy="3200400"/>
          </a:xfrm>
          <a:prstGeom prst="rect">
            <a:avLst/>
          </a:prstGeom>
          <a:noFill/>
          <a:ln/>
        </p:spPr>
        <p:txBody>
          <a:bodyPr wrap="square" lIns="0" tIns="0" rIns="0" bIns="0" rtlCol="0" anchor="t"/>
          <a:lstStyle/>
          <a:p>
            <a:pPr algn="l" indent="0" marL="0">
              <a:lnSpc>
                <a:spcPts val="3900"/>
              </a:lnSpc>
              <a:buNone/>
            </a:pPr>
            <a:r>
              <a:rPr lang="en-US" sz="2700" dirty="0">
                <a:solidFill>
                  <a:srgbClr val="1B1B1B"/>
                </a:solidFill>
                <a:latin typeface="Arial" pitchFamily="34" charset="0"/>
                <a:ea typeface="Arial" pitchFamily="34" charset="-122"/>
                <a:cs typeface="Arial" pitchFamily="34" charset="-120"/>
              </a:rPr>
              <a:t>Three weeks later Ramirez appears in circuit court, is told the charge, and pleads not guilty.</a:t>
            </a:r>
            <a:endParaRPr lang="en-US" sz="2700" dirty="0"/>
          </a:p>
        </p:txBody>
      </p:sp>
      <p:sp>
        <p:nvSpPr>
          <p:cNvPr id="4" name="Text 2"/>
          <p:cNvSpPr txBox="1"/>
          <p:nvPr/>
        </p:nvSpPr>
        <p:spPr>
          <a:xfrm>
            <a:off x="777240" y="4663440"/>
            <a:ext cx="10634472" cy="548640"/>
          </a:xfrm>
          <a:prstGeom prst="rect">
            <a:avLst/>
          </a:prstGeom>
          <a:noFill/>
          <a:ln/>
        </p:spPr>
        <p:txBody>
          <a:bodyPr wrap="square" lIns="0" tIns="0" rIns="0" bIns="0" rtlCol="0" anchor="t"/>
          <a:lstStyle/>
          <a:p>
            <a:pPr algn="l" indent="0" marL="0">
              <a:buNone/>
            </a:pPr>
            <a:r>
              <a:rPr lang="en-US" sz="2600" b="1" dirty="0">
                <a:solidFill>
                  <a:srgbClr val="1A5FB4"/>
                </a:solidFill>
                <a:latin typeface="Arial" pitchFamily="34" charset="0"/>
                <a:ea typeface="Arial" pitchFamily="34" charset="-122"/>
                <a:cs typeface="Arial" pitchFamily="34" charset="-120"/>
              </a:rPr>
              <a:t>Which stage is this?</a:t>
            </a:r>
            <a:endParaRPr lang="en-US" sz="2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10634472" cy="310896"/>
          </a:xfrm>
          <a:prstGeom prst="rect">
            <a:avLst/>
          </a:prstGeom>
          <a:noFill/>
          <a:ln/>
        </p:spPr>
        <p:txBody>
          <a:bodyPr wrap="square" lIns="0" tIns="0" rIns="0" bIns="0" rtlCol="0" anchor="t"/>
          <a:lstStyle/>
          <a:p>
            <a:pPr algn="l" indent="0" marL="0">
              <a:buNone/>
            </a:pPr>
            <a:r>
              <a:rPr lang="en-US" sz="1300" b="1" spc="200" kern="0" dirty="0">
                <a:solidFill>
                  <a:srgbClr val="1A5FB4"/>
                </a:solidFill>
                <a:latin typeface="Arial" pitchFamily="34" charset="0"/>
                <a:ea typeface="Arial" pitchFamily="34" charset="-122"/>
                <a:cs typeface="Arial" pitchFamily="34" charset="-120"/>
              </a:rPr>
              <a:t>ANSWER</a:t>
            </a:r>
            <a:endParaRPr lang="en-US" sz="1300" dirty="0"/>
          </a:p>
        </p:txBody>
      </p:sp>
      <p:sp>
        <p:nvSpPr>
          <p:cNvPr id="3" name="Shape 1"/>
          <p:cNvSpPr/>
          <p:nvPr/>
        </p:nvSpPr>
        <p:spPr>
          <a:xfrm>
            <a:off x="777240" y="2103120"/>
            <a:ext cx="1051560" cy="1051560"/>
          </a:xfrm>
          <a:prstGeom prst="ellipse">
            <a:avLst/>
          </a:prstGeom>
          <a:solidFill>
            <a:srgbClr val="1A5FB4"/>
          </a:solidFill>
          <a:ln/>
        </p:spPr>
      </p:sp>
      <p:sp>
        <p:nvSpPr>
          <p:cNvPr id="4" name="Text 2"/>
          <p:cNvSpPr txBox="1"/>
          <p:nvPr/>
        </p:nvSpPr>
        <p:spPr>
          <a:xfrm>
            <a:off x="777240" y="2103120"/>
            <a:ext cx="1051560" cy="105156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7</a:t>
            </a:r>
            <a:endParaRPr lang="en-US" sz="3000" dirty="0"/>
          </a:p>
        </p:txBody>
      </p:sp>
      <p:sp>
        <p:nvSpPr>
          <p:cNvPr id="5" name="Text 3"/>
          <p:cNvSpPr txBox="1"/>
          <p:nvPr/>
        </p:nvSpPr>
        <p:spPr>
          <a:xfrm>
            <a:off x="2148840" y="2103120"/>
            <a:ext cx="9262872" cy="822960"/>
          </a:xfrm>
          <a:prstGeom prst="rect">
            <a:avLst/>
          </a:prstGeom>
          <a:noFill/>
          <a:ln/>
        </p:spPr>
        <p:txBody>
          <a:bodyPr wrap="square" lIns="0" tIns="0" rIns="0" bIns="0" rtlCol="0" anchor="t"/>
          <a:lstStyle/>
          <a:p>
            <a:pPr algn="l" indent="0" marL="0">
              <a:buNone/>
            </a:pPr>
            <a:r>
              <a:rPr lang="en-US" sz="4000" b="1" dirty="0">
                <a:solidFill>
                  <a:srgbClr val="10243A"/>
                </a:solidFill>
                <a:latin typeface="Arial" pitchFamily="34" charset="0"/>
                <a:ea typeface="Arial" pitchFamily="34" charset="-122"/>
                <a:cs typeface="Arial" pitchFamily="34" charset="-120"/>
              </a:rPr>
              <a:t>Arraignment</a:t>
            </a:r>
            <a:endParaRPr lang="en-US" sz="4000" dirty="0"/>
          </a:p>
        </p:txBody>
      </p:sp>
      <p:sp>
        <p:nvSpPr>
          <p:cNvPr id="6" name="Text 4"/>
          <p:cNvSpPr txBox="1"/>
          <p:nvPr/>
        </p:nvSpPr>
        <p:spPr>
          <a:xfrm>
            <a:off x="2148840" y="3063240"/>
            <a:ext cx="9262872" cy="1280160"/>
          </a:xfrm>
          <a:prstGeom prst="rect">
            <a:avLst/>
          </a:prstGeom>
          <a:noFill/>
          <a:ln/>
        </p:spPr>
        <p:txBody>
          <a:bodyPr wrap="square" lIns="0" tIns="0" rIns="0" bIns="0" rtlCol="0" anchor="t"/>
          <a:lstStyle/>
          <a:p>
            <a:pPr algn="l" indent="0" marL="0">
              <a:lnSpc>
                <a:spcPts val="3200"/>
              </a:lnSpc>
              <a:buNone/>
            </a:pPr>
            <a:r>
              <a:rPr lang="en-US" sz="2200" dirty="0">
                <a:solidFill>
                  <a:srgbClr val="5F6B79"/>
                </a:solidFill>
                <a:latin typeface="Arial" pitchFamily="34" charset="0"/>
                <a:ea typeface="Arial" pitchFamily="34" charset="-122"/>
                <a:cs typeface="Arial" pitchFamily="34" charset="-120"/>
              </a:rPr>
              <a:t>Circuit court, because grand theft is a felony.</a:t>
            </a:r>
            <a:endParaRPr lang="en-US" sz="2200" dirty="0"/>
          </a:p>
        </p:txBody>
      </p:sp>
      <p:sp>
        <p:nvSpPr>
          <p:cNvPr id="7" name="Shape 5"/>
          <p:cNvSpPr/>
          <p:nvPr/>
        </p:nvSpPr>
        <p:spPr>
          <a:xfrm>
            <a:off x="777240" y="5349240"/>
            <a:ext cx="384048" cy="384048"/>
          </a:xfrm>
          <a:prstGeom prst="ellipse">
            <a:avLst/>
          </a:prstGeom>
          <a:solidFill>
            <a:srgbClr val="C6D6EA"/>
          </a:solidFill>
          <a:ln/>
        </p:spPr>
      </p:sp>
      <p:sp>
        <p:nvSpPr>
          <p:cNvPr id="8" name="Text 6"/>
          <p:cNvSpPr txBox="1"/>
          <p:nvPr/>
        </p:nvSpPr>
        <p:spPr>
          <a:xfrm>
            <a:off x="777240"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1</a:t>
            </a:r>
            <a:endParaRPr lang="en-US" sz="1200" dirty="0"/>
          </a:p>
        </p:txBody>
      </p:sp>
      <p:sp>
        <p:nvSpPr>
          <p:cNvPr id="9" name="Shape 7"/>
          <p:cNvSpPr/>
          <p:nvPr/>
        </p:nvSpPr>
        <p:spPr>
          <a:xfrm>
            <a:off x="1802282" y="5349240"/>
            <a:ext cx="384048" cy="384048"/>
          </a:xfrm>
          <a:prstGeom prst="ellipse">
            <a:avLst/>
          </a:prstGeom>
          <a:solidFill>
            <a:srgbClr val="C6D6EA"/>
          </a:solidFill>
          <a:ln/>
        </p:spPr>
      </p:sp>
      <p:sp>
        <p:nvSpPr>
          <p:cNvPr id="10" name="Text 8"/>
          <p:cNvSpPr txBox="1"/>
          <p:nvPr/>
        </p:nvSpPr>
        <p:spPr>
          <a:xfrm>
            <a:off x="1802282"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2</a:t>
            </a:r>
            <a:endParaRPr lang="en-US" sz="1200" dirty="0"/>
          </a:p>
        </p:txBody>
      </p:sp>
      <p:sp>
        <p:nvSpPr>
          <p:cNvPr id="11" name="Shape 9"/>
          <p:cNvSpPr/>
          <p:nvPr/>
        </p:nvSpPr>
        <p:spPr>
          <a:xfrm>
            <a:off x="2827325" y="5349240"/>
            <a:ext cx="384048" cy="384048"/>
          </a:xfrm>
          <a:prstGeom prst="ellipse">
            <a:avLst/>
          </a:prstGeom>
          <a:solidFill>
            <a:srgbClr val="C6D6EA"/>
          </a:solidFill>
          <a:ln/>
        </p:spPr>
      </p:sp>
      <p:sp>
        <p:nvSpPr>
          <p:cNvPr id="12" name="Text 10"/>
          <p:cNvSpPr txBox="1"/>
          <p:nvPr/>
        </p:nvSpPr>
        <p:spPr>
          <a:xfrm>
            <a:off x="2827325"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3</a:t>
            </a:r>
            <a:endParaRPr lang="en-US" sz="1200" dirty="0"/>
          </a:p>
        </p:txBody>
      </p:sp>
      <p:sp>
        <p:nvSpPr>
          <p:cNvPr id="13" name="Shape 11"/>
          <p:cNvSpPr/>
          <p:nvPr/>
        </p:nvSpPr>
        <p:spPr>
          <a:xfrm>
            <a:off x="3852367" y="5349240"/>
            <a:ext cx="384048" cy="384048"/>
          </a:xfrm>
          <a:prstGeom prst="ellipse">
            <a:avLst/>
          </a:prstGeom>
          <a:solidFill>
            <a:srgbClr val="C6D6EA"/>
          </a:solidFill>
          <a:ln/>
        </p:spPr>
      </p:sp>
      <p:sp>
        <p:nvSpPr>
          <p:cNvPr id="14" name="Text 12"/>
          <p:cNvSpPr txBox="1"/>
          <p:nvPr/>
        </p:nvSpPr>
        <p:spPr>
          <a:xfrm>
            <a:off x="3852367"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4</a:t>
            </a:r>
            <a:endParaRPr lang="en-US" sz="1200" dirty="0"/>
          </a:p>
        </p:txBody>
      </p:sp>
      <p:sp>
        <p:nvSpPr>
          <p:cNvPr id="15" name="Shape 13"/>
          <p:cNvSpPr/>
          <p:nvPr/>
        </p:nvSpPr>
        <p:spPr>
          <a:xfrm>
            <a:off x="4877410" y="5349240"/>
            <a:ext cx="384048" cy="384048"/>
          </a:xfrm>
          <a:prstGeom prst="ellipse">
            <a:avLst/>
          </a:prstGeom>
          <a:solidFill>
            <a:srgbClr val="C6D6EA"/>
          </a:solidFill>
          <a:ln/>
        </p:spPr>
      </p:sp>
      <p:sp>
        <p:nvSpPr>
          <p:cNvPr id="16" name="Text 14"/>
          <p:cNvSpPr txBox="1"/>
          <p:nvPr/>
        </p:nvSpPr>
        <p:spPr>
          <a:xfrm>
            <a:off x="4877410"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5</a:t>
            </a:r>
            <a:endParaRPr lang="en-US" sz="1200" dirty="0"/>
          </a:p>
        </p:txBody>
      </p:sp>
      <p:sp>
        <p:nvSpPr>
          <p:cNvPr id="17" name="Shape 15"/>
          <p:cNvSpPr/>
          <p:nvPr/>
        </p:nvSpPr>
        <p:spPr>
          <a:xfrm>
            <a:off x="5902452" y="5349240"/>
            <a:ext cx="384048" cy="384048"/>
          </a:xfrm>
          <a:prstGeom prst="ellipse">
            <a:avLst/>
          </a:prstGeom>
          <a:solidFill>
            <a:srgbClr val="C6D6EA"/>
          </a:solidFill>
          <a:ln/>
        </p:spPr>
      </p:sp>
      <p:sp>
        <p:nvSpPr>
          <p:cNvPr id="18" name="Text 16"/>
          <p:cNvSpPr txBox="1"/>
          <p:nvPr/>
        </p:nvSpPr>
        <p:spPr>
          <a:xfrm>
            <a:off x="5902452"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6</a:t>
            </a:r>
            <a:endParaRPr lang="en-US" sz="1200" dirty="0"/>
          </a:p>
        </p:txBody>
      </p:sp>
      <p:sp>
        <p:nvSpPr>
          <p:cNvPr id="19" name="Shape 17"/>
          <p:cNvSpPr/>
          <p:nvPr/>
        </p:nvSpPr>
        <p:spPr>
          <a:xfrm>
            <a:off x="6927494" y="5349240"/>
            <a:ext cx="384048" cy="384048"/>
          </a:xfrm>
          <a:prstGeom prst="ellipse">
            <a:avLst/>
          </a:prstGeom>
          <a:solidFill>
            <a:srgbClr val="1A5FB4"/>
          </a:solidFill>
          <a:ln/>
        </p:spPr>
      </p:sp>
      <p:sp>
        <p:nvSpPr>
          <p:cNvPr id="20" name="Text 18"/>
          <p:cNvSpPr txBox="1"/>
          <p:nvPr/>
        </p:nvSpPr>
        <p:spPr>
          <a:xfrm>
            <a:off x="6927494" y="53492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7</a:t>
            </a:r>
            <a:endParaRPr lang="en-US" sz="1200" dirty="0"/>
          </a:p>
        </p:txBody>
      </p:sp>
      <p:sp>
        <p:nvSpPr>
          <p:cNvPr id="21" name="Shape 19"/>
          <p:cNvSpPr/>
          <p:nvPr/>
        </p:nvSpPr>
        <p:spPr>
          <a:xfrm>
            <a:off x="7952537" y="5349240"/>
            <a:ext cx="384048" cy="384048"/>
          </a:xfrm>
          <a:prstGeom prst="ellipse">
            <a:avLst/>
          </a:prstGeom>
          <a:solidFill>
            <a:srgbClr val="E8EDF3"/>
          </a:solidFill>
          <a:ln/>
        </p:spPr>
      </p:sp>
      <p:sp>
        <p:nvSpPr>
          <p:cNvPr id="22" name="Text 20"/>
          <p:cNvSpPr txBox="1"/>
          <p:nvPr/>
        </p:nvSpPr>
        <p:spPr>
          <a:xfrm>
            <a:off x="7952537"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8</a:t>
            </a:r>
            <a:endParaRPr lang="en-US" sz="1200" dirty="0"/>
          </a:p>
        </p:txBody>
      </p:sp>
      <p:sp>
        <p:nvSpPr>
          <p:cNvPr id="23" name="Shape 21"/>
          <p:cNvSpPr/>
          <p:nvPr/>
        </p:nvSpPr>
        <p:spPr>
          <a:xfrm>
            <a:off x="8977579" y="5349240"/>
            <a:ext cx="384048" cy="384048"/>
          </a:xfrm>
          <a:prstGeom prst="ellipse">
            <a:avLst/>
          </a:prstGeom>
          <a:solidFill>
            <a:srgbClr val="E8EDF3"/>
          </a:solidFill>
          <a:ln/>
        </p:spPr>
      </p:sp>
      <p:sp>
        <p:nvSpPr>
          <p:cNvPr id="24" name="Text 22"/>
          <p:cNvSpPr txBox="1"/>
          <p:nvPr/>
        </p:nvSpPr>
        <p:spPr>
          <a:xfrm>
            <a:off x="8977579"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9</a:t>
            </a:r>
            <a:endParaRPr lang="en-US" sz="1200" dirty="0"/>
          </a:p>
        </p:txBody>
      </p:sp>
      <p:sp>
        <p:nvSpPr>
          <p:cNvPr id="25" name="Shape 23"/>
          <p:cNvSpPr/>
          <p:nvPr/>
        </p:nvSpPr>
        <p:spPr>
          <a:xfrm>
            <a:off x="10002622" y="5349240"/>
            <a:ext cx="384048" cy="384048"/>
          </a:xfrm>
          <a:prstGeom prst="ellipse">
            <a:avLst/>
          </a:prstGeom>
          <a:solidFill>
            <a:srgbClr val="E8EDF3"/>
          </a:solidFill>
          <a:ln/>
        </p:spPr>
      </p:sp>
      <p:sp>
        <p:nvSpPr>
          <p:cNvPr id="26" name="Text 24"/>
          <p:cNvSpPr txBox="1"/>
          <p:nvPr/>
        </p:nvSpPr>
        <p:spPr>
          <a:xfrm>
            <a:off x="10002622"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10</a:t>
            </a:r>
            <a:endParaRPr lang="en-US" sz="1200" dirty="0"/>
          </a:p>
        </p:txBody>
      </p:sp>
      <p:sp>
        <p:nvSpPr>
          <p:cNvPr id="27" name="Shape 25"/>
          <p:cNvSpPr/>
          <p:nvPr/>
        </p:nvSpPr>
        <p:spPr>
          <a:xfrm>
            <a:off x="11027664" y="5349240"/>
            <a:ext cx="384048" cy="384048"/>
          </a:xfrm>
          <a:prstGeom prst="ellipse">
            <a:avLst/>
          </a:prstGeom>
          <a:solidFill>
            <a:srgbClr val="E8EDF3"/>
          </a:solidFill>
          <a:ln/>
        </p:spPr>
      </p:sp>
      <p:sp>
        <p:nvSpPr>
          <p:cNvPr id="28" name="Text 26"/>
          <p:cNvSpPr txBox="1"/>
          <p:nvPr/>
        </p:nvSpPr>
        <p:spPr>
          <a:xfrm>
            <a:off x="11027664"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11</a:t>
            </a:r>
            <a:endParaRPr lang="en-US" sz="1200" dirty="0"/>
          </a:p>
        </p:txBody>
      </p:sp>
      <p:sp>
        <p:nvSpPr>
          <p:cNvPr id="29" name="Text 27"/>
          <p:cNvSpPr txBox="1"/>
          <p:nvPr/>
        </p:nvSpPr>
        <p:spPr>
          <a:xfrm>
            <a:off x="777240" y="5852160"/>
            <a:ext cx="10634472" cy="274320"/>
          </a:xfrm>
          <a:prstGeom prst="rect">
            <a:avLst/>
          </a:prstGeom>
          <a:noFill/>
          <a:ln/>
        </p:spPr>
        <p:txBody>
          <a:bodyPr wrap="square" lIns="0" tIns="0" rIns="0" bIns="0" rtlCol="0" anchor="t"/>
          <a:lstStyle/>
          <a:p>
            <a:pPr algn="l" indent="0" marL="0">
              <a:buNone/>
            </a:pPr>
            <a:r>
              <a:rPr lang="en-US" sz="1100" b="1" spc="200" kern="0" dirty="0">
                <a:solidFill>
                  <a:srgbClr val="9AA7B5"/>
                </a:solidFill>
                <a:latin typeface="Arial" pitchFamily="34" charset="0"/>
                <a:ea typeface="Arial" pitchFamily="34" charset="-122"/>
                <a:cs typeface="Arial" pitchFamily="34" charset="-120"/>
              </a:rPr>
              <a:t>THE ELEVEN STAGES</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10634472" cy="310896"/>
          </a:xfrm>
          <a:prstGeom prst="rect">
            <a:avLst/>
          </a:prstGeom>
          <a:noFill/>
          <a:ln/>
        </p:spPr>
        <p:txBody>
          <a:bodyPr wrap="square" lIns="0" tIns="0" rIns="0" bIns="0" rtlCol="0" anchor="t"/>
          <a:lstStyle/>
          <a:p>
            <a:pPr algn="l" indent="0" marL="0">
              <a:buNone/>
            </a:pPr>
            <a:r>
              <a:rPr lang="en-US" sz="1300" b="1" spc="200" kern="0" dirty="0">
                <a:solidFill>
                  <a:srgbClr val="1A5FB4"/>
                </a:solidFill>
                <a:latin typeface="Arial" pitchFamily="34" charset="0"/>
                <a:ea typeface="Arial" pitchFamily="34" charset="-122"/>
                <a:cs typeface="Arial" pitchFamily="34" charset="-120"/>
              </a:rPr>
              <a:t>THE CASE · 8 OF 11</a:t>
            </a:r>
            <a:endParaRPr lang="en-US" sz="1300" dirty="0"/>
          </a:p>
        </p:txBody>
      </p:sp>
      <p:sp>
        <p:nvSpPr>
          <p:cNvPr id="3" name="Text 1"/>
          <p:cNvSpPr txBox="1"/>
          <p:nvPr/>
        </p:nvSpPr>
        <p:spPr>
          <a:xfrm>
            <a:off x="777240" y="1325880"/>
            <a:ext cx="10634472" cy="3200400"/>
          </a:xfrm>
          <a:prstGeom prst="rect">
            <a:avLst/>
          </a:prstGeom>
          <a:noFill/>
          <a:ln/>
        </p:spPr>
        <p:txBody>
          <a:bodyPr wrap="square" lIns="0" tIns="0" rIns="0" bIns="0" rtlCol="0" anchor="t"/>
          <a:lstStyle/>
          <a:p>
            <a:pPr algn="l" indent="0" marL="0">
              <a:lnSpc>
                <a:spcPts val="3900"/>
              </a:lnSpc>
              <a:buNone/>
            </a:pPr>
            <a:r>
              <a:rPr lang="en-US" sz="2700" dirty="0">
                <a:solidFill>
                  <a:srgbClr val="1B1B1B"/>
                </a:solidFill>
                <a:latin typeface="Arial" pitchFamily="34" charset="0"/>
                <a:ea typeface="Arial" pitchFamily="34" charset="-122"/>
                <a:cs typeface="Arial" pitchFamily="34" charset="-120"/>
              </a:rPr>
              <a:t>The two sides exchange evidence. The defense files a motion arguing the traffic stop was unlawful. The judge denies it. The State offers eighteen months of probation and restitution.</a:t>
            </a:r>
            <a:endParaRPr lang="en-US" sz="2700" dirty="0"/>
          </a:p>
        </p:txBody>
      </p:sp>
      <p:sp>
        <p:nvSpPr>
          <p:cNvPr id="4" name="Text 2"/>
          <p:cNvSpPr txBox="1"/>
          <p:nvPr/>
        </p:nvSpPr>
        <p:spPr>
          <a:xfrm>
            <a:off x="777240" y="4663440"/>
            <a:ext cx="10634472" cy="548640"/>
          </a:xfrm>
          <a:prstGeom prst="rect">
            <a:avLst/>
          </a:prstGeom>
          <a:noFill/>
          <a:ln/>
        </p:spPr>
        <p:txBody>
          <a:bodyPr wrap="square" lIns="0" tIns="0" rIns="0" bIns="0" rtlCol="0" anchor="t"/>
          <a:lstStyle/>
          <a:p>
            <a:pPr algn="l" indent="0" marL="0">
              <a:buNone/>
            </a:pPr>
            <a:r>
              <a:rPr lang="en-US" sz="2600" b="1" dirty="0">
                <a:solidFill>
                  <a:srgbClr val="1A5FB4"/>
                </a:solidFill>
                <a:latin typeface="Arial" pitchFamily="34" charset="0"/>
                <a:ea typeface="Arial" pitchFamily="34" charset="-122"/>
                <a:cs typeface="Arial" pitchFamily="34" charset="-120"/>
              </a:rPr>
              <a:t>Which stage is this?</a:t>
            </a:r>
            <a:endParaRPr lang="en-US" sz="2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10634472" cy="310896"/>
          </a:xfrm>
          <a:prstGeom prst="rect">
            <a:avLst/>
          </a:prstGeom>
          <a:noFill/>
          <a:ln/>
        </p:spPr>
        <p:txBody>
          <a:bodyPr wrap="square" lIns="0" tIns="0" rIns="0" bIns="0" rtlCol="0" anchor="t"/>
          <a:lstStyle/>
          <a:p>
            <a:pPr algn="l" indent="0" marL="0">
              <a:buNone/>
            </a:pPr>
            <a:r>
              <a:rPr lang="en-US" sz="1300" b="1" spc="200" kern="0" dirty="0">
                <a:solidFill>
                  <a:srgbClr val="1A5FB4"/>
                </a:solidFill>
                <a:latin typeface="Arial" pitchFamily="34" charset="0"/>
                <a:ea typeface="Arial" pitchFamily="34" charset="-122"/>
                <a:cs typeface="Arial" pitchFamily="34" charset="-120"/>
              </a:rPr>
              <a:t>ANSWER</a:t>
            </a:r>
            <a:endParaRPr lang="en-US" sz="1300" dirty="0"/>
          </a:p>
        </p:txBody>
      </p:sp>
      <p:sp>
        <p:nvSpPr>
          <p:cNvPr id="3" name="Shape 1"/>
          <p:cNvSpPr/>
          <p:nvPr/>
        </p:nvSpPr>
        <p:spPr>
          <a:xfrm>
            <a:off x="777240" y="2103120"/>
            <a:ext cx="1051560" cy="1051560"/>
          </a:xfrm>
          <a:prstGeom prst="ellipse">
            <a:avLst/>
          </a:prstGeom>
          <a:solidFill>
            <a:srgbClr val="1A5FB4"/>
          </a:solidFill>
          <a:ln/>
        </p:spPr>
      </p:sp>
      <p:sp>
        <p:nvSpPr>
          <p:cNvPr id="4" name="Text 2"/>
          <p:cNvSpPr txBox="1"/>
          <p:nvPr/>
        </p:nvSpPr>
        <p:spPr>
          <a:xfrm>
            <a:off x="777240" y="2103120"/>
            <a:ext cx="1051560" cy="105156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8</a:t>
            </a:r>
            <a:endParaRPr lang="en-US" sz="3000" dirty="0"/>
          </a:p>
        </p:txBody>
      </p:sp>
      <p:sp>
        <p:nvSpPr>
          <p:cNvPr id="5" name="Text 3"/>
          <p:cNvSpPr txBox="1"/>
          <p:nvPr/>
        </p:nvSpPr>
        <p:spPr>
          <a:xfrm>
            <a:off x="2148840" y="2103120"/>
            <a:ext cx="9262872" cy="822960"/>
          </a:xfrm>
          <a:prstGeom prst="rect">
            <a:avLst/>
          </a:prstGeom>
          <a:noFill/>
          <a:ln/>
        </p:spPr>
        <p:txBody>
          <a:bodyPr wrap="square" lIns="0" tIns="0" rIns="0" bIns="0" rtlCol="0" anchor="t"/>
          <a:lstStyle/>
          <a:p>
            <a:pPr algn="l" indent="0" marL="0">
              <a:buNone/>
            </a:pPr>
            <a:r>
              <a:rPr lang="en-US" sz="4000" b="1" dirty="0">
                <a:solidFill>
                  <a:srgbClr val="10243A"/>
                </a:solidFill>
                <a:latin typeface="Arial" pitchFamily="34" charset="0"/>
                <a:ea typeface="Arial" pitchFamily="34" charset="-122"/>
                <a:cs typeface="Arial" pitchFamily="34" charset="-120"/>
              </a:rPr>
              <a:t>Pretrial</a:t>
            </a:r>
            <a:endParaRPr lang="en-US" sz="4000" dirty="0"/>
          </a:p>
        </p:txBody>
      </p:sp>
      <p:sp>
        <p:nvSpPr>
          <p:cNvPr id="6" name="Text 4"/>
          <p:cNvSpPr txBox="1"/>
          <p:nvPr/>
        </p:nvSpPr>
        <p:spPr>
          <a:xfrm>
            <a:off x="2148840" y="3063240"/>
            <a:ext cx="9262872" cy="1280160"/>
          </a:xfrm>
          <a:prstGeom prst="rect">
            <a:avLst/>
          </a:prstGeom>
          <a:noFill/>
          <a:ln/>
        </p:spPr>
        <p:txBody>
          <a:bodyPr wrap="square" lIns="0" tIns="0" rIns="0" bIns="0" rtlCol="0" anchor="t"/>
          <a:lstStyle/>
          <a:p>
            <a:pPr algn="l" indent="0" marL="0">
              <a:lnSpc>
                <a:spcPts val="3200"/>
              </a:lnSpc>
              <a:buNone/>
            </a:pPr>
            <a:r>
              <a:rPr lang="en-US" sz="2200" dirty="0">
                <a:solidFill>
                  <a:srgbClr val="5F6B79"/>
                </a:solidFill>
                <a:latin typeface="Arial" pitchFamily="34" charset="0"/>
                <a:ea typeface="Arial" pitchFamily="34" charset="-122"/>
                <a:cs typeface="Arial" pitchFamily="34" charset="-120"/>
              </a:rPr>
              <a:t>Discovery, a motion to suppress, and a plea offer.</a:t>
            </a:r>
            <a:endParaRPr lang="en-US" sz="2200" dirty="0"/>
          </a:p>
        </p:txBody>
      </p:sp>
      <p:sp>
        <p:nvSpPr>
          <p:cNvPr id="7" name="Shape 5"/>
          <p:cNvSpPr/>
          <p:nvPr/>
        </p:nvSpPr>
        <p:spPr>
          <a:xfrm>
            <a:off x="777240" y="5349240"/>
            <a:ext cx="384048" cy="384048"/>
          </a:xfrm>
          <a:prstGeom prst="ellipse">
            <a:avLst/>
          </a:prstGeom>
          <a:solidFill>
            <a:srgbClr val="C6D6EA"/>
          </a:solidFill>
          <a:ln/>
        </p:spPr>
      </p:sp>
      <p:sp>
        <p:nvSpPr>
          <p:cNvPr id="8" name="Text 6"/>
          <p:cNvSpPr txBox="1"/>
          <p:nvPr/>
        </p:nvSpPr>
        <p:spPr>
          <a:xfrm>
            <a:off x="777240"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1</a:t>
            </a:r>
            <a:endParaRPr lang="en-US" sz="1200" dirty="0"/>
          </a:p>
        </p:txBody>
      </p:sp>
      <p:sp>
        <p:nvSpPr>
          <p:cNvPr id="9" name="Shape 7"/>
          <p:cNvSpPr/>
          <p:nvPr/>
        </p:nvSpPr>
        <p:spPr>
          <a:xfrm>
            <a:off x="1802282" y="5349240"/>
            <a:ext cx="384048" cy="384048"/>
          </a:xfrm>
          <a:prstGeom prst="ellipse">
            <a:avLst/>
          </a:prstGeom>
          <a:solidFill>
            <a:srgbClr val="C6D6EA"/>
          </a:solidFill>
          <a:ln/>
        </p:spPr>
      </p:sp>
      <p:sp>
        <p:nvSpPr>
          <p:cNvPr id="10" name="Text 8"/>
          <p:cNvSpPr txBox="1"/>
          <p:nvPr/>
        </p:nvSpPr>
        <p:spPr>
          <a:xfrm>
            <a:off x="1802282"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2</a:t>
            </a:r>
            <a:endParaRPr lang="en-US" sz="1200" dirty="0"/>
          </a:p>
        </p:txBody>
      </p:sp>
      <p:sp>
        <p:nvSpPr>
          <p:cNvPr id="11" name="Shape 9"/>
          <p:cNvSpPr/>
          <p:nvPr/>
        </p:nvSpPr>
        <p:spPr>
          <a:xfrm>
            <a:off x="2827325" y="5349240"/>
            <a:ext cx="384048" cy="384048"/>
          </a:xfrm>
          <a:prstGeom prst="ellipse">
            <a:avLst/>
          </a:prstGeom>
          <a:solidFill>
            <a:srgbClr val="C6D6EA"/>
          </a:solidFill>
          <a:ln/>
        </p:spPr>
      </p:sp>
      <p:sp>
        <p:nvSpPr>
          <p:cNvPr id="12" name="Text 10"/>
          <p:cNvSpPr txBox="1"/>
          <p:nvPr/>
        </p:nvSpPr>
        <p:spPr>
          <a:xfrm>
            <a:off x="2827325"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3</a:t>
            </a:r>
            <a:endParaRPr lang="en-US" sz="1200" dirty="0"/>
          </a:p>
        </p:txBody>
      </p:sp>
      <p:sp>
        <p:nvSpPr>
          <p:cNvPr id="13" name="Shape 11"/>
          <p:cNvSpPr/>
          <p:nvPr/>
        </p:nvSpPr>
        <p:spPr>
          <a:xfrm>
            <a:off x="3852367" y="5349240"/>
            <a:ext cx="384048" cy="384048"/>
          </a:xfrm>
          <a:prstGeom prst="ellipse">
            <a:avLst/>
          </a:prstGeom>
          <a:solidFill>
            <a:srgbClr val="C6D6EA"/>
          </a:solidFill>
          <a:ln/>
        </p:spPr>
      </p:sp>
      <p:sp>
        <p:nvSpPr>
          <p:cNvPr id="14" name="Text 12"/>
          <p:cNvSpPr txBox="1"/>
          <p:nvPr/>
        </p:nvSpPr>
        <p:spPr>
          <a:xfrm>
            <a:off x="3852367"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4</a:t>
            </a:r>
            <a:endParaRPr lang="en-US" sz="1200" dirty="0"/>
          </a:p>
        </p:txBody>
      </p:sp>
      <p:sp>
        <p:nvSpPr>
          <p:cNvPr id="15" name="Shape 13"/>
          <p:cNvSpPr/>
          <p:nvPr/>
        </p:nvSpPr>
        <p:spPr>
          <a:xfrm>
            <a:off x="4877410" y="5349240"/>
            <a:ext cx="384048" cy="384048"/>
          </a:xfrm>
          <a:prstGeom prst="ellipse">
            <a:avLst/>
          </a:prstGeom>
          <a:solidFill>
            <a:srgbClr val="C6D6EA"/>
          </a:solidFill>
          <a:ln/>
        </p:spPr>
      </p:sp>
      <p:sp>
        <p:nvSpPr>
          <p:cNvPr id="16" name="Text 14"/>
          <p:cNvSpPr txBox="1"/>
          <p:nvPr/>
        </p:nvSpPr>
        <p:spPr>
          <a:xfrm>
            <a:off x="4877410"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5</a:t>
            </a:r>
            <a:endParaRPr lang="en-US" sz="1200" dirty="0"/>
          </a:p>
        </p:txBody>
      </p:sp>
      <p:sp>
        <p:nvSpPr>
          <p:cNvPr id="17" name="Shape 15"/>
          <p:cNvSpPr/>
          <p:nvPr/>
        </p:nvSpPr>
        <p:spPr>
          <a:xfrm>
            <a:off x="5902452" y="5349240"/>
            <a:ext cx="384048" cy="384048"/>
          </a:xfrm>
          <a:prstGeom prst="ellipse">
            <a:avLst/>
          </a:prstGeom>
          <a:solidFill>
            <a:srgbClr val="C6D6EA"/>
          </a:solidFill>
          <a:ln/>
        </p:spPr>
      </p:sp>
      <p:sp>
        <p:nvSpPr>
          <p:cNvPr id="18" name="Text 16"/>
          <p:cNvSpPr txBox="1"/>
          <p:nvPr/>
        </p:nvSpPr>
        <p:spPr>
          <a:xfrm>
            <a:off x="5902452"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6</a:t>
            </a:r>
            <a:endParaRPr lang="en-US" sz="1200" dirty="0"/>
          </a:p>
        </p:txBody>
      </p:sp>
      <p:sp>
        <p:nvSpPr>
          <p:cNvPr id="19" name="Shape 17"/>
          <p:cNvSpPr/>
          <p:nvPr/>
        </p:nvSpPr>
        <p:spPr>
          <a:xfrm>
            <a:off x="6927494" y="5349240"/>
            <a:ext cx="384048" cy="384048"/>
          </a:xfrm>
          <a:prstGeom prst="ellipse">
            <a:avLst/>
          </a:prstGeom>
          <a:solidFill>
            <a:srgbClr val="C6D6EA"/>
          </a:solidFill>
          <a:ln/>
        </p:spPr>
      </p:sp>
      <p:sp>
        <p:nvSpPr>
          <p:cNvPr id="20" name="Text 18"/>
          <p:cNvSpPr txBox="1"/>
          <p:nvPr/>
        </p:nvSpPr>
        <p:spPr>
          <a:xfrm>
            <a:off x="6927494"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7</a:t>
            </a:r>
            <a:endParaRPr lang="en-US" sz="1200" dirty="0"/>
          </a:p>
        </p:txBody>
      </p:sp>
      <p:sp>
        <p:nvSpPr>
          <p:cNvPr id="21" name="Shape 19"/>
          <p:cNvSpPr/>
          <p:nvPr/>
        </p:nvSpPr>
        <p:spPr>
          <a:xfrm>
            <a:off x="7952537" y="5349240"/>
            <a:ext cx="384048" cy="384048"/>
          </a:xfrm>
          <a:prstGeom prst="ellipse">
            <a:avLst/>
          </a:prstGeom>
          <a:solidFill>
            <a:srgbClr val="1A5FB4"/>
          </a:solidFill>
          <a:ln/>
        </p:spPr>
      </p:sp>
      <p:sp>
        <p:nvSpPr>
          <p:cNvPr id="22" name="Text 20"/>
          <p:cNvSpPr txBox="1"/>
          <p:nvPr/>
        </p:nvSpPr>
        <p:spPr>
          <a:xfrm>
            <a:off x="7952537" y="53492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8</a:t>
            </a:r>
            <a:endParaRPr lang="en-US" sz="1200" dirty="0"/>
          </a:p>
        </p:txBody>
      </p:sp>
      <p:sp>
        <p:nvSpPr>
          <p:cNvPr id="23" name="Shape 21"/>
          <p:cNvSpPr/>
          <p:nvPr/>
        </p:nvSpPr>
        <p:spPr>
          <a:xfrm>
            <a:off x="8977579" y="5349240"/>
            <a:ext cx="384048" cy="384048"/>
          </a:xfrm>
          <a:prstGeom prst="ellipse">
            <a:avLst/>
          </a:prstGeom>
          <a:solidFill>
            <a:srgbClr val="E8EDF3"/>
          </a:solidFill>
          <a:ln/>
        </p:spPr>
      </p:sp>
      <p:sp>
        <p:nvSpPr>
          <p:cNvPr id="24" name="Text 22"/>
          <p:cNvSpPr txBox="1"/>
          <p:nvPr/>
        </p:nvSpPr>
        <p:spPr>
          <a:xfrm>
            <a:off x="8977579"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9</a:t>
            </a:r>
            <a:endParaRPr lang="en-US" sz="1200" dirty="0"/>
          </a:p>
        </p:txBody>
      </p:sp>
      <p:sp>
        <p:nvSpPr>
          <p:cNvPr id="25" name="Shape 23"/>
          <p:cNvSpPr/>
          <p:nvPr/>
        </p:nvSpPr>
        <p:spPr>
          <a:xfrm>
            <a:off x="10002622" y="5349240"/>
            <a:ext cx="384048" cy="384048"/>
          </a:xfrm>
          <a:prstGeom prst="ellipse">
            <a:avLst/>
          </a:prstGeom>
          <a:solidFill>
            <a:srgbClr val="E8EDF3"/>
          </a:solidFill>
          <a:ln/>
        </p:spPr>
      </p:sp>
      <p:sp>
        <p:nvSpPr>
          <p:cNvPr id="26" name="Text 24"/>
          <p:cNvSpPr txBox="1"/>
          <p:nvPr/>
        </p:nvSpPr>
        <p:spPr>
          <a:xfrm>
            <a:off x="10002622"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10</a:t>
            </a:r>
            <a:endParaRPr lang="en-US" sz="1200" dirty="0"/>
          </a:p>
        </p:txBody>
      </p:sp>
      <p:sp>
        <p:nvSpPr>
          <p:cNvPr id="27" name="Shape 25"/>
          <p:cNvSpPr/>
          <p:nvPr/>
        </p:nvSpPr>
        <p:spPr>
          <a:xfrm>
            <a:off x="11027664" y="5349240"/>
            <a:ext cx="384048" cy="384048"/>
          </a:xfrm>
          <a:prstGeom prst="ellipse">
            <a:avLst/>
          </a:prstGeom>
          <a:solidFill>
            <a:srgbClr val="E8EDF3"/>
          </a:solidFill>
          <a:ln/>
        </p:spPr>
      </p:sp>
      <p:sp>
        <p:nvSpPr>
          <p:cNvPr id="28" name="Text 26"/>
          <p:cNvSpPr txBox="1"/>
          <p:nvPr/>
        </p:nvSpPr>
        <p:spPr>
          <a:xfrm>
            <a:off x="11027664"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11</a:t>
            </a:r>
            <a:endParaRPr lang="en-US" sz="1200" dirty="0"/>
          </a:p>
        </p:txBody>
      </p:sp>
      <p:sp>
        <p:nvSpPr>
          <p:cNvPr id="29" name="Text 27"/>
          <p:cNvSpPr txBox="1"/>
          <p:nvPr/>
        </p:nvSpPr>
        <p:spPr>
          <a:xfrm>
            <a:off x="777240" y="5852160"/>
            <a:ext cx="10634472" cy="274320"/>
          </a:xfrm>
          <a:prstGeom prst="rect">
            <a:avLst/>
          </a:prstGeom>
          <a:noFill/>
          <a:ln/>
        </p:spPr>
        <p:txBody>
          <a:bodyPr wrap="square" lIns="0" tIns="0" rIns="0" bIns="0" rtlCol="0" anchor="t"/>
          <a:lstStyle/>
          <a:p>
            <a:pPr algn="l" indent="0" marL="0">
              <a:buNone/>
            </a:pPr>
            <a:r>
              <a:rPr lang="en-US" sz="1100" b="1" spc="200" kern="0" dirty="0">
                <a:solidFill>
                  <a:srgbClr val="9AA7B5"/>
                </a:solidFill>
                <a:latin typeface="Arial" pitchFamily="34" charset="0"/>
                <a:ea typeface="Arial" pitchFamily="34" charset="-122"/>
                <a:cs typeface="Arial" pitchFamily="34" charset="-120"/>
              </a:rPr>
              <a:t>THE ELEVEN STAGES</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10634472" cy="310896"/>
          </a:xfrm>
          <a:prstGeom prst="rect">
            <a:avLst/>
          </a:prstGeom>
          <a:noFill/>
          <a:ln/>
        </p:spPr>
        <p:txBody>
          <a:bodyPr wrap="square" lIns="0" tIns="0" rIns="0" bIns="0" rtlCol="0" anchor="t"/>
          <a:lstStyle/>
          <a:p>
            <a:pPr algn="l" indent="0" marL="0">
              <a:buNone/>
            </a:pPr>
            <a:r>
              <a:rPr lang="en-US" sz="1300" b="1" spc="200" kern="0" dirty="0">
                <a:solidFill>
                  <a:srgbClr val="1A5FB4"/>
                </a:solidFill>
                <a:latin typeface="Arial" pitchFamily="34" charset="0"/>
                <a:ea typeface="Arial" pitchFamily="34" charset="-122"/>
                <a:cs typeface="Arial" pitchFamily="34" charset="-120"/>
              </a:rPr>
              <a:t>THE CASE · 9 OF 11</a:t>
            </a:r>
            <a:endParaRPr lang="en-US" sz="1300" dirty="0"/>
          </a:p>
        </p:txBody>
      </p:sp>
      <p:sp>
        <p:nvSpPr>
          <p:cNvPr id="3" name="Text 1"/>
          <p:cNvSpPr txBox="1"/>
          <p:nvPr/>
        </p:nvSpPr>
        <p:spPr>
          <a:xfrm>
            <a:off x="777240" y="1325880"/>
            <a:ext cx="10634472" cy="3200400"/>
          </a:xfrm>
          <a:prstGeom prst="rect">
            <a:avLst/>
          </a:prstGeom>
          <a:noFill/>
          <a:ln/>
        </p:spPr>
        <p:txBody>
          <a:bodyPr wrap="square" lIns="0" tIns="0" rIns="0" bIns="0" rtlCol="0" anchor="t"/>
          <a:lstStyle/>
          <a:p>
            <a:pPr algn="l" indent="0" marL="0">
              <a:lnSpc>
                <a:spcPts val="3900"/>
              </a:lnSpc>
              <a:buNone/>
            </a:pPr>
            <a:r>
              <a:rPr lang="en-US" sz="2700" dirty="0">
                <a:solidFill>
                  <a:srgbClr val="1B1B1B"/>
                </a:solidFill>
                <a:latin typeface="Arial" pitchFamily="34" charset="0"/>
                <a:ea typeface="Arial" pitchFamily="34" charset="-122"/>
                <a:cs typeface="Arial" pitchFamily="34" charset="-120"/>
              </a:rPr>
              <a:t>Ramirez turns the offer down. Six jurors hear the deputy and the owner testify. The video is played. After two hours the jury returns a verdict of guilty.</a:t>
            </a:r>
            <a:endParaRPr lang="en-US" sz="2700" dirty="0"/>
          </a:p>
        </p:txBody>
      </p:sp>
      <p:sp>
        <p:nvSpPr>
          <p:cNvPr id="4" name="Text 2"/>
          <p:cNvSpPr txBox="1"/>
          <p:nvPr/>
        </p:nvSpPr>
        <p:spPr>
          <a:xfrm>
            <a:off x="777240" y="4663440"/>
            <a:ext cx="10634472" cy="548640"/>
          </a:xfrm>
          <a:prstGeom prst="rect">
            <a:avLst/>
          </a:prstGeom>
          <a:noFill/>
          <a:ln/>
        </p:spPr>
        <p:txBody>
          <a:bodyPr wrap="square" lIns="0" tIns="0" rIns="0" bIns="0" rtlCol="0" anchor="t"/>
          <a:lstStyle/>
          <a:p>
            <a:pPr algn="l" indent="0" marL="0">
              <a:buNone/>
            </a:pPr>
            <a:r>
              <a:rPr lang="en-US" sz="2600" b="1" dirty="0">
                <a:solidFill>
                  <a:srgbClr val="1A5FB4"/>
                </a:solidFill>
                <a:latin typeface="Arial" pitchFamily="34" charset="0"/>
                <a:ea typeface="Arial" pitchFamily="34" charset="-122"/>
                <a:cs typeface="Arial" pitchFamily="34" charset="-120"/>
              </a:rPr>
              <a:t>Which stage is this?</a:t>
            </a:r>
            <a:endParaRPr lang="en-US" sz="26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10634472" cy="310896"/>
          </a:xfrm>
          <a:prstGeom prst="rect">
            <a:avLst/>
          </a:prstGeom>
          <a:noFill/>
          <a:ln/>
        </p:spPr>
        <p:txBody>
          <a:bodyPr wrap="square" lIns="0" tIns="0" rIns="0" bIns="0" rtlCol="0" anchor="t"/>
          <a:lstStyle/>
          <a:p>
            <a:pPr algn="l" indent="0" marL="0">
              <a:buNone/>
            </a:pPr>
            <a:r>
              <a:rPr lang="en-US" sz="1300" b="1" spc="200" kern="0" dirty="0">
                <a:solidFill>
                  <a:srgbClr val="1A5FB4"/>
                </a:solidFill>
                <a:latin typeface="Arial" pitchFamily="34" charset="0"/>
                <a:ea typeface="Arial" pitchFamily="34" charset="-122"/>
                <a:cs typeface="Arial" pitchFamily="34" charset="-120"/>
              </a:rPr>
              <a:t>ANSWER</a:t>
            </a:r>
            <a:endParaRPr lang="en-US" sz="1300" dirty="0"/>
          </a:p>
        </p:txBody>
      </p:sp>
      <p:sp>
        <p:nvSpPr>
          <p:cNvPr id="3" name="Shape 1"/>
          <p:cNvSpPr/>
          <p:nvPr/>
        </p:nvSpPr>
        <p:spPr>
          <a:xfrm>
            <a:off x="777240" y="2103120"/>
            <a:ext cx="1051560" cy="1051560"/>
          </a:xfrm>
          <a:prstGeom prst="ellipse">
            <a:avLst/>
          </a:prstGeom>
          <a:solidFill>
            <a:srgbClr val="1A5FB4"/>
          </a:solidFill>
          <a:ln/>
        </p:spPr>
      </p:sp>
      <p:sp>
        <p:nvSpPr>
          <p:cNvPr id="4" name="Text 2"/>
          <p:cNvSpPr txBox="1"/>
          <p:nvPr/>
        </p:nvSpPr>
        <p:spPr>
          <a:xfrm>
            <a:off x="777240" y="2103120"/>
            <a:ext cx="1051560" cy="105156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9</a:t>
            </a:r>
            <a:endParaRPr lang="en-US" sz="3000" dirty="0"/>
          </a:p>
        </p:txBody>
      </p:sp>
      <p:sp>
        <p:nvSpPr>
          <p:cNvPr id="5" name="Text 3"/>
          <p:cNvSpPr txBox="1"/>
          <p:nvPr/>
        </p:nvSpPr>
        <p:spPr>
          <a:xfrm>
            <a:off x="2148840" y="2103120"/>
            <a:ext cx="9262872" cy="822960"/>
          </a:xfrm>
          <a:prstGeom prst="rect">
            <a:avLst/>
          </a:prstGeom>
          <a:noFill/>
          <a:ln/>
        </p:spPr>
        <p:txBody>
          <a:bodyPr wrap="square" lIns="0" tIns="0" rIns="0" bIns="0" rtlCol="0" anchor="t"/>
          <a:lstStyle/>
          <a:p>
            <a:pPr algn="l" indent="0" marL="0">
              <a:buNone/>
            </a:pPr>
            <a:r>
              <a:rPr lang="en-US" sz="4000" b="1" dirty="0">
                <a:solidFill>
                  <a:srgbClr val="10243A"/>
                </a:solidFill>
                <a:latin typeface="Arial" pitchFamily="34" charset="0"/>
                <a:ea typeface="Arial" pitchFamily="34" charset="-122"/>
                <a:cs typeface="Arial" pitchFamily="34" charset="-120"/>
              </a:rPr>
              <a:t>Trial</a:t>
            </a:r>
            <a:endParaRPr lang="en-US" sz="4000" dirty="0"/>
          </a:p>
        </p:txBody>
      </p:sp>
      <p:sp>
        <p:nvSpPr>
          <p:cNvPr id="6" name="Text 4"/>
          <p:cNvSpPr txBox="1"/>
          <p:nvPr/>
        </p:nvSpPr>
        <p:spPr>
          <a:xfrm>
            <a:off x="2148840" y="3063240"/>
            <a:ext cx="9262872" cy="1280160"/>
          </a:xfrm>
          <a:prstGeom prst="rect">
            <a:avLst/>
          </a:prstGeom>
          <a:noFill/>
          <a:ln/>
        </p:spPr>
        <p:txBody>
          <a:bodyPr wrap="square" lIns="0" tIns="0" rIns="0" bIns="0" rtlCol="0" anchor="t"/>
          <a:lstStyle/>
          <a:p>
            <a:pPr algn="l" indent="0" marL="0">
              <a:lnSpc>
                <a:spcPts val="3200"/>
              </a:lnSpc>
              <a:buNone/>
            </a:pPr>
            <a:r>
              <a:rPr lang="en-US" sz="2200" dirty="0">
                <a:solidFill>
                  <a:srgbClr val="5F6B79"/>
                </a:solidFill>
                <a:latin typeface="Arial" pitchFamily="34" charset="0"/>
                <a:ea typeface="Arial" pitchFamily="34" charset="-122"/>
                <a:cs typeface="Arial" pitchFamily="34" charset="-120"/>
              </a:rPr>
              <a:t>He traded a certain outcome for an uncertain one.</a:t>
            </a:r>
            <a:endParaRPr lang="en-US" sz="2200" dirty="0"/>
          </a:p>
        </p:txBody>
      </p:sp>
      <p:sp>
        <p:nvSpPr>
          <p:cNvPr id="7" name="Shape 5"/>
          <p:cNvSpPr/>
          <p:nvPr/>
        </p:nvSpPr>
        <p:spPr>
          <a:xfrm>
            <a:off x="777240" y="5349240"/>
            <a:ext cx="384048" cy="384048"/>
          </a:xfrm>
          <a:prstGeom prst="ellipse">
            <a:avLst/>
          </a:prstGeom>
          <a:solidFill>
            <a:srgbClr val="C6D6EA"/>
          </a:solidFill>
          <a:ln/>
        </p:spPr>
      </p:sp>
      <p:sp>
        <p:nvSpPr>
          <p:cNvPr id="8" name="Text 6"/>
          <p:cNvSpPr txBox="1"/>
          <p:nvPr/>
        </p:nvSpPr>
        <p:spPr>
          <a:xfrm>
            <a:off x="777240"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1</a:t>
            </a:r>
            <a:endParaRPr lang="en-US" sz="1200" dirty="0"/>
          </a:p>
        </p:txBody>
      </p:sp>
      <p:sp>
        <p:nvSpPr>
          <p:cNvPr id="9" name="Shape 7"/>
          <p:cNvSpPr/>
          <p:nvPr/>
        </p:nvSpPr>
        <p:spPr>
          <a:xfrm>
            <a:off x="1802282" y="5349240"/>
            <a:ext cx="384048" cy="384048"/>
          </a:xfrm>
          <a:prstGeom prst="ellipse">
            <a:avLst/>
          </a:prstGeom>
          <a:solidFill>
            <a:srgbClr val="C6D6EA"/>
          </a:solidFill>
          <a:ln/>
        </p:spPr>
      </p:sp>
      <p:sp>
        <p:nvSpPr>
          <p:cNvPr id="10" name="Text 8"/>
          <p:cNvSpPr txBox="1"/>
          <p:nvPr/>
        </p:nvSpPr>
        <p:spPr>
          <a:xfrm>
            <a:off x="1802282"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2</a:t>
            </a:r>
            <a:endParaRPr lang="en-US" sz="1200" dirty="0"/>
          </a:p>
        </p:txBody>
      </p:sp>
      <p:sp>
        <p:nvSpPr>
          <p:cNvPr id="11" name="Shape 9"/>
          <p:cNvSpPr/>
          <p:nvPr/>
        </p:nvSpPr>
        <p:spPr>
          <a:xfrm>
            <a:off x="2827325" y="5349240"/>
            <a:ext cx="384048" cy="384048"/>
          </a:xfrm>
          <a:prstGeom prst="ellipse">
            <a:avLst/>
          </a:prstGeom>
          <a:solidFill>
            <a:srgbClr val="C6D6EA"/>
          </a:solidFill>
          <a:ln/>
        </p:spPr>
      </p:sp>
      <p:sp>
        <p:nvSpPr>
          <p:cNvPr id="12" name="Text 10"/>
          <p:cNvSpPr txBox="1"/>
          <p:nvPr/>
        </p:nvSpPr>
        <p:spPr>
          <a:xfrm>
            <a:off x="2827325"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3</a:t>
            </a:r>
            <a:endParaRPr lang="en-US" sz="1200" dirty="0"/>
          </a:p>
        </p:txBody>
      </p:sp>
      <p:sp>
        <p:nvSpPr>
          <p:cNvPr id="13" name="Shape 11"/>
          <p:cNvSpPr/>
          <p:nvPr/>
        </p:nvSpPr>
        <p:spPr>
          <a:xfrm>
            <a:off x="3852367" y="5349240"/>
            <a:ext cx="384048" cy="384048"/>
          </a:xfrm>
          <a:prstGeom prst="ellipse">
            <a:avLst/>
          </a:prstGeom>
          <a:solidFill>
            <a:srgbClr val="C6D6EA"/>
          </a:solidFill>
          <a:ln/>
        </p:spPr>
      </p:sp>
      <p:sp>
        <p:nvSpPr>
          <p:cNvPr id="14" name="Text 12"/>
          <p:cNvSpPr txBox="1"/>
          <p:nvPr/>
        </p:nvSpPr>
        <p:spPr>
          <a:xfrm>
            <a:off x="3852367"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4</a:t>
            </a:r>
            <a:endParaRPr lang="en-US" sz="1200" dirty="0"/>
          </a:p>
        </p:txBody>
      </p:sp>
      <p:sp>
        <p:nvSpPr>
          <p:cNvPr id="15" name="Shape 13"/>
          <p:cNvSpPr/>
          <p:nvPr/>
        </p:nvSpPr>
        <p:spPr>
          <a:xfrm>
            <a:off x="4877410" y="5349240"/>
            <a:ext cx="384048" cy="384048"/>
          </a:xfrm>
          <a:prstGeom prst="ellipse">
            <a:avLst/>
          </a:prstGeom>
          <a:solidFill>
            <a:srgbClr val="C6D6EA"/>
          </a:solidFill>
          <a:ln/>
        </p:spPr>
      </p:sp>
      <p:sp>
        <p:nvSpPr>
          <p:cNvPr id="16" name="Text 14"/>
          <p:cNvSpPr txBox="1"/>
          <p:nvPr/>
        </p:nvSpPr>
        <p:spPr>
          <a:xfrm>
            <a:off x="4877410"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5</a:t>
            </a:r>
            <a:endParaRPr lang="en-US" sz="1200" dirty="0"/>
          </a:p>
        </p:txBody>
      </p:sp>
      <p:sp>
        <p:nvSpPr>
          <p:cNvPr id="17" name="Shape 15"/>
          <p:cNvSpPr/>
          <p:nvPr/>
        </p:nvSpPr>
        <p:spPr>
          <a:xfrm>
            <a:off x="5902452" y="5349240"/>
            <a:ext cx="384048" cy="384048"/>
          </a:xfrm>
          <a:prstGeom prst="ellipse">
            <a:avLst/>
          </a:prstGeom>
          <a:solidFill>
            <a:srgbClr val="C6D6EA"/>
          </a:solidFill>
          <a:ln/>
        </p:spPr>
      </p:sp>
      <p:sp>
        <p:nvSpPr>
          <p:cNvPr id="18" name="Text 16"/>
          <p:cNvSpPr txBox="1"/>
          <p:nvPr/>
        </p:nvSpPr>
        <p:spPr>
          <a:xfrm>
            <a:off x="5902452"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6</a:t>
            </a:r>
            <a:endParaRPr lang="en-US" sz="1200" dirty="0"/>
          </a:p>
        </p:txBody>
      </p:sp>
      <p:sp>
        <p:nvSpPr>
          <p:cNvPr id="19" name="Shape 17"/>
          <p:cNvSpPr/>
          <p:nvPr/>
        </p:nvSpPr>
        <p:spPr>
          <a:xfrm>
            <a:off x="6927494" y="5349240"/>
            <a:ext cx="384048" cy="384048"/>
          </a:xfrm>
          <a:prstGeom prst="ellipse">
            <a:avLst/>
          </a:prstGeom>
          <a:solidFill>
            <a:srgbClr val="C6D6EA"/>
          </a:solidFill>
          <a:ln/>
        </p:spPr>
      </p:sp>
      <p:sp>
        <p:nvSpPr>
          <p:cNvPr id="20" name="Text 18"/>
          <p:cNvSpPr txBox="1"/>
          <p:nvPr/>
        </p:nvSpPr>
        <p:spPr>
          <a:xfrm>
            <a:off x="6927494"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7</a:t>
            </a:r>
            <a:endParaRPr lang="en-US" sz="1200" dirty="0"/>
          </a:p>
        </p:txBody>
      </p:sp>
      <p:sp>
        <p:nvSpPr>
          <p:cNvPr id="21" name="Shape 19"/>
          <p:cNvSpPr/>
          <p:nvPr/>
        </p:nvSpPr>
        <p:spPr>
          <a:xfrm>
            <a:off x="7952537" y="5349240"/>
            <a:ext cx="384048" cy="384048"/>
          </a:xfrm>
          <a:prstGeom prst="ellipse">
            <a:avLst/>
          </a:prstGeom>
          <a:solidFill>
            <a:srgbClr val="C6D6EA"/>
          </a:solidFill>
          <a:ln/>
        </p:spPr>
      </p:sp>
      <p:sp>
        <p:nvSpPr>
          <p:cNvPr id="22" name="Text 20"/>
          <p:cNvSpPr txBox="1"/>
          <p:nvPr/>
        </p:nvSpPr>
        <p:spPr>
          <a:xfrm>
            <a:off x="7952537"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8</a:t>
            </a:r>
            <a:endParaRPr lang="en-US" sz="1200" dirty="0"/>
          </a:p>
        </p:txBody>
      </p:sp>
      <p:sp>
        <p:nvSpPr>
          <p:cNvPr id="23" name="Shape 21"/>
          <p:cNvSpPr/>
          <p:nvPr/>
        </p:nvSpPr>
        <p:spPr>
          <a:xfrm>
            <a:off x="8977579" y="5349240"/>
            <a:ext cx="384048" cy="384048"/>
          </a:xfrm>
          <a:prstGeom prst="ellipse">
            <a:avLst/>
          </a:prstGeom>
          <a:solidFill>
            <a:srgbClr val="1A5FB4"/>
          </a:solidFill>
          <a:ln/>
        </p:spPr>
      </p:sp>
      <p:sp>
        <p:nvSpPr>
          <p:cNvPr id="24" name="Text 22"/>
          <p:cNvSpPr txBox="1"/>
          <p:nvPr/>
        </p:nvSpPr>
        <p:spPr>
          <a:xfrm>
            <a:off x="8977579" y="53492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9</a:t>
            </a:r>
            <a:endParaRPr lang="en-US" sz="1200" dirty="0"/>
          </a:p>
        </p:txBody>
      </p:sp>
      <p:sp>
        <p:nvSpPr>
          <p:cNvPr id="25" name="Shape 23"/>
          <p:cNvSpPr/>
          <p:nvPr/>
        </p:nvSpPr>
        <p:spPr>
          <a:xfrm>
            <a:off x="10002622" y="5349240"/>
            <a:ext cx="384048" cy="384048"/>
          </a:xfrm>
          <a:prstGeom prst="ellipse">
            <a:avLst/>
          </a:prstGeom>
          <a:solidFill>
            <a:srgbClr val="E8EDF3"/>
          </a:solidFill>
          <a:ln/>
        </p:spPr>
      </p:sp>
      <p:sp>
        <p:nvSpPr>
          <p:cNvPr id="26" name="Text 24"/>
          <p:cNvSpPr txBox="1"/>
          <p:nvPr/>
        </p:nvSpPr>
        <p:spPr>
          <a:xfrm>
            <a:off x="10002622"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10</a:t>
            </a:r>
            <a:endParaRPr lang="en-US" sz="1200" dirty="0"/>
          </a:p>
        </p:txBody>
      </p:sp>
      <p:sp>
        <p:nvSpPr>
          <p:cNvPr id="27" name="Shape 25"/>
          <p:cNvSpPr/>
          <p:nvPr/>
        </p:nvSpPr>
        <p:spPr>
          <a:xfrm>
            <a:off x="11027664" y="5349240"/>
            <a:ext cx="384048" cy="384048"/>
          </a:xfrm>
          <a:prstGeom prst="ellipse">
            <a:avLst/>
          </a:prstGeom>
          <a:solidFill>
            <a:srgbClr val="E8EDF3"/>
          </a:solidFill>
          <a:ln/>
        </p:spPr>
      </p:sp>
      <p:sp>
        <p:nvSpPr>
          <p:cNvPr id="28" name="Text 26"/>
          <p:cNvSpPr txBox="1"/>
          <p:nvPr/>
        </p:nvSpPr>
        <p:spPr>
          <a:xfrm>
            <a:off x="11027664"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11</a:t>
            </a:r>
            <a:endParaRPr lang="en-US" sz="1200" dirty="0"/>
          </a:p>
        </p:txBody>
      </p:sp>
      <p:sp>
        <p:nvSpPr>
          <p:cNvPr id="29" name="Text 27"/>
          <p:cNvSpPr txBox="1"/>
          <p:nvPr/>
        </p:nvSpPr>
        <p:spPr>
          <a:xfrm>
            <a:off x="777240" y="5852160"/>
            <a:ext cx="10634472" cy="274320"/>
          </a:xfrm>
          <a:prstGeom prst="rect">
            <a:avLst/>
          </a:prstGeom>
          <a:noFill/>
          <a:ln/>
        </p:spPr>
        <p:txBody>
          <a:bodyPr wrap="square" lIns="0" tIns="0" rIns="0" bIns="0" rtlCol="0" anchor="t"/>
          <a:lstStyle/>
          <a:p>
            <a:pPr algn="l" indent="0" marL="0">
              <a:buNone/>
            </a:pPr>
            <a:r>
              <a:rPr lang="en-US" sz="1100" b="1" spc="200" kern="0" dirty="0">
                <a:solidFill>
                  <a:srgbClr val="9AA7B5"/>
                </a:solidFill>
                <a:latin typeface="Arial" pitchFamily="34" charset="0"/>
                <a:ea typeface="Arial" pitchFamily="34" charset="-122"/>
                <a:cs typeface="Arial" pitchFamily="34" charset="-120"/>
              </a:rPr>
              <a:t>THE ELEVEN STAGES</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10634472" cy="310896"/>
          </a:xfrm>
          <a:prstGeom prst="rect">
            <a:avLst/>
          </a:prstGeom>
          <a:noFill/>
          <a:ln/>
        </p:spPr>
        <p:txBody>
          <a:bodyPr wrap="square" lIns="0" tIns="0" rIns="0" bIns="0" rtlCol="0" anchor="t"/>
          <a:lstStyle/>
          <a:p>
            <a:pPr algn="l" indent="0" marL="0">
              <a:buNone/>
            </a:pPr>
            <a:r>
              <a:rPr lang="en-US" sz="1300" b="1" spc="200" kern="0" dirty="0">
                <a:solidFill>
                  <a:srgbClr val="1A5FB4"/>
                </a:solidFill>
                <a:latin typeface="Arial" pitchFamily="34" charset="0"/>
                <a:ea typeface="Arial" pitchFamily="34" charset="-122"/>
                <a:cs typeface="Arial" pitchFamily="34" charset="-120"/>
              </a:rPr>
              <a:t>THE CASE · 10 OF 11</a:t>
            </a:r>
            <a:endParaRPr lang="en-US" sz="1300" dirty="0"/>
          </a:p>
        </p:txBody>
      </p:sp>
      <p:sp>
        <p:nvSpPr>
          <p:cNvPr id="3" name="Text 1"/>
          <p:cNvSpPr txBox="1"/>
          <p:nvPr/>
        </p:nvSpPr>
        <p:spPr>
          <a:xfrm>
            <a:off x="777240" y="1325880"/>
            <a:ext cx="10634472" cy="3200400"/>
          </a:xfrm>
          <a:prstGeom prst="rect">
            <a:avLst/>
          </a:prstGeom>
          <a:noFill/>
          <a:ln/>
        </p:spPr>
        <p:txBody>
          <a:bodyPr wrap="square" lIns="0" tIns="0" rIns="0" bIns="0" rtlCol="0" anchor="t"/>
          <a:lstStyle/>
          <a:p>
            <a:pPr algn="l" indent="0" marL="0">
              <a:lnSpc>
                <a:spcPts val="3900"/>
              </a:lnSpc>
              <a:buNone/>
            </a:pPr>
            <a:r>
              <a:rPr lang="en-US" sz="2700" dirty="0">
                <a:solidFill>
                  <a:srgbClr val="1B1B1B"/>
                </a:solidFill>
                <a:latin typeface="Arial" pitchFamily="34" charset="0"/>
                <a:ea typeface="Arial" pitchFamily="34" charset="-122"/>
                <a:cs typeface="Arial" pitchFamily="34" charset="-120"/>
              </a:rPr>
              <a:t>The judge orders eighteen months of probation, $640 in restitution, and forty hours of community service.</a:t>
            </a:r>
            <a:endParaRPr lang="en-US" sz="2700" dirty="0"/>
          </a:p>
        </p:txBody>
      </p:sp>
      <p:sp>
        <p:nvSpPr>
          <p:cNvPr id="4" name="Text 2"/>
          <p:cNvSpPr txBox="1"/>
          <p:nvPr/>
        </p:nvSpPr>
        <p:spPr>
          <a:xfrm>
            <a:off x="777240" y="4663440"/>
            <a:ext cx="10634472" cy="548640"/>
          </a:xfrm>
          <a:prstGeom prst="rect">
            <a:avLst/>
          </a:prstGeom>
          <a:noFill/>
          <a:ln/>
        </p:spPr>
        <p:txBody>
          <a:bodyPr wrap="square" lIns="0" tIns="0" rIns="0" bIns="0" rtlCol="0" anchor="t"/>
          <a:lstStyle/>
          <a:p>
            <a:pPr algn="l" indent="0" marL="0">
              <a:buNone/>
            </a:pPr>
            <a:r>
              <a:rPr lang="en-US" sz="2600" b="1" dirty="0">
                <a:solidFill>
                  <a:srgbClr val="1A5FB4"/>
                </a:solidFill>
                <a:latin typeface="Arial" pitchFamily="34" charset="0"/>
                <a:ea typeface="Arial" pitchFamily="34" charset="-122"/>
                <a:cs typeface="Arial" pitchFamily="34" charset="-120"/>
              </a:rPr>
              <a:t>Which stage is this?</a:t>
            </a:r>
            <a:endParaRPr lang="en-US" sz="2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10634472" cy="310896"/>
          </a:xfrm>
          <a:prstGeom prst="rect">
            <a:avLst/>
          </a:prstGeom>
          <a:noFill/>
          <a:ln/>
        </p:spPr>
        <p:txBody>
          <a:bodyPr wrap="square" lIns="0" tIns="0" rIns="0" bIns="0" rtlCol="0" anchor="t"/>
          <a:lstStyle/>
          <a:p>
            <a:pPr algn="l" indent="0" marL="0">
              <a:buNone/>
            </a:pPr>
            <a:r>
              <a:rPr lang="en-US" sz="1300" b="1" spc="200" kern="0" dirty="0">
                <a:solidFill>
                  <a:srgbClr val="1A5FB4"/>
                </a:solidFill>
                <a:latin typeface="Arial" pitchFamily="34" charset="0"/>
                <a:ea typeface="Arial" pitchFamily="34" charset="-122"/>
                <a:cs typeface="Arial" pitchFamily="34" charset="-120"/>
              </a:rPr>
              <a:t>ANSWER</a:t>
            </a:r>
            <a:endParaRPr lang="en-US" sz="1300" dirty="0"/>
          </a:p>
        </p:txBody>
      </p:sp>
      <p:sp>
        <p:nvSpPr>
          <p:cNvPr id="3" name="Shape 1"/>
          <p:cNvSpPr/>
          <p:nvPr/>
        </p:nvSpPr>
        <p:spPr>
          <a:xfrm>
            <a:off x="777240" y="2103120"/>
            <a:ext cx="1051560" cy="1051560"/>
          </a:xfrm>
          <a:prstGeom prst="ellipse">
            <a:avLst/>
          </a:prstGeom>
          <a:solidFill>
            <a:srgbClr val="1A5FB4"/>
          </a:solidFill>
          <a:ln/>
        </p:spPr>
      </p:sp>
      <p:sp>
        <p:nvSpPr>
          <p:cNvPr id="4" name="Text 2"/>
          <p:cNvSpPr txBox="1"/>
          <p:nvPr/>
        </p:nvSpPr>
        <p:spPr>
          <a:xfrm>
            <a:off x="777240" y="2103120"/>
            <a:ext cx="1051560" cy="105156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10</a:t>
            </a:r>
            <a:endParaRPr lang="en-US" sz="3000" dirty="0"/>
          </a:p>
        </p:txBody>
      </p:sp>
      <p:sp>
        <p:nvSpPr>
          <p:cNvPr id="5" name="Text 3"/>
          <p:cNvSpPr txBox="1"/>
          <p:nvPr/>
        </p:nvSpPr>
        <p:spPr>
          <a:xfrm>
            <a:off x="2148840" y="2103120"/>
            <a:ext cx="9262872" cy="822960"/>
          </a:xfrm>
          <a:prstGeom prst="rect">
            <a:avLst/>
          </a:prstGeom>
          <a:noFill/>
          <a:ln/>
        </p:spPr>
        <p:txBody>
          <a:bodyPr wrap="square" lIns="0" tIns="0" rIns="0" bIns="0" rtlCol="0" anchor="t"/>
          <a:lstStyle/>
          <a:p>
            <a:pPr algn="l" indent="0" marL="0">
              <a:buNone/>
            </a:pPr>
            <a:r>
              <a:rPr lang="en-US" sz="4000" b="1" dirty="0">
                <a:solidFill>
                  <a:srgbClr val="10243A"/>
                </a:solidFill>
                <a:latin typeface="Arial" pitchFamily="34" charset="0"/>
                <a:ea typeface="Arial" pitchFamily="34" charset="-122"/>
                <a:cs typeface="Arial" pitchFamily="34" charset="-120"/>
              </a:rPr>
              <a:t>Sentencing</a:t>
            </a:r>
            <a:endParaRPr lang="en-US" sz="4000" dirty="0"/>
          </a:p>
        </p:txBody>
      </p:sp>
      <p:sp>
        <p:nvSpPr>
          <p:cNvPr id="6" name="Text 4"/>
          <p:cNvSpPr txBox="1"/>
          <p:nvPr/>
        </p:nvSpPr>
        <p:spPr>
          <a:xfrm>
            <a:off x="2148840" y="3063240"/>
            <a:ext cx="9262872" cy="1280160"/>
          </a:xfrm>
          <a:prstGeom prst="rect">
            <a:avLst/>
          </a:prstGeom>
          <a:noFill/>
          <a:ln/>
        </p:spPr>
        <p:txBody>
          <a:bodyPr wrap="square" lIns="0" tIns="0" rIns="0" bIns="0" rtlCol="0" anchor="t"/>
          <a:lstStyle/>
          <a:p>
            <a:pPr algn="l" indent="0" marL="0">
              <a:lnSpc>
                <a:spcPts val="3200"/>
              </a:lnSpc>
              <a:buNone/>
            </a:pPr>
            <a:r>
              <a:rPr lang="en-US" sz="2200" dirty="0">
                <a:solidFill>
                  <a:srgbClr val="5F6B79"/>
                </a:solidFill>
                <a:latin typeface="Arial" pitchFamily="34" charset="0"/>
                <a:ea typeface="Arial" pitchFamily="34" charset="-122"/>
                <a:cs typeface="Arial" pitchFamily="34" charset="-120"/>
              </a:rPr>
              <a:t>No prison. Ask the room whether that surprises them.</a:t>
            </a:r>
            <a:endParaRPr lang="en-US" sz="2200" dirty="0"/>
          </a:p>
        </p:txBody>
      </p:sp>
      <p:sp>
        <p:nvSpPr>
          <p:cNvPr id="7" name="Shape 5"/>
          <p:cNvSpPr/>
          <p:nvPr/>
        </p:nvSpPr>
        <p:spPr>
          <a:xfrm>
            <a:off x="777240" y="5349240"/>
            <a:ext cx="384048" cy="384048"/>
          </a:xfrm>
          <a:prstGeom prst="ellipse">
            <a:avLst/>
          </a:prstGeom>
          <a:solidFill>
            <a:srgbClr val="C6D6EA"/>
          </a:solidFill>
          <a:ln/>
        </p:spPr>
      </p:sp>
      <p:sp>
        <p:nvSpPr>
          <p:cNvPr id="8" name="Text 6"/>
          <p:cNvSpPr txBox="1"/>
          <p:nvPr/>
        </p:nvSpPr>
        <p:spPr>
          <a:xfrm>
            <a:off x="777240"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1</a:t>
            </a:r>
            <a:endParaRPr lang="en-US" sz="1200" dirty="0"/>
          </a:p>
        </p:txBody>
      </p:sp>
      <p:sp>
        <p:nvSpPr>
          <p:cNvPr id="9" name="Shape 7"/>
          <p:cNvSpPr/>
          <p:nvPr/>
        </p:nvSpPr>
        <p:spPr>
          <a:xfrm>
            <a:off x="1802282" y="5349240"/>
            <a:ext cx="384048" cy="384048"/>
          </a:xfrm>
          <a:prstGeom prst="ellipse">
            <a:avLst/>
          </a:prstGeom>
          <a:solidFill>
            <a:srgbClr val="C6D6EA"/>
          </a:solidFill>
          <a:ln/>
        </p:spPr>
      </p:sp>
      <p:sp>
        <p:nvSpPr>
          <p:cNvPr id="10" name="Text 8"/>
          <p:cNvSpPr txBox="1"/>
          <p:nvPr/>
        </p:nvSpPr>
        <p:spPr>
          <a:xfrm>
            <a:off x="1802282"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2</a:t>
            </a:r>
            <a:endParaRPr lang="en-US" sz="1200" dirty="0"/>
          </a:p>
        </p:txBody>
      </p:sp>
      <p:sp>
        <p:nvSpPr>
          <p:cNvPr id="11" name="Shape 9"/>
          <p:cNvSpPr/>
          <p:nvPr/>
        </p:nvSpPr>
        <p:spPr>
          <a:xfrm>
            <a:off x="2827325" y="5349240"/>
            <a:ext cx="384048" cy="384048"/>
          </a:xfrm>
          <a:prstGeom prst="ellipse">
            <a:avLst/>
          </a:prstGeom>
          <a:solidFill>
            <a:srgbClr val="C6D6EA"/>
          </a:solidFill>
          <a:ln/>
        </p:spPr>
      </p:sp>
      <p:sp>
        <p:nvSpPr>
          <p:cNvPr id="12" name="Text 10"/>
          <p:cNvSpPr txBox="1"/>
          <p:nvPr/>
        </p:nvSpPr>
        <p:spPr>
          <a:xfrm>
            <a:off x="2827325"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3</a:t>
            </a:r>
            <a:endParaRPr lang="en-US" sz="1200" dirty="0"/>
          </a:p>
        </p:txBody>
      </p:sp>
      <p:sp>
        <p:nvSpPr>
          <p:cNvPr id="13" name="Shape 11"/>
          <p:cNvSpPr/>
          <p:nvPr/>
        </p:nvSpPr>
        <p:spPr>
          <a:xfrm>
            <a:off x="3852367" y="5349240"/>
            <a:ext cx="384048" cy="384048"/>
          </a:xfrm>
          <a:prstGeom prst="ellipse">
            <a:avLst/>
          </a:prstGeom>
          <a:solidFill>
            <a:srgbClr val="C6D6EA"/>
          </a:solidFill>
          <a:ln/>
        </p:spPr>
      </p:sp>
      <p:sp>
        <p:nvSpPr>
          <p:cNvPr id="14" name="Text 12"/>
          <p:cNvSpPr txBox="1"/>
          <p:nvPr/>
        </p:nvSpPr>
        <p:spPr>
          <a:xfrm>
            <a:off x="3852367"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4</a:t>
            </a:r>
            <a:endParaRPr lang="en-US" sz="1200" dirty="0"/>
          </a:p>
        </p:txBody>
      </p:sp>
      <p:sp>
        <p:nvSpPr>
          <p:cNvPr id="15" name="Shape 13"/>
          <p:cNvSpPr/>
          <p:nvPr/>
        </p:nvSpPr>
        <p:spPr>
          <a:xfrm>
            <a:off x="4877410" y="5349240"/>
            <a:ext cx="384048" cy="384048"/>
          </a:xfrm>
          <a:prstGeom prst="ellipse">
            <a:avLst/>
          </a:prstGeom>
          <a:solidFill>
            <a:srgbClr val="C6D6EA"/>
          </a:solidFill>
          <a:ln/>
        </p:spPr>
      </p:sp>
      <p:sp>
        <p:nvSpPr>
          <p:cNvPr id="16" name="Text 14"/>
          <p:cNvSpPr txBox="1"/>
          <p:nvPr/>
        </p:nvSpPr>
        <p:spPr>
          <a:xfrm>
            <a:off x="4877410"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5</a:t>
            </a:r>
            <a:endParaRPr lang="en-US" sz="1200" dirty="0"/>
          </a:p>
        </p:txBody>
      </p:sp>
      <p:sp>
        <p:nvSpPr>
          <p:cNvPr id="17" name="Shape 15"/>
          <p:cNvSpPr/>
          <p:nvPr/>
        </p:nvSpPr>
        <p:spPr>
          <a:xfrm>
            <a:off x="5902452" y="5349240"/>
            <a:ext cx="384048" cy="384048"/>
          </a:xfrm>
          <a:prstGeom prst="ellipse">
            <a:avLst/>
          </a:prstGeom>
          <a:solidFill>
            <a:srgbClr val="C6D6EA"/>
          </a:solidFill>
          <a:ln/>
        </p:spPr>
      </p:sp>
      <p:sp>
        <p:nvSpPr>
          <p:cNvPr id="18" name="Text 16"/>
          <p:cNvSpPr txBox="1"/>
          <p:nvPr/>
        </p:nvSpPr>
        <p:spPr>
          <a:xfrm>
            <a:off x="5902452"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6</a:t>
            </a:r>
            <a:endParaRPr lang="en-US" sz="1200" dirty="0"/>
          </a:p>
        </p:txBody>
      </p:sp>
      <p:sp>
        <p:nvSpPr>
          <p:cNvPr id="19" name="Shape 17"/>
          <p:cNvSpPr/>
          <p:nvPr/>
        </p:nvSpPr>
        <p:spPr>
          <a:xfrm>
            <a:off x="6927494" y="5349240"/>
            <a:ext cx="384048" cy="384048"/>
          </a:xfrm>
          <a:prstGeom prst="ellipse">
            <a:avLst/>
          </a:prstGeom>
          <a:solidFill>
            <a:srgbClr val="C6D6EA"/>
          </a:solidFill>
          <a:ln/>
        </p:spPr>
      </p:sp>
      <p:sp>
        <p:nvSpPr>
          <p:cNvPr id="20" name="Text 18"/>
          <p:cNvSpPr txBox="1"/>
          <p:nvPr/>
        </p:nvSpPr>
        <p:spPr>
          <a:xfrm>
            <a:off x="6927494"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7</a:t>
            </a:r>
            <a:endParaRPr lang="en-US" sz="1200" dirty="0"/>
          </a:p>
        </p:txBody>
      </p:sp>
      <p:sp>
        <p:nvSpPr>
          <p:cNvPr id="21" name="Shape 19"/>
          <p:cNvSpPr/>
          <p:nvPr/>
        </p:nvSpPr>
        <p:spPr>
          <a:xfrm>
            <a:off x="7952537" y="5349240"/>
            <a:ext cx="384048" cy="384048"/>
          </a:xfrm>
          <a:prstGeom prst="ellipse">
            <a:avLst/>
          </a:prstGeom>
          <a:solidFill>
            <a:srgbClr val="C6D6EA"/>
          </a:solidFill>
          <a:ln/>
        </p:spPr>
      </p:sp>
      <p:sp>
        <p:nvSpPr>
          <p:cNvPr id="22" name="Text 20"/>
          <p:cNvSpPr txBox="1"/>
          <p:nvPr/>
        </p:nvSpPr>
        <p:spPr>
          <a:xfrm>
            <a:off x="7952537"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8</a:t>
            </a:r>
            <a:endParaRPr lang="en-US" sz="1200" dirty="0"/>
          </a:p>
        </p:txBody>
      </p:sp>
      <p:sp>
        <p:nvSpPr>
          <p:cNvPr id="23" name="Shape 21"/>
          <p:cNvSpPr/>
          <p:nvPr/>
        </p:nvSpPr>
        <p:spPr>
          <a:xfrm>
            <a:off x="8977579" y="5349240"/>
            <a:ext cx="384048" cy="384048"/>
          </a:xfrm>
          <a:prstGeom prst="ellipse">
            <a:avLst/>
          </a:prstGeom>
          <a:solidFill>
            <a:srgbClr val="C6D6EA"/>
          </a:solidFill>
          <a:ln/>
        </p:spPr>
      </p:sp>
      <p:sp>
        <p:nvSpPr>
          <p:cNvPr id="24" name="Text 22"/>
          <p:cNvSpPr txBox="1"/>
          <p:nvPr/>
        </p:nvSpPr>
        <p:spPr>
          <a:xfrm>
            <a:off x="8977579"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9</a:t>
            </a:r>
            <a:endParaRPr lang="en-US" sz="1200" dirty="0"/>
          </a:p>
        </p:txBody>
      </p:sp>
      <p:sp>
        <p:nvSpPr>
          <p:cNvPr id="25" name="Shape 23"/>
          <p:cNvSpPr/>
          <p:nvPr/>
        </p:nvSpPr>
        <p:spPr>
          <a:xfrm>
            <a:off x="10002622" y="5349240"/>
            <a:ext cx="384048" cy="384048"/>
          </a:xfrm>
          <a:prstGeom prst="ellipse">
            <a:avLst/>
          </a:prstGeom>
          <a:solidFill>
            <a:srgbClr val="1A5FB4"/>
          </a:solidFill>
          <a:ln/>
        </p:spPr>
      </p:sp>
      <p:sp>
        <p:nvSpPr>
          <p:cNvPr id="26" name="Text 24"/>
          <p:cNvSpPr txBox="1"/>
          <p:nvPr/>
        </p:nvSpPr>
        <p:spPr>
          <a:xfrm>
            <a:off x="10002622" y="53492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10</a:t>
            </a:r>
            <a:endParaRPr lang="en-US" sz="1200" dirty="0"/>
          </a:p>
        </p:txBody>
      </p:sp>
      <p:sp>
        <p:nvSpPr>
          <p:cNvPr id="27" name="Shape 25"/>
          <p:cNvSpPr/>
          <p:nvPr/>
        </p:nvSpPr>
        <p:spPr>
          <a:xfrm>
            <a:off x="11027664" y="5349240"/>
            <a:ext cx="384048" cy="384048"/>
          </a:xfrm>
          <a:prstGeom prst="ellipse">
            <a:avLst/>
          </a:prstGeom>
          <a:solidFill>
            <a:srgbClr val="E8EDF3"/>
          </a:solidFill>
          <a:ln/>
        </p:spPr>
      </p:sp>
      <p:sp>
        <p:nvSpPr>
          <p:cNvPr id="28" name="Text 26"/>
          <p:cNvSpPr txBox="1"/>
          <p:nvPr/>
        </p:nvSpPr>
        <p:spPr>
          <a:xfrm>
            <a:off x="11027664" y="5349240"/>
            <a:ext cx="384048" cy="384048"/>
          </a:xfrm>
          <a:prstGeom prst="rect">
            <a:avLst/>
          </a:prstGeom>
          <a:noFill/>
          <a:ln/>
        </p:spPr>
        <p:txBody>
          <a:bodyPr wrap="square" lIns="0" tIns="0" rIns="0" bIns="0" rtlCol="0" anchor="ctr"/>
          <a:lstStyle/>
          <a:p>
            <a:pPr algn="ctr" indent="0" marL="0">
              <a:buNone/>
            </a:pPr>
            <a:r>
              <a:rPr lang="en-US" sz="1200" b="1" dirty="0">
                <a:solidFill>
                  <a:srgbClr val="9AA7B5"/>
                </a:solidFill>
                <a:latin typeface="Arial" pitchFamily="34" charset="0"/>
                <a:ea typeface="Arial" pitchFamily="34" charset="-122"/>
                <a:cs typeface="Arial" pitchFamily="34" charset="-120"/>
              </a:rPr>
              <a:t>11</a:t>
            </a:r>
            <a:endParaRPr lang="en-US" sz="1200" dirty="0"/>
          </a:p>
        </p:txBody>
      </p:sp>
      <p:sp>
        <p:nvSpPr>
          <p:cNvPr id="29" name="Text 27"/>
          <p:cNvSpPr txBox="1"/>
          <p:nvPr/>
        </p:nvSpPr>
        <p:spPr>
          <a:xfrm>
            <a:off x="777240" y="5852160"/>
            <a:ext cx="10634472" cy="274320"/>
          </a:xfrm>
          <a:prstGeom prst="rect">
            <a:avLst/>
          </a:prstGeom>
          <a:noFill/>
          <a:ln/>
        </p:spPr>
        <p:txBody>
          <a:bodyPr wrap="square" lIns="0" tIns="0" rIns="0" bIns="0" rtlCol="0" anchor="t"/>
          <a:lstStyle/>
          <a:p>
            <a:pPr algn="l" indent="0" marL="0">
              <a:buNone/>
            </a:pPr>
            <a:r>
              <a:rPr lang="en-US" sz="1100" b="1" spc="200" kern="0" dirty="0">
                <a:solidFill>
                  <a:srgbClr val="9AA7B5"/>
                </a:solidFill>
                <a:latin typeface="Arial" pitchFamily="34" charset="0"/>
                <a:ea typeface="Arial" pitchFamily="34" charset="-122"/>
                <a:cs typeface="Arial" pitchFamily="34" charset="-120"/>
              </a:rPr>
              <a:t>THE ELEVEN STAGES</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10634472" cy="310896"/>
          </a:xfrm>
          <a:prstGeom prst="rect">
            <a:avLst/>
          </a:prstGeom>
          <a:noFill/>
          <a:ln/>
        </p:spPr>
        <p:txBody>
          <a:bodyPr wrap="square" lIns="0" tIns="0" rIns="0" bIns="0" rtlCol="0" anchor="t"/>
          <a:lstStyle/>
          <a:p>
            <a:pPr algn="l" indent="0" marL="0">
              <a:buNone/>
            </a:pPr>
            <a:r>
              <a:rPr lang="en-US" sz="1300" b="1" spc="200" kern="0" dirty="0">
                <a:solidFill>
                  <a:srgbClr val="1A5FB4"/>
                </a:solidFill>
                <a:latin typeface="Arial" pitchFamily="34" charset="0"/>
                <a:ea typeface="Arial" pitchFamily="34" charset="-122"/>
                <a:cs typeface="Arial" pitchFamily="34" charset="-120"/>
              </a:rPr>
              <a:t>THE CASE · 11 OF 11</a:t>
            </a:r>
            <a:endParaRPr lang="en-US" sz="1300" dirty="0"/>
          </a:p>
        </p:txBody>
      </p:sp>
      <p:sp>
        <p:nvSpPr>
          <p:cNvPr id="3" name="Text 1"/>
          <p:cNvSpPr txBox="1"/>
          <p:nvPr/>
        </p:nvSpPr>
        <p:spPr>
          <a:xfrm>
            <a:off x="777240" y="1325880"/>
            <a:ext cx="10634472" cy="3200400"/>
          </a:xfrm>
          <a:prstGeom prst="rect">
            <a:avLst/>
          </a:prstGeom>
          <a:noFill/>
          <a:ln/>
        </p:spPr>
        <p:txBody>
          <a:bodyPr wrap="square" lIns="0" tIns="0" rIns="0" bIns="0" rtlCol="0" anchor="t"/>
          <a:lstStyle/>
          <a:p>
            <a:pPr algn="l" indent="0" marL="0">
              <a:lnSpc>
                <a:spcPts val="3900"/>
              </a:lnSpc>
              <a:buNone/>
            </a:pPr>
            <a:r>
              <a:rPr lang="en-US" sz="2700" dirty="0">
                <a:solidFill>
                  <a:srgbClr val="1B1B1B"/>
                </a:solidFill>
                <a:latin typeface="Arial" pitchFamily="34" charset="0"/>
                <a:ea typeface="Arial" pitchFamily="34" charset="-122"/>
                <a:cs typeface="Arial" pitchFamily="34" charset="-120"/>
              </a:rPr>
              <a:t>Ramirez is released the same day and reports to his probation officer on Monday. If he finishes the eighteen months without violating, the case is closed.</a:t>
            </a:r>
            <a:endParaRPr lang="en-US" sz="2700" dirty="0"/>
          </a:p>
        </p:txBody>
      </p:sp>
      <p:sp>
        <p:nvSpPr>
          <p:cNvPr id="4" name="Text 2"/>
          <p:cNvSpPr txBox="1"/>
          <p:nvPr/>
        </p:nvSpPr>
        <p:spPr>
          <a:xfrm>
            <a:off x="777240" y="4663440"/>
            <a:ext cx="10634472" cy="548640"/>
          </a:xfrm>
          <a:prstGeom prst="rect">
            <a:avLst/>
          </a:prstGeom>
          <a:noFill/>
          <a:ln/>
        </p:spPr>
        <p:txBody>
          <a:bodyPr wrap="square" lIns="0" tIns="0" rIns="0" bIns="0" rtlCol="0" anchor="t"/>
          <a:lstStyle/>
          <a:p>
            <a:pPr algn="l" indent="0" marL="0">
              <a:buNone/>
            </a:pPr>
            <a:r>
              <a:rPr lang="en-US" sz="2600" b="1" dirty="0">
                <a:solidFill>
                  <a:srgbClr val="1A5FB4"/>
                </a:solidFill>
                <a:latin typeface="Arial" pitchFamily="34" charset="0"/>
                <a:ea typeface="Arial" pitchFamily="34" charset="-122"/>
                <a:cs typeface="Arial" pitchFamily="34" charset="-120"/>
              </a:rPr>
              <a:t>Which stage is this?</a:t>
            </a:r>
            <a:endParaRPr lang="en-US" sz="26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10634472" cy="310896"/>
          </a:xfrm>
          <a:prstGeom prst="rect">
            <a:avLst/>
          </a:prstGeom>
          <a:noFill/>
          <a:ln/>
        </p:spPr>
        <p:txBody>
          <a:bodyPr wrap="square" lIns="0" tIns="0" rIns="0" bIns="0" rtlCol="0" anchor="t"/>
          <a:lstStyle/>
          <a:p>
            <a:pPr algn="l" indent="0" marL="0">
              <a:buNone/>
            </a:pPr>
            <a:r>
              <a:rPr lang="en-US" sz="1300" b="1" spc="200" kern="0" dirty="0">
                <a:solidFill>
                  <a:srgbClr val="1A5FB4"/>
                </a:solidFill>
                <a:latin typeface="Arial" pitchFamily="34" charset="0"/>
                <a:ea typeface="Arial" pitchFamily="34" charset="-122"/>
                <a:cs typeface="Arial" pitchFamily="34" charset="-120"/>
              </a:rPr>
              <a:t>ANSWER</a:t>
            </a:r>
            <a:endParaRPr lang="en-US" sz="1300" dirty="0"/>
          </a:p>
        </p:txBody>
      </p:sp>
      <p:sp>
        <p:nvSpPr>
          <p:cNvPr id="3" name="Shape 1"/>
          <p:cNvSpPr/>
          <p:nvPr/>
        </p:nvSpPr>
        <p:spPr>
          <a:xfrm>
            <a:off x="777240" y="2103120"/>
            <a:ext cx="1051560" cy="1051560"/>
          </a:xfrm>
          <a:prstGeom prst="ellipse">
            <a:avLst/>
          </a:prstGeom>
          <a:solidFill>
            <a:srgbClr val="1A5FB4"/>
          </a:solidFill>
          <a:ln/>
        </p:spPr>
      </p:sp>
      <p:sp>
        <p:nvSpPr>
          <p:cNvPr id="4" name="Text 2"/>
          <p:cNvSpPr txBox="1"/>
          <p:nvPr/>
        </p:nvSpPr>
        <p:spPr>
          <a:xfrm>
            <a:off x="777240" y="2103120"/>
            <a:ext cx="1051560" cy="105156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11</a:t>
            </a:r>
            <a:endParaRPr lang="en-US" sz="3000" dirty="0"/>
          </a:p>
        </p:txBody>
      </p:sp>
      <p:sp>
        <p:nvSpPr>
          <p:cNvPr id="5" name="Text 3"/>
          <p:cNvSpPr txBox="1"/>
          <p:nvPr/>
        </p:nvSpPr>
        <p:spPr>
          <a:xfrm>
            <a:off x="2148840" y="2103120"/>
            <a:ext cx="9262872" cy="822960"/>
          </a:xfrm>
          <a:prstGeom prst="rect">
            <a:avLst/>
          </a:prstGeom>
          <a:noFill/>
          <a:ln/>
        </p:spPr>
        <p:txBody>
          <a:bodyPr wrap="square" lIns="0" tIns="0" rIns="0" bIns="0" rtlCol="0" anchor="t"/>
          <a:lstStyle/>
          <a:p>
            <a:pPr algn="l" indent="0" marL="0">
              <a:buNone/>
            </a:pPr>
            <a:r>
              <a:rPr lang="en-US" sz="4000" b="1" dirty="0">
                <a:solidFill>
                  <a:srgbClr val="10243A"/>
                </a:solidFill>
                <a:latin typeface="Arial" pitchFamily="34" charset="0"/>
                <a:ea typeface="Arial" pitchFamily="34" charset="-122"/>
                <a:cs typeface="Arial" pitchFamily="34" charset="-120"/>
              </a:rPr>
              <a:t>Corrections and release</a:t>
            </a:r>
            <a:endParaRPr lang="en-US" sz="4000" dirty="0"/>
          </a:p>
        </p:txBody>
      </p:sp>
      <p:sp>
        <p:nvSpPr>
          <p:cNvPr id="6" name="Text 4"/>
          <p:cNvSpPr txBox="1"/>
          <p:nvPr/>
        </p:nvSpPr>
        <p:spPr>
          <a:xfrm>
            <a:off x="2148840" y="3063240"/>
            <a:ext cx="9262872" cy="1280160"/>
          </a:xfrm>
          <a:prstGeom prst="rect">
            <a:avLst/>
          </a:prstGeom>
          <a:noFill/>
          <a:ln/>
        </p:spPr>
        <p:txBody>
          <a:bodyPr wrap="square" lIns="0" tIns="0" rIns="0" bIns="0" rtlCol="0" anchor="t"/>
          <a:lstStyle/>
          <a:p>
            <a:pPr algn="l" indent="0" marL="0">
              <a:lnSpc>
                <a:spcPts val="3200"/>
              </a:lnSpc>
              <a:buNone/>
            </a:pPr>
            <a:r>
              <a:rPr lang="en-US" sz="2200" dirty="0">
                <a:solidFill>
                  <a:srgbClr val="5F6B79"/>
                </a:solidFill>
                <a:latin typeface="Arial" pitchFamily="34" charset="0"/>
                <a:ea typeface="Arial" pitchFamily="34" charset="-122"/>
                <a:cs typeface="Arial" pitchFamily="34" charset="-120"/>
              </a:rPr>
              <a:t>Supervision in the community is the most common outcome in the system.</a:t>
            </a:r>
            <a:endParaRPr lang="en-US" sz="2200" dirty="0"/>
          </a:p>
        </p:txBody>
      </p:sp>
      <p:sp>
        <p:nvSpPr>
          <p:cNvPr id="7" name="Shape 5"/>
          <p:cNvSpPr/>
          <p:nvPr/>
        </p:nvSpPr>
        <p:spPr>
          <a:xfrm>
            <a:off x="777240" y="5349240"/>
            <a:ext cx="384048" cy="384048"/>
          </a:xfrm>
          <a:prstGeom prst="ellipse">
            <a:avLst/>
          </a:prstGeom>
          <a:solidFill>
            <a:srgbClr val="C6D6EA"/>
          </a:solidFill>
          <a:ln/>
        </p:spPr>
      </p:sp>
      <p:sp>
        <p:nvSpPr>
          <p:cNvPr id="8" name="Text 6"/>
          <p:cNvSpPr txBox="1"/>
          <p:nvPr/>
        </p:nvSpPr>
        <p:spPr>
          <a:xfrm>
            <a:off x="777240"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1</a:t>
            </a:r>
            <a:endParaRPr lang="en-US" sz="1200" dirty="0"/>
          </a:p>
        </p:txBody>
      </p:sp>
      <p:sp>
        <p:nvSpPr>
          <p:cNvPr id="9" name="Shape 7"/>
          <p:cNvSpPr/>
          <p:nvPr/>
        </p:nvSpPr>
        <p:spPr>
          <a:xfrm>
            <a:off x="1802282" y="5349240"/>
            <a:ext cx="384048" cy="384048"/>
          </a:xfrm>
          <a:prstGeom prst="ellipse">
            <a:avLst/>
          </a:prstGeom>
          <a:solidFill>
            <a:srgbClr val="C6D6EA"/>
          </a:solidFill>
          <a:ln/>
        </p:spPr>
      </p:sp>
      <p:sp>
        <p:nvSpPr>
          <p:cNvPr id="10" name="Text 8"/>
          <p:cNvSpPr txBox="1"/>
          <p:nvPr/>
        </p:nvSpPr>
        <p:spPr>
          <a:xfrm>
            <a:off x="1802282"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2</a:t>
            </a:r>
            <a:endParaRPr lang="en-US" sz="1200" dirty="0"/>
          </a:p>
        </p:txBody>
      </p:sp>
      <p:sp>
        <p:nvSpPr>
          <p:cNvPr id="11" name="Shape 9"/>
          <p:cNvSpPr/>
          <p:nvPr/>
        </p:nvSpPr>
        <p:spPr>
          <a:xfrm>
            <a:off x="2827325" y="5349240"/>
            <a:ext cx="384048" cy="384048"/>
          </a:xfrm>
          <a:prstGeom prst="ellipse">
            <a:avLst/>
          </a:prstGeom>
          <a:solidFill>
            <a:srgbClr val="C6D6EA"/>
          </a:solidFill>
          <a:ln/>
        </p:spPr>
      </p:sp>
      <p:sp>
        <p:nvSpPr>
          <p:cNvPr id="12" name="Text 10"/>
          <p:cNvSpPr txBox="1"/>
          <p:nvPr/>
        </p:nvSpPr>
        <p:spPr>
          <a:xfrm>
            <a:off x="2827325"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3</a:t>
            </a:r>
            <a:endParaRPr lang="en-US" sz="1200" dirty="0"/>
          </a:p>
        </p:txBody>
      </p:sp>
      <p:sp>
        <p:nvSpPr>
          <p:cNvPr id="13" name="Shape 11"/>
          <p:cNvSpPr/>
          <p:nvPr/>
        </p:nvSpPr>
        <p:spPr>
          <a:xfrm>
            <a:off x="3852367" y="5349240"/>
            <a:ext cx="384048" cy="384048"/>
          </a:xfrm>
          <a:prstGeom prst="ellipse">
            <a:avLst/>
          </a:prstGeom>
          <a:solidFill>
            <a:srgbClr val="C6D6EA"/>
          </a:solidFill>
          <a:ln/>
        </p:spPr>
      </p:sp>
      <p:sp>
        <p:nvSpPr>
          <p:cNvPr id="14" name="Text 12"/>
          <p:cNvSpPr txBox="1"/>
          <p:nvPr/>
        </p:nvSpPr>
        <p:spPr>
          <a:xfrm>
            <a:off x="3852367"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4</a:t>
            </a:r>
            <a:endParaRPr lang="en-US" sz="1200" dirty="0"/>
          </a:p>
        </p:txBody>
      </p:sp>
      <p:sp>
        <p:nvSpPr>
          <p:cNvPr id="15" name="Shape 13"/>
          <p:cNvSpPr/>
          <p:nvPr/>
        </p:nvSpPr>
        <p:spPr>
          <a:xfrm>
            <a:off x="4877410" y="5349240"/>
            <a:ext cx="384048" cy="384048"/>
          </a:xfrm>
          <a:prstGeom prst="ellipse">
            <a:avLst/>
          </a:prstGeom>
          <a:solidFill>
            <a:srgbClr val="C6D6EA"/>
          </a:solidFill>
          <a:ln/>
        </p:spPr>
      </p:sp>
      <p:sp>
        <p:nvSpPr>
          <p:cNvPr id="16" name="Text 14"/>
          <p:cNvSpPr txBox="1"/>
          <p:nvPr/>
        </p:nvSpPr>
        <p:spPr>
          <a:xfrm>
            <a:off x="4877410"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5</a:t>
            </a:r>
            <a:endParaRPr lang="en-US" sz="1200" dirty="0"/>
          </a:p>
        </p:txBody>
      </p:sp>
      <p:sp>
        <p:nvSpPr>
          <p:cNvPr id="17" name="Shape 15"/>
          <p:cNvSpPr/>
          <p:nvPr/>
        </p:nvSpPr>
        <p:spPr>
          <a:xfrm>
            <a:off x="5902452" y="5349240"/>
            <a:ext cx="384048" cy="384048"/>
          </a:xfrm>
          <a:prstGeom prst="ellipse">
            <a:avLst/>
          </a:prstGeom>
          <a:solidFill>
            <a:srgbClr val="C6D6EA"/>
          </a:solidFill>
          <a:ln/>
        </p:spPr>
      </p:sp>
      <p:sp>
        <p:nvSpPr>
          <p:cNvPr id="18" name="Text 16"/>
          <p:cNvSpPr txBox="1"/>
          <p:nvPr/>
        </p:nvSpPr>
        <p:spPr>
          <a:xfrm>
            <a:off x="5902452"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6</a:t>
            </a:r>
            <a:endParaRPr lang="en-US" sz="1200" dirty="0"/>
          </a:p>
        </p:txBody>
      </p:sp>
      <p:sp>
        <p:nvSpPr>
          <p:cNvPr id="19" name="Shape 17"/>
          <p:cNvSpPr/>
          <p:nvPr/>
        </p:nvSpPr>
        <p:spPr>
          <a:xfrm>
            <a:off x="6927494" y="5349240"/>
            <a:ext cx="384048" cy="384048"/>
          </a:xfrm>
          <a:prstGeom prst="ellipse">
            <a:avLst/>
          </a:prstGeom>
          <a:solidFill>
            <a:srgbClr val="C6D6EA"/>
          </a:solidFill>
          <a:ln/>
        </p:spPr>
      </p:sp>
      <p:sp>
        <p:nvSpPr>
          <p:cNvPr id="20" name="Text 18"/>
          <p:cNvSpPr txBox="1"/>
          <p:nvPr/>
        </p:nvSpPr>
        <p:spPr>
          <a:xfrm>
            <a:off x="6927494"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7</a:t>
            </a:r>
            <a:endParaRPr lang="en-US" sz="1200" dirty="0"/>
          </a:p>
        </p:txBody>
      </p:sp>
      <p:sp>
        <p:nvSpPr>
          <p:cNvPr id="21" name="Shape 19"/>
          <p:cNvSpPr/>
          <p:nvPr/>
        </p:nvSpPr>
        <p:spPr>
          <a:xfrm>
            <a:off x="7952537" y="5349240"/>
            <a:ext cx="384048" cy="384048"/>
          </a:xfrm>
          <a:prstGeom prst="ellipse">
            <a:avLst/>
          </a:prstGeom>
          <a:solidFill>
            <a:srgbClr val="C6D6EA"/>
          </a:solidFill>
          <a:ln/>
        </p:spPr>
      </p:sp>
      <p:sp>
        <p:nvSpPr>
          <p:cNvPr id="22" name="Text 20"/>
          <p:cNvSpPr txBox="1"/>
          <p:nvPr/>
        </p:nvSpPr>
        <p:spPr>
          <a:xfrm>
            <a:off x="7952537"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8</a:t>
            </a:r>
            <a:endParaRPr lang="en-US" sz="1200" dirty="0"/>
          </a:p>
        </p:txBody>
      </p:sp>
      <p:sp>
        <p:nvSpPr>
          <p:cNvPr id="23" name="Shape 21"/>
          <p:cNvSpPr/>
          <p:nvPr/>
        </p:nvSpPr>
        <p:spPr>
          <a:xfrm>
            <a:off x="8977579" y="5349240"/>
            <a:ext cx="384048" cy="384048"/>
          </a:xfrm>
          <a:prstGeom prst="ellipse">
            <a:avLst/>
          </a:prstGeom>
          <a:solidFill>
            <a:srgbClr val="C6D6EA"/>
          </a:solidFill>
          <a:ln/>
        </p:spPr>
      </p:sp>
      <p:sp>
        <p:nvSpPr>
          <p:cNvPr id="24" name="Text 22"/>
          <p:cNvSpPr txBox="1"/>
          <p:nvPr/>
        </p:nvSpPr>
        <p:spPr>
          <a:xfrm>
            <a:off x="8977579"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9</a:t>
            </a:r>
            <a:endParaRPr lang="en-US" sz="1200" dirty="0"/>
          </a:p>
        </p:txBody>
      </p:sp>
      <p:sp>
        <p:nvSpPr>
          <p:cNvPr id="25" name="Shape 23"/>
          <p:cNvSpPr/>
          <p:nvPr/>
        </p:nvSpPr>
        <p:spPr>
          <a:xfrm>
            <a:off x="10002622" y="5349240"/>
            <a:ext cx="384048" cy="384048"/>
          </a:xfrm>
          <a:prstGeom prst="ellipse">
            <a:avLst/>
          </a:prstGeom>
          <a:solidFill>
            <a:srgbClr val="C6D6EA"/>
          </a:solidFill>
          <a:ln/>
        </p:spPr>
      </p:sp>
      <p:sp>
        <p:nvSpPr>
          <p:cNvPr id="26" name="Text 24"/>
          <p:cNvSpPr txBox="1"/>
          <p:nvPr/>
        </p:nvSpPr>
        <p:spPr>
          <a:xfrm>
            <a:off x="10002622" y="5349240"/>
            <a:ext cx="384048" cy="384048"/>
          </a:xfrm>
          <a:prstGeom prst="rect">
            <a:avLst/>
          </a:prstGeom>
          <a:noFill/>
          <a:ln/>
        </p:spPr>
        <p:txBody>
          <a:bodyPr wrap="square" lIns="0" tIns="0" rIns="0" bIns="0" rtlCol="0" anchor="ctr"/>
          <a:lstStyle/>
          <a:p>
            <a:pPr algn="ctr" indent="0" marL="0">
              <a:buNone/>
            </a:pPr>
            <a:r>
              <a:rPr lang="en-US" sz="1200" b="1" dirty="0">
                <a:solidFill>
                  <a:srgbClr val="3E5C80"/>
                </a:solidFill>
                <a:latin typeface="Arial" pitchFamily="34" charset="0"/>
                <a:ea typeface="Arial" pitchFamily="34" charset="-122"/>
                <a:cs typeface="Arial" pitchFamily="34" charset="-120"/>
              </a:rPr>
              <a:t>10</a:t>
            </a:r>
            <a:endParaRPr lang="en-US" sz="1200" dirty="0"/>
          </a:p>
        </p:txBody>
      </p:sp>
      <p:sp>
        <p:nvSpPr>
          <p:cNvPr id="27" name="Shape 25"/>
          <p:cNvSpPr/>
          <p:nvPr/>
        </p:nvSpPr>
        <p:spPr>
          <a:xfrm>
            <a:off x="11027664" y="5349240"/>
            <a:ext cx="384048" cy="384048"/>
          </a:xfrm>
          <a:prstGeom prst="ellipse">
            <a:avLst/>
          </a:prstGeom>
          <a:solidFill>
            <a:srgbClr val="1A5FB4"/>
          </a:solidFill>
          <a:ln/>
        </p:spPr>
      </p:sp>
      <p:sp>
        <p:nvSpPr>
          <p:cNvPr id="28" name="Text 26"/>
          <p:cNvSpPr txBox="1"/>
          <p:nvPr/>
        </p:nvSpPr>
        <p:spPr>
          <a:xfrm>
            <a:off x="11027664" y="53492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11</a:t>
            </a:r>
            <a:endParaRPr lang="en-US" sz="1200" dirty="0"/>
          </a:p>
        </p:txBody>
      </p:sp>
      <p:sp>
        <p:nvSpPr>
          <p:cNvPr id="29" name="Text 27"/>
          <p:cNvSpPr txBox="1"/>
          <p:nvPr/>
        </p:nvSpPr>
        <p:spPr>
          <a:xfrm>
            <a:off x="777240" y="5852160"/>
            <a:ext cx="10634472" cy="274320"/>
          </a:xfrm>
          <a:prstGeom prst="rect">
            <a:avLst/>
          </a:prstGeom>
          <a:noFill/>
          <a:ln/>
        </p:spPr>
        <p:txBody>
          <a:bodyPr wrap="square" lIns="0" tIns="0" rIns="0" bIns="0" rtlCol="0" anchor="t"/>
          <a:lstStyle/>
          <a:p>
            <a:pPr algn="l" indent="0" marL="0">
              <a:buNone/>
            </a:pPr>
            <a:r>
              <a:rPr lang="en-US" sz="1100" b="1" spc="200" kern="0" dirty="0">
                <a:solidFill>
                  <a:srgbClr val="9AA7B5"/>
                </a:solidFill>
                <a:latin typeface="Arial" pitchFamily="34" charset="0"/>
                <a:ea typeface="Arial" pitchFamily="34" charset="-122"/>
                <a:cs typeface="Arial" pitchFamily="34" charset="-120"/>
              </a:rPr>
              <a:t>THE ELEVEN STAGES</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10634472" cy="310896"/>
          </a:xfrm>
          <a:prstGeom prst="rect">
            <a:avLst/>
          </a:prstGeom>
          <a:noFill/>
          <a:ln/>
        </p:spPr>
        <p:txBody>
          <a:bodyPr wrap="square" lIns="0" tIns="0" rIns="0" bIns="0" rtlCol="0" anchor="t"/>
          <a:lstStyle/>
          <a:p>
            <a:pPr algn="l" indent="0" marL="0">
              <a:buNone/>
            </a:pPr>
            <a:r>
              <a:rPr lang="en-US" sz="1300" b="1" spc="200" kern="0" dirty="0">
                <a:solidFill>
                  <a:srgbClr val="1A5FB4"/>
                </a:solidFill>
                <a:latin typeface="Arial" pitchFamily="34" charset="0"/>
                <a:ea typeface="Arial" pitchFamily="34" charset="-122"/>
                <a:cs typeface="Arial" pitchFamily="34" charset="-120"/>
              </a:rPr>
              <a:t>EVERYONE VOTES</a:t>
            </a:r>
            <a:endParaRPr lang="en-US" sz="1300" dirty="0"/>
          </a:p>
        </p:txBody>
      </p:sp>
      <p:sp>
        <p:nvSpPr>
          <p:cNvPr id="3" name="Text 1"/>
          <p:cNvSpPr txBox="1"/>
          <p:nvPr/>
        </p:nvSpPr>
        <p:spPr>
          <a:xfrm>
            <a:off x="777240" y="1143000"/>
            <a:ext cx="10634472" cy="1490472"/>
          </a:xfrm>
          <a:prstGeom prst="rect">
            <a:avLst/>
          </a:prstGeom>
          <a:noFill/>
          <a:ln/>
        </p:spPr>
        <p:txBody>
          <a:bodyPr wrap="square" lIns="0" tIns="0" rIns="0" bIns="0" rtlCol="0" anchor="t"/>
          <a:lstStyle/>
          <a:p>
            <a:pPr algn="l" indent="0" marL="0">
              <a:buNone/>
            </a:pPr>
            <a:r>
              <a:rPr lang="en-US" sz="4400" b="1" dirty="0">
                <a:solidFill>
                  <a:srgbClr val="10243A"/>
                </a:solidFill>
                <a:latin typeface="Arial" pitchFamily="34" charset="0"/>
                <a:ea typeface="Arial" pitchFamily="34" charset="-122"/>
                <a:cs typeface="Arial" pitchFamily="34" charset="-120"/>
              </a:rPr>
              <a:t>Should Ramirez have taken</a:t>
            </a:r>
            <a:endParaRPr lang="en-US" sz="4400" dirty="0"/>
          </a:p>
          <a:p>
            <a:pPr algn="l" indent="0" marL="0">
              <a:buNone/>
            </a:pPr>
            <a:r>
              <a:rPr lang="en-US" sz="4400" b="1" dirty="0">
                <a:solidFill>
                  <a:srgbClr val="10243A"/>
                </a:solidFill>
                <a:latin typeface="Arial" pitchFamily="34" charset="0"/>
                <a:ea typeface="Arial" pitchFamily="34" charset="-122"/>
                <a:cs typeface="Arial" pitchFamily="34" charset="-120"/>
              </a:rPr>
              <a:t>the plea deal?</a:t>
            </a:r>
            <a:endParaRPr lang="en-US" sz="4400" dirty="0"/>
          </a:p>
        </p:txBody>
      </p:sp>
      <p:sp>
        <p:nvSpPr>
          <p:cNvPr id="4" name="Text 2"/>
          <p:cNvSpPr txBox="1"/>
          <p:nvPr/>
        </p:nvSpPr>
        <p:spPr>
          <a:xfrm>
            <a:off x="777240" y="3566160"/>
            <a:ext cx="10634472" cy="585216"/>
          </a:xfrm>
          <a:prstGeom prst="rect">
            <a:avLst/>
          </a:prstGeom>
          <a:noFill/>
          <a:ln/>
        </p:spPr>
        <p:txBody>
          <a:bodyPr wrap="square" lIns="0" tIns="0" rIns="0" bIns="0" rtlCol="0" anchor="t"/>
          <a:lstStyle/>
          <a:p>
            <a:pPr algn="l" indent="0" marL="0">
              <a:lnSpc>
                <a:spcPts val="3200"/>
              </a:lnSpc>
              <a:buNone/>
            </a:pPr>
            <a:r>
              <a:rPr lang="en-US" sz="2200" dirty="0">
                <a:solidFill>
                  <a:srgbClr val="1B1B1B"/>
                </a:solidFill>
                <a:latin typeface="Arial" pitchFamily="34" charset="0"/>
                <a:ea typeface="Arial" pitchFamily="34" charset="-122"/>
                <a:cs typeface="Arial" pitchFamily="34" charset="-120"/>
              </a:rPr>
              <a:t>Eighteen months of probation, guaranteed — or take your chances at trial.</a:t>
            </a:r>
            <a:endParaRPr lang="en-US" sz="2200" dirty="0"/>
          </a:p>
        </p:txBody>
      </p:sp>
      <p:sp>
        <p:nvSpPr>
          <p:cNvPr id="5" name="Text 3"/>
          <p:cNvSpPr txBox="1"/>
          <p:nvPr/>
        </p:nvSpPr>
        <p:spPr>
          <a:xfrm>
            <a:off x="777240" y="6144768"/>
            <a:ext cx="10634472" cy="310896"/>
          </a:xfrm>
          <a:prstGeom prst="rect">
            <a:avLst/>
          </a:prstGeom>
          <a:noFill/>
          <a:ln/>
        </p:spPr>
        <p:txBody>
          <a:bodyPr wrap="square" lIns="0" tIns="0" rIns="0" bIns="0" rtlCol="0" anchor="t"/>
          <a:lstStyle/>
          <a:p>
            <a:pPr algn="l" indent="0" marL="0">
              <a:buNone/>
            </a:pPr>
            <a:r>
              <a:rPr lang="en-US" sz="1200" dirty="0">
                <a:solidFill>
                  <a:srgbClr val="5F6B79"/>
                </a:solidFill>
                <a:latin typeface="Arial" pitchFamily="34" charset="0"/>
                <a:ea typeface="Arial" pitchFamily="34" charset="-122"/>
                <a:cs typeface="Arial" pitchFamily="34" charset="-120"/>
              </a:rPr>
              <a:t>Poll · then argue it</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10634472" cy="310896"/>
          </a:xfrm>
          <a:prstGeom prst="rect">
            <a:avLst/>
          </a:prstGeom>
          <a:noFill/>
          <a:ln/>
        </p:spPr>
        <p:txBody>
          <a:bodyPr wrap="square" lIns="0" tIns="0" rIns="0" bIns="0" rtlCol="0" anchor="t"/>
          <a:lstStyle/>
          <a:p>
            <a:pPr algn="l" indent="0" marL="0">
              <a:buNone/>
            </a:pPr>
            <a:r>
              <a:rPr lang="en-US" sz="1300" b="1" spc="200" kern="0" dirty="0">
                <a:solidFill>
                  <a:srgbClr val="1A5FB4"/>
                </a:solidFill>
                <a:latin typeface="Arial" pitchFamily="34" charset="0"/>
                <a:ea typeface="Arial" pitchFamily="34" charset="-122"/>
                <a:cs typeface="Arial" pitchFamily="34" charset="-120"/>
              </a:rPr>
              <a:t>WHOLE CLASS</a:t>
            </a:r>
            <a:endParaRPr lang="en-US" sz="1300" dirty="0"/>
          </a:p>
        </p:txBody>
      </p:sp>
      <p:sp>
        <p:nvSpPr>
          <p:cNvPr id="3" name="Text 1"/>
          <p:cNvSpPr txBox="1"/>
          <p:nvPr/>
        </p:nvSpPr>
        <p:spPr>
          <a:xfrm>
            <a:off x="777240" y="960120"/>
            <a:ext cx="10634472" cy="868680"/>
          </a:xfrm>
          <a:prstGeom prst="rect">
            <a:avLst/>
          </a:prstGeom>
          <a:noFill/>
          <a:ln/>
        </p:spPr>
        <p:txBody>
          <a:bodyPr wrap="square" lIns="0" tIns="0" rIns="0" bIns="0" rtlCol="0" anchor="t"/>
          <a:lstStyle/>
          <a:p>
            <a:pPr algn="l" indent="0" marL="0">
              <a:buNone/>
            </a:pPr>
            <a:r>
              <a:rPr lang="en-US" sz="4800" b="1" dirty="0">
                <a:solidFill>
                  <a:srgbClr val="10243A"/>
                </a:solidFill>
                <a:latin typeface="Arial" pitchFamily="34" charset="0"/>
                <a:ea typeface="Arial" pitchFamily="34" charset="-122"/>
                <a:cs typeface="Arial" pitchFamily="34" charset="-120"/>
              </a:rPr>
              <a:t>Ten questions. Go.</a:t>
            </a:r>
            <a:endParaRPr lang="en-US" sz="4800" dirty="0"/>
          </a:p>
        </p:txBody>
      </p:sp>
      <p:sp>
        <p:nvSpPr>
          <p:cNvPr id="4" name="Text 2"/>
          <p:cNvSpPr txBox="1"/>
          <p:nvPr/>
        </p:nvSpPr>
        <p:spPr>
          <a:xfrm>
            <a:off x="777240" y="2377440"/>
            <a:ext cx="10634472" cy="658368"/>
          </a:xfrm>
          <a:prstGeom prst="rect">
            <a:avLst/>
          </a:prstGeom>
          <a:noFill/>
          <a:ln/>
        </p:spPr>
        <p:txBody>
          <a:bodyPr wrap="square" lIns="0" tIns="0" rIns="0" bIns="0" rtlCol="0" anchor="t"/>
          <a:lstStyle/>
          <a:p>
            <a:pPr algn="l" indent="0" marL="0">
              <a:lnSpc>
                <a:spcPts val="3800"/>
              </a:lnSpc>
              <a:buNone/>
            </a:pPr>
            <a:r>
              <a:rPr lang="en-US" sz="2600" dirty="0">
                <a:solidFill>
                  <a:srgbClr val="1B1B1B"/>
                </a:solidFill>
                <a:latin typeface="Arial" pitchFamily="34" charset="0"/>
                <a:ea typeface="Arial" pitchFamily="34" charset="-122"/>
                <a:cs typeface="Arial" pitchFamily="34" charset="-120"/>
              </a:rPr>
              <a:t>Everything from today. Speed counts.</a:t>
            </a:r>
            <a:endParaRPr lang="en-US" sz="2600" dirty="0"/>
          </a:p>
        </p:txBody>
      </p:sp>
      <p:sp>
        <p:nvSpPr>
          <p:cNvPr id="5" name="Text 3"/>
          <p:cNvSpPr txBox="1"/>
          <p:nvPr/>
        </p:nvSpPr>
        <p:spPr>
          <a:xfrm>
            <a:off x="777240" y="6144768"/>
            <a:ext cx="10634472" cy="310896"/>
          </a:xfrm>
          <a:prstGeom prst="rect">
            <a:avLst/>
          </a:prstGeom>
          <a:noFill/>
          <a:ln/>
        </p:spPr>
        <p:txBody>
          <a:bodyPr wrap="square" lIns="0" tIns="0" rIns="0" bIns="0" rtlCol="0" anchor="t"/>
          <a:lstStyle/>
          <a:p>
            <a:pPr algn="l" indent="0" marL="0">
              <a:buNone/>
            </a:pPr>
            <a:r>
              <a:rPr lang="en-US" sz="1200" dirty="0">
                <a:solidFill>
                  <a:srgbClr val="5F6B79"/>
                </a:solidFill>
                <a:latin typeface="Arial" pitchFamily="34" charset="0"/>
                <a:ea typeface="Arial" pitchFamily="34" charset="-122"/>
                <a:cs typeface="Arial" pitchFamily="34" charset="-120"/>
              </a:rPr>
              <a:t>Time to Climb · this is the assessment — no worksheet</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10634472" cy="310896"/>
          </a:xfrm>
          <a:prstGeom prst="rect">
            <a:avLst/>
          </a:prstGeom>
          <a:noFill/>
          <a:ln/>
        </p:spPr>
        <p:txBody>
          <a:bodyPr wrap="square" lIns="0" tIns="0" rIns="0" bIns="0" rtlCol="0" anchor="t"/>
          <a:lstStyle/>
          <a:p>
            <a:pPr algn="l" indent="0" marL="0">
              <a:buNone/>
            </a:pPr>
            <a:r>
              <a:rPr lang="en-US" sz="1300" b="1" spc="200" kern="0" dirty="0">
                <a:solidFill>
                  <a:srgbClr val="1A5FB4"/>
                </a:solidFill>
                <a:latin typeface="Arial" pitchFamily="34" charset="0"/>
                <a:ea typeface="Arial" pitchFamily="34" charset="-122"/>
                <a:cs typeface="Arial" pitchFamily="34" charset="-120"/>
              </a:rPr>
              <a:t>BEFORE YOU GO</a:t>
            </a:r>
            <a:endParaRPr lang="en-US" sz="1300" dirty="0"/>
          </a:p>
        </p:txBody>
      </p:sp>
      <p:sp>
        <p:nvSpPr>
          <p:cNvPr id="3" name="Text 1"/>
          <p:cNvSpPr txBox="1"/>
          <p:nvPr/>
        </p:nvSpPr>
        <p:spPr>
          <a:xfrm>
            <a:off x="777240" y="1143000"/>
            <a:ext cx="10634472" cy="1490472"/>
          </a:xfrm>
          <a:prstGeom prst="rect">
            <a:avLst/>
          </a:prstGeom>
          <a:noFill/>
          <a:ln/>
        </p:spPr>
        <p:txBody>
          <a:bodyPr wrap="square" lIns="0" tIns="0" rIns="0" bIns="0" rtlCol="0" anchor="t"/>
          <a:lstStyle/>
          <a:p>
            <a:pPr algn="l" indent="0" marL="0">
              <a:buNone/>
            </a:pPr>
            <a:r>
              <a:rPr lang="en-US" sz="4400" b="1" dirty="0">
                <a:solidFill>
                  <a:srgbClr val="10243A"/>
                </a:solidFill>
                <a:latin typeface="Arial" pitchFamily="34" charset="0"/>
                <a:ea typeface="Arial" pitchFamily="34" charset="-122"/>
                <a:cs typeface="Arial" pitchFamily="34" charset="-120"/>
              </a:rPr>
              <a:t>Which stage do you think</a:t>
            </a:r>
            <a:endParaRPr lang="en-US" sz="4400" dirty="0"/>
          </a:p>
          <a:p>
            <a:pPr algn="l" indent="0" marL="0">
              <a:buNone/>
            </a:pPr>
            <a:r>
              <a:rPr lang="en-US" sz="4400" b="1" dirty="0">
                <a:solidFill>
                  <a:srgbClr val="10243A"/>
                </a:solidFill>
                <a:latin typeface="Arial" pitchFamily="34" charset="0"/>
                <a:ea typeface="Arial" pitchFamily="34" charset="-122"/>
                <a:cs typeface="Arial" pitchFamily="34" charset="-120"/>
              </a:rPr>
              <a:t>most cases go wrong at?</a:t>
            </a:r>
            <a:endParaRPr lang="en-US" sz="4400" dirty="0"/>
          </a:p>
        </p:txBody>
      </p:sp>
      <p:sp>
        <p:nvSpPr>
          <p:cNvPr id="4" name="Text 2"/>
          <p:cNvSpPr txBox="1"/>
          <p:nvPr/>
        </p:nvSpPr>
        <p:spPr>
          <a:xfrm>
            <a:off x="777240" y="3154680"/>
            <a:ext cx="10634472" cy="621792"/>
          </a:xfrm>
          <a:prstGeom prst="rect">
            <a:avLst/>
          </a:prstGeom>
          <a:noFill/>
          <a:ln/>
        </p:spPr>
        <p:txBody>
          <a:bodyPr wrap="square" lIns="0" tIns="0" rIns="0" bIns="0" rtlCol="0" anchor="t"/>
          <a:lstStyle/>
          <a:p>
            <a:pPr algn="l" indent="0" marL="0">
              <a:lnSpc>
                <a:spcPts val="3500"/>
              </a:lnSpc>
              <a:buNone/>
            </a:pPr>
            <a:r>
              <a:rPr lang="en-US" sz="2400" dirty="0">
                <a:solidFill>
                  <a:srgbClr val="1B1B1B"/>
                </a:solidFill>
                <a:latin typeface="Arial" pitchFamily="34" charset="0"/>
                <a:ea typeface="Arial" pitchFamily="34" charset="-122"/>
                <a:cs typeface="Arial" pitchFamily="34" charset="-120"/>
              </a:rPr>
              <a:t>One or two sentences. Say why.</a:t>
            </a:r>
            <a:endParaRPr lang="en-US" sz="2400" dirty="0"/>
          </a:p>
        </p:txBody>
      </p:sp>
      <p:sp>
        <p:nvSpPr>
          <p:cNvPr id="5" name="Text 3"/>
          <p:cNvSpPr txBox="1"/>
          <p:nvPr/>
        </p:nvSpPr>
        <p:spPr>
          <a:xfrm>
            <a:off x="777240" y="6144768"/>
            <a:ext cx="10634472" cy="310896"/>
          </a:xfrm>
          <a:prstGeom prst="rect">
            <a:avLst/>
          </a:prstGeom>
          <a:noFill/>
          <a:ln/>
        </p:spPr>
        <p:txBody>
          <a:bodyPr wrap="square" lIns="0" tIns="0" rIns="0" bIns="0" rtlCol="0" anchor="t"/>
          <a:lstStyle/>
          <a:p>
            <a:pPr algn="l" indent="0" marL="0">
              <a:buNone/>
            </a:pPr>
            <a:r>
              <a:rPr lang="en-US" sz="1200" dirty="0">
                <a:solidFill>
                  <a:srgbClr val="5F6B79"/>
                </a:solidFill>
                <a:latin typeface="Arial" pitchFamily="34" charset="0"/>
                <a:ea typeface="Arial" pitchFamily="34" charset="-122"/>
                <a:cs typeface="Arial" pitchFamily="34" charset="-120"/>
              </a:rPr>
              <a:t>Open-Ended Question · shared anonymously on the board</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566928"/>
            <a:ext cx="10634472" cy="310896"/>
          </a:xfrm>
          <a:prstGeom prst="rect">
            <a:avLst/>
          </a:prstGeom>
          <a:noFill/>
          <a:ln/>
        </p:spPr>
        <p:txBody>
          <a:bodyPr wrap="square" lIns="0" tIns="0" rIns="0" bIns="0" rtlCol="0" anchor="t"/>
          <a:lstStyle/>
          <a:p>
            <a:pPr algn="l" indent="0" marL="0">
              <a:buNone/>
            </a:pPr>
            <a:r>
              <a:rPr lang="en-US" sz="1300" b="1" spc="200" kern="0" dirty="0">
                <a:solidFill>
                  <a:srgbClr val="1A5FB4"/>
                </a:solidFill>
                <a:latin typeface="Arial" pitchFamily="34" charset="0"/>
                <a:ea typeface="Arial" pitchFamily="34" charset="-122"/>
                <a:cs typeface="Arial" pitchFamily="34" charset="-120"/>
              </a:rPr>
              <a:t>NEXT TIME</a:t>
            </a:r>
            <a:endParaRPr lang="en-US" sz="1300" dirty="0"/>
          </a:p>
        </p:txBody>
      </p:sp>
      <p:sp>
        <p:nvSpPr>
          <p:cNvPr id="3" name="Text 1"/>
          <p:cNvSpPr txBox="1"/>
          <p:nvPr/>
        </p:nvSpPr>
        <p:spPr>
          <a:xfrm>
            <a:off x="777240" y="960120"/>
            <a:ext cx="10634472" cy="841248"/>
          </a:xfrm>
          <a:prstGeom prst="rect">
            <a:avLst/>
          </a:prstGeom>
          <a:noFill/>
          <a:ln/>
        </p:spPr>
        <p:txBody>
          <a:bodyPr wrap="square" lIns="0" tIns="0" rIns="0" bIns="0" rtlCol="0" anchor="t"/>
          <a:lstStyle/>
          <a:p>
            <a:pPr algn="l" indent="0" marL="0">
              <a:buNone/>
            </a:pPr>
            <a:r>
              <a:rPr lang="en-US" sz="4600" b="1" dirty="0">
                <a:solidFill>
                  <a:srgbClr val="10243A"/>
                </a:solidFill>
                <a:latin typeface="Arial" pitchFamily="34" charset="0"/>
                <a:ea typeface="Arial" pitchFamily="34" charset="-122"/>
                <a:cs typeface="Arial" pitchFamily="34" charset="-120"/>
              </a:rPr>
              <a:t>The report that started it all</a:t>
            </a:r>
            <a:endParaRPr lang="en-US" sz="4600" dirty="0"/>
          </a:p>
        </p:txBody>
      </p:sp>
      <p:sp>
        <p:nvSpPr>
          <p:cNvPr id="4" name="Text 2"/>
          <p:cNvSpPr txBox="1"/>
          <p:nvPr/>
        </p:nvSpPr>
        <p:spPr>
          <a:xfrm>
            <a:off x="777240" y="2377440"/>
            <a:ext cx="10634472" cy="1508760"/>
          </a:xfrm>
          <a:prstGeom prst="rect">
            <a:avLst/>
          </a:prstGeom>
          <a:noFill/>
          <a:ln/>
        </p:spPr>
        <p:txBody>
          <a:bodyPr wrap="square" lIns="0" tIns="0" rIns="0" bIns="0" rtlCol="0" anchor="t"/>
          <a:lstStyle/>
          <a:p>
            <a:pPr algn="l" indent="0" marL="0">
              <a:lnSpc>
                <a:spcPts val="3500"/>
              </a:lnSpc>
              <a:buNone/>
            </a:pPr>
            <a:r>
              <a:rPr lang="en-US" sz="2400" dirty="0">
                <a:solidFill>
                  <a:srgbClr val="1B1B1B"/>
                </a:solidFill>
                <a:latin typeface="Arial" pitchFamily="34" charset="0"/>
                <a:ea typeface="Arial" pitchFamily="34" charset="-122"/>
                <a:cs typeface="Arial" pitchFamily="34" charset="-120"/>
              </a:rPr>
              <a:t>Every part of this case rested on what Deputy Ellis wrote down in the first hour.</a:t>
            </a:r>
            <a:endParaRPr lang="en-US" sz="2400" dirty="0"/>
          </a:p>
          <a:p>
            <a:pPr algn="l" indent="0" marL="0">
              <a:lnSpc>
                <a:spcPts val="3500"/>
              </a:lnSpc>
              <a:buNone/>
            </a:pPr>
            <a:endParaRPr lang="en-US" sz="2400" dirty="0"/>
          </a:p>
          <a:p>
            <a:pPr algn="l" indent="0" marL="0">
              <a:lnSpc>
                <a:spcPts val="3500"/>
              </a:lnSpc>
              <a:buNone/>
            </a:pPr>
            <a:r>
              <a:rPr lang="en-US" sz="2400" dirty="0">
                <a:solidFill>
                  <a:srgbClr val="1B1B1B"/>
                </a:solidFill>
                <a:latin typeface="Arial" pitchFamily="34" charset="0"/>
                <a:ea typeface="Arial" pitchFamily="34" charset="-122"/>
                <a:cs typeface="Arial" pitchFamily="34" charset="-120"/>
              </a:rPr>
              <a:t>Next lesson we write one.</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2026-09-18T14:07:05Z</dcterms:created>
  <dcterms:modified xsi:type="dcterms:W3CDTF">2026-09-18T14:07:05Z</dcterms:modified>
</cp:coreProperties>
</file>